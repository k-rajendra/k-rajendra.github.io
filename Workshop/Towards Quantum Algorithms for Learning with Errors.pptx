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258" r:id="rId3"/>
    <p:sldId id="272" r:id="rId4"/>
    <p:sldId id="275" r:id="rId5"/>
    <p:sldId id="273" r:id="rId6"/>
    <p:sldId id="276" r:id="rId7"/>
    <p:sldId id="298" r:id="rId8"/>
    <p:sldId id="294" r:id="rId9"/>
    <p:sldId id="277" r:id="rId10"/>
    <p:sldId id="279" r:id="rId11"/>
    <p:sldId id="280" r:id="rId12"/>
    <p:sldId id="296" r:id="rId13"/>
    <p:sldId id="281" r:id="rId14"/>
    <p:sldId id="297" r:id="rId15"/>
    <p:sldId id="299" r:id="rId16"/>
    <p:sldId id="282" r:id="rId17"/>
    <p:sldId id="284" r:id="rId18"/>
    <p:sldId id="283" r:id="rId19"/>
    <p:sldId id="2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1085"/>
    <p:restoredTop sz="73764"/>
  </p:normalViewPr>
  <p:slideViewPr>
    <p:cSldViewPr snapToGrid="0">
      <p:cViewPr varScale="1">
        <p:scale>
          <a:sx n="70" d="100"/>
          <a:sy n="70" d="100"/>
        </p:scale>
        <p:origin x="208"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3FC774-2940-D348-8E24-981E7830DEA0}" type="datetimeFigureOut">
              <a:rPr lang="en-US" smtClean="0"/>
              <a:t>12/18/25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E1C49E-88A7-DB4C-B31A-218CA3517879}" type="slidenum">
              <a:rPr lang="en-US" smtClean="0"/>
              <a:t>‹#›</a:t>
            </a:fld>
            <a:endParaRPr lang="en-US"/>
          </a:p>
        </p:txBody>
      </p:sp>
    </p:spTree>
    <p:extLst>
      <p:ext uri="{BB962C8B-B14F-4D97-AF65-F5344CB8AC3E}">
        <p14:creationId xmlns:p14="http://schemas.microsoft.com/office/powerpoint/2010/main" val="3272703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I’m honored to be given an opportunity to speak here.</a:t>
            </a:r>
          </a:p>
          <a:p>
            <a:endParaRPr lang="en-US" dirty="0"/>
          </a:p>
          <a:p>
            <a:r>
              <a:rPr lang="en-US" dirty="0"/>
              <a:t>I’ll be talking about some attempts for Quantum Algorithms for this problem called Learning with Errors.</a:t>
            </a:r>
          </a:p>
          <a:p>
            <a:endParaRPr lang="en-US" dirty="0"/>
          </a:p>
          <a:p>
            <a:r>
              <a:rPr lang="en-US" dirty="0"/>
              <a:t>In whatever quantum algorithms or reductions I’ll cover, I’ll be sketchy in the math at times.</a:t>
            </a:r>
          </a:p>
        </p:txBody>
      </p:sp>
      <p:sp>
        <p:nvSpPr>
          <p:cNvPr id="4" name="Slide Number Placeholder 3"/>
          <p:cNvSpPr>
            <a:spLocks noGrp="1"/>
          </p:cNvSpPr>
          <p:nvPr>
            <p:ph type="sldNum" sz="quarter" idx="5"/>
          </p:nvPr>
        </p:nvSpPr>
        <p:spPr/>
        <p:txBody>
          <a:bodyPr/>
          <a:lstStyle/>
          <a:p>
            <a:fld id="{FFE1C49E-88A7-DB4C-B31A-218CA3517879}" type="slidenum">
              <a:rPr lang="en-US" smtClean="0"/>
              <a:t>1</a:t>
            </a:fld>
            <a:endParaRPr lang="en-US"/>
          </a:p>
        </p:txBody>
      </p:sp>
    </p:spTree>
    <p:extLst>
      <p:ext uri="{BB962C8B-B14F-4D97-AF65-F5344CB8AC3E}">
        <p14:creationId xmlns:p14="http://schemas.microsoft.com/office/powerpoint/2010/main" val="1434822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Shweta has already talked about the learning with errors problem, so let us quickly recall it.</a:t>
            </a:r>
          </a:p>
          <a:p>
            <a:endParaRPr lang="en-US" dirty="0"/>
          </a:p>
          <a:p>
            <a:r>
              <a:rPr lang="en-US" dirty="0"/>
              <a:t>Suppose we’re given a system of linear equations in </a:t>
            </a:r>
            <a:r>
              <a:rPr lang="en-US" dirty="0" err="1"/>
              <a:t>Z_q</a:t>
            </a:r>
            <a:r>
              <a:rPr lang="en-US" dirty="0"/>
              <a:t>; q can be prime or may not be. So we’re given a matrix A of size m\times n, and we’re also given a vector b of length m, where b=A times s for some secret s. We can find s efficiently using, say, Gaussian elimination. </a:t>
            </a:r>
          </a:p>
          <a:p>
            <a:endParaRPr lang="en-US" dirty="0"/>
          </a:p>
          <a:p>
            <a:r>
              <a:rPr lang="en-US" dirty="0"/>
              <a:t>However, in the learning with errors problem, the vector b is a </a:t>
            </a:r>
          </a:p>
        </p:txBody>
      </p:sp>
      <p:sp>
        <p:nvSpPr>
          <p:cNvPr id="4" name="Slide Number Placeholder 3"/>
          <p:cNvSpPr>
            <a:spLocks noGrp="1"/>
          </p:cNvSpPr>
          <p:nvPr>
            <p:ph type="sldNum" sz="quarter" idx="5"/>
          </p:nvPr>
        </p:nvSpPr>
        <p:spPr/>
        <p:txBody>
          <a:bodyPr/>
          <a:lstStyle/>
          <a:p>
            <a:fld id="{FFE1C49E-88A7-DB4C-B31A-218CA3517879}" type="slidenum">
              <a:rPr lang="en-US" smtClean="0"/>
              <a:t>2</a:t>
            </a:fld>
            <a:endParaRPr lang="en-US"/>
          </a:p>
        </p:txBody>
      </p:sp>
    </p:spTree>
    <p:extLst>
      <p:ext uri="{BB962C8B-B14F-4D97-AF65-F5344CB8AC3E}">
        <p14:creationId xmlns:p14="http://schemas.microsoft.com/office/powerpoint/2010/main" val="2670576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reiterate, we are given m vectors </a:t>
            </a:r>
            <a:r>
              <a:rPr lang="en-US" dirty="0" err="1"/>
              <a:t>a_i</a:t>
            </a:r>
            <a:r>
              <a:rPr lang="en-US" dirty="0"/>
              <a:t> drawn uniformly from </a:t>
            </a:r>
            <a:r>
              <a:rPr lang="en-US" dirty="0" err="1"/>
              <a:t>Z_q^n</a:t>
            </a:r>
            <a:r>
              <a:rPr lang="en-US" dirty="0"/>
              <a:t>, and we are also given noisy inner products of </a:t>
            </a:r>
            <a:r>
              <a:rPr lang="en-US" dirty="0" err="1"/>
              <a:t>a_i</a:t>
            </a:r>
            <a:r>
              <a:rPr lang="en-US" dirty="0"/>
              <a:t> with a secret vector s in </a:t>
            </a:r>
            <a:r>
              <a:rPr lang="en-US" dirty="0" err="1"/>
              <a:t>Z_q^n</a:t>
            </a:r>
            <a:endParaRPr lang="en-US" dirty="0"/>
          </a:p>
          <a:p>
            <a:r>
              <a:rPr lang="en-US" dirty="0"/>
              <a:t>The noise or the error in each sample is an independent value chosen via a distribution in </a:t>
            </a:r>
            <a:r>
              <a:rPr lang="en-US" dirty="0" err="1"/>
              <a:t>Z_q</a:t>
            </a:r>
            <a:r>
              <a:rPr lang="en-US" dirty="0"/>
              <a:t>, say chi. </a:t>
            </a:r>
          </a:p>
          <a:p>
            <a:endParaRPr lang="en-US" dirty="0"/>
          </a:p>
          <a:p>
            <a:r>
              <a:rPr lang="en-US" dirty="0"/>
              <a:t>The most popular choice for chi is a discrete gaussian over </a:t>
            </a:r>
            <a:r>
              <a:rPr lang="en-US" dirty="0" err="1"/>
              <a:t>Z_q</a:t>
            </a:r>
            <a:r>
              <a:rPr lang="en-US" dirty="0"/>
              <a:t> with a variance alpha q / sqrt (2pi). </a:t>
            </a:r>
          </a:p>
          <a:p>
            <a:endParaRPr lang="en-US" dirty="0"/>
          </a:p>
        </p:txBody>
      </p:sp>
      <p:sp>
        <p:nvSpPr>
          <p:cNvPr id="4" name="Slide Number Placeholder 3"/>
          <p:cNvSpPr>
            <a:spLocks noGrp="1"/>
          </p:cNvSpPr>
          <p:nvPr>
            <p:ph type="sldNum" sz="quarter" idx="5"/>
          </p:nvPr>
        </p:nvSpPr>
        <p:spPr/>
        <p:txBody>
          <a:bodyPr/>
          <a:lstStyle/>
          <a:p>
            <a:fld id="{BA271228-3C49-904B-984D-63FE61D6BB73}" type="slidenum">
              <a:rPr lang="en-US" smtClean="0"/>
              <a:t>3</a:t>
            </a:fld>
            <a:endParaRPr lang="en-US"/>
          </a:p>
        </p:txBody>
      </p:sp>
    </p:spTree>
    <p:extLst>
      <p:ext uri="{BB962C8B-B14F-4D97-AF65-F5344CB8AC3E}">
        <p14:creationId xmlns:p14="http://schemas.microsoft.com/office/powerpoint/2010/main" val="510055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quickly see what happens if we try Gaussian elimination. Essentially, we need to find a set of equations on which we can apply a linear operation that makes the LHS coefficients 1,0,0..,0. And then we can apply the same linear operation on the RHS to get the first entry of s. But the guess is correct with negligible probability from random. This is because the scalars </a:t>
            </a:r>
            <a:r>
              <a:rPr lang="en-US" dirty="0" err="1"/>
              <a:t>c_i</a:t>
            </a:r>
            <a:r>
              <a:rPr lang="en-US" dirty="0"/>
              <a:t> can be very large, Omega(q), and they can really blow up the error in the RHS. So we need to repeat this strategy </a:t>
            </a:r>
            <a:r>
              <a:rPr lang="en-US" dirty="0" err="1"/>
              <a:t>q^theta</a:t>
            </a:r>
            <a:r>
              <a:rPr lang="en-US" dirty="0"/>
              <a:t>(n) times for high confidence.</a:t>
            </a:r>
          </a:p>
          <a:p>
            <a:endParaRPr lang="en-US" dirty="0"/>
          </a:p>
          <a:p>
            <a:r>
              <a:rPr lang="en-US" dirty="0"/>
              <a:t>Note that this algorithm can be bad even if the noise is guaranteed to be low, say noise can be +-1. </a:t>
            </a:r>
          </a:p>
          <a:p>
            <a:endParaRPr lang="en-US" dirty="0"/>
          </a:p>
          <a:p>
            <a:r>
              <a:rPr lang="en-US" dirty="0"/>
              <a:t>There is another algorithm by Arora and Ge, which can be efficient, say polynomial or sub-exponential when the noise is concentrated. For example </a:t>
            </a:r>
          </a:p>
        </p:txBody>
      </p:sp>
      <p:sp>
        <p:nvSpPr>
          <p:cNvPr id="4" name="Slide Number Placeholder 3"/>
          <p:cNvSpPr>
            <a:spLocks noGrp="1"/>
          </p:cNvSpPr>
          <p:nvPr>
            <p:ph type="sldNum" sz="quarter" idx="5"/>
          </p:nvPr>
        </p:nvSpPr>
        <p:spPr/>
        <p:txBody>
          <a:bodyPr/>
          <a:lstStyle/>
          <a:p>
            <a:fld id="{FFE1C49E-88A7-DB4C-B31A-218CA3517879}" type="slidenum">
              <a:rPr lang="en-US" smtClean="0"/>
              <a:t>4</a:t>
            </a:fld>
            <a:endParaRPr lang="en-US"/>
          </a:p>
        </p:txBody>
      </p:sp>
    </p:spTree>
    <p:extLst>
      <p:ext uri="{BB962C8B-B14F-4D97-AF65-F5344CB8AC3E}">
        <p14:creationId xmlns:p14="http://schemas.microsoft.com/office/powerpoint/2010/main" val="3966430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a discrete Gaussian with sufficient variance, its hardness </a:t>
            </a:r>
            <a:r>
              <a:rPr lang="en-US" dirty="0" err="1"/>
              <a:t>w.r.t.</a:t>
            </a:r>
            <a:r>
              <a:rPr lang="en-US" dirty="0"/>
              <a:t> worst-case lattice problems was first established by a quantum reduction by Regev. Although those lattice problems do not have efficient quantum algorithms at present, they might have in the future, and then, this quantum reduction won’t support hardness of LWE.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a classical reduction from such lattice problems was desirable, which could only rely on the classical hardness of a lattice problem. Peikert then gave a classical reduction from one lattice problem. This reduction required q to be exponential instead of polynomial. </a:t>
            </a:r>
          </a:p>
        </p:txBody>
      </p:sp>
      <p:sp>
        <p:nvSpPr>
          <p:cNvPr id="4" name="Slide Number Placeholder 3"/>
          <p:cNvSpPr>
            <a:spLocks noGrp="1"/>
          </p:cNvSpPr>
          <p:nvPr>
            <p:ph type="sldNum" sz="quarter" idx="5"/>
          </p:nvPr>
        </p:nvSpPr>
        <p:spPr/>
        <p:txBody>
          <a:bodyPr/>
          <a:lstStyle/>
          <a:p>
            <a:fld id="{FFE1C49E-88A7-DB4C-B31A-218CA3517879}" type="slidenum">
              <a:rPr lang="en-US" smtClean="0"/>
              <a:t>5</a:t>
            </a:fld>
            <a:endParaRPr lang="en-US"/>
          </a:p>
        </p:txBody>
      </p:sp>
    </p:spTree>
    <p:extLst>
      <p:ext uri="{BB962C8B-B14F-4D97-AF65-F5344CB8AC3E}">
        <p14:creationId xmlns:p14="http://schemas.microsoft.com/office/powerpoint/2010/main" val="748957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LWE is so popular is because of its versatility. Shweta has already described how we can build Public Key Encryption from LWE. Moreover, we can also build other cryptographic primitives which support advanced functionalities. For </a:t>
            </a:r>
            <a:r>
              <a:rPr lang="en-US" dirty="0" err="1"/>
              <a:t>eg.</a:t>
            </a:r>
            <a:r>
              <a:rPr lang="en-US" dirty="0"/>
              <a:t>, if we want to support computation over encrypted data, we have a primitive of Fully Homomorphic Encryption, which can be build assuming hardness of LWE. And we have many more advanced primitives.</a:t>
            </a:r>
          </a:p>
          <a:p>
            <a:endParaRPr lang="en-US" dirty="0"/>
          </a:p>
          <a:p>
            <a:endParaRPr lang="en-US" dirty="0"/>
          </a:p>
        </p:txBody>
      </p:sp>
      <p:sp>
        <p:nvSpPr>
          <p:cNvPr id="4" name="Slide Number Placeholder 3"/>
          <p:cNvSpPr>
            <a:spLocks noGrp="1"/>
          </p:cNvSpPr>
          <p:nvPr>
            <p:ph type="sldNum" sz="quarter" idx="5"/>
          </p:nvPr>
        </p:nvSpPr>
        <p:spPr/>
        <p:txBody>
          <a:bodyPr/>
          <a:lstStyle/>
          <a:p>
            <a:fld id="{BA271228-3C49-904B-984D-63FE61D6BB73}" type="slidenum">
              <a:rPr lang="en-US" smtClean="0"/>
              <a:t>6</a:t>
            </a:fld>
            <a:endParaRPr lang="en-US"/>
          </a:p>
        </p:txBody>
      </p:sp>
    </p:spTree>
    <p:extLst>
      <p:ext uri="{BB962C8B-B14F-4D97-AF65-F5344CB8AC3E}">
        <p14:creationId xmlns:p14="http://schemas.microsoft.com/office/powerpoint/2010/main" val="1135939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E1C49E-88A7-DB4C-B31A-218CA3517879}" type="slidenum">
              <a:rPr lang="en-US" smtClean="0"/>
              <a:t>14</a:t>
            </a:fld>
            <a:endParaRPr lang="en-US"/>
          </a:p>
        </p:txBody>
      </p:sp>
    </p:spTree>
    <p:extLst>
      <p:ext uri="{BB962C8B-B14F-4D97-AF65-F5344CB8AC3E}">
        <p14:creationId xmlns:p14="http://schemas.microsoft.com/office/powerpoint/2010/main" val="2339510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CB77-3466-803C-2CA8-2858D9DB14D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E321EFA-E20B-1768-26CA-5CA96D988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A27A384-057C-0041-0F93-A608D8A0DC28}"/>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5" name="Footer Placeholder 4">
            <a:extLst>
              <a:ext uri="{FF2B5EF4-FFF2-40B4-BE49-F238E27FC236}">
                <a16:creationId xmlns:a16="http://schemas.microsoft.com/office/drawing/2014/main" id="{0CFB21DA-9798-957B-3E0C-8D1F3FC3A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1711E-BC21-414A-146B-57062BD68D43}"/>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108712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0450-18F9-42DB-34FA-A0BC542829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CB3D487-68C3-6BF0-E0B3-FCDD588B58E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12F6C6-0059-9E73-17ED-EA646B6D4B0A}"/>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5" name="Footer Placeholder 4">
            <a:extLst>
              <a:ext uri="{FF2B5EF4-FFF2-40B4-BE49-F238E27FC236}">
                <a16:creationId xmlns:a16="http://schemas.microsoft.com/office/drawing/2014/main" id="{460F0DA7-E142-2A68-17F7-C37DFCFEA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8A5A0-1C85-5520-9AAC-8BD0C6657A69}"/>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691890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093AD-2A18-A444-ED3B-059AE9EDA7A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A5D7C94-6E82-C7B4-EFB6-F30746C851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E7F5E24-BD7A-79E5-410F-DC18EF39575B}"/>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5" name="Footer Placeholder 4">
            <a:extLst>
              <a:ext uri="{FF2B5EF4-FFF2-40B4-BE49-F238E27FC236}">
                <a16:creationId xmlns:a16="http://schemas.microsoft.com/office/drawing/2014/main" id="{EF0BC673-2CB1-F91F-278C-28F939BE0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55F80-BD63-5FD8-764A-D11D845C69D6}"/>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2795733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7C25-8032-ED37-B748-769BE183362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8F87042-1A99-3843-28F0-A5AA649CCD0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20F0D17-AC4C-17D1-DA6B-8DF5B3029BA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B9900D5-766C-22CE-39D1-D94C76F91A71}"/>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6" name="Footer Placeholder 5">
            <a:extLst>
              <a:ext uri="{FF2B5EF4-FFF2-40B4-BE49-F238E27FC236}">
                <a16:creationId xmlns:a16="http://schemas.microsoft.com/office/drawing/2014/main" id="{D790B31F-9A5F-6FC5-FA17-F80CA6B945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74056-4864-548D-4F9B-2D96164E1487}"/>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132528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9E60-75B8-DF1E-BE64-6E6A66AEFC6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27429C-905D-9FD8-1BBE-DFB1A45D37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2ACE31-42CA-52CD-10A0-81A75F605FB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6AFB4F4-9FD5-574B-1BEB-CFE16134BC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C18F9EE-0CF3-15D8-0B78-F991EA6BED5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704B97D-5F91-3DEB-BB5C-CA7911EF98C6}"/>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8" name="Footer Placeholder 7">
            <a:extLst>
              <a:ext uri="{FF2B5EF4-FFF2-40B4-BE49-F238E27FC236}">
                <a16:creationId xmlns:a16="http://schemas.microsoft.com/office/drawing/2014/main" id="{8AD997BF-B6E0-D3B4-F49E-2554F02137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B57579-6FEE-9EAD-CAC0-EE0083F9E633}"/>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08840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F8424-99D3-F241-B76D-2744F19599D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C8F0225-F982-667A-AACF-8F849256C015}"/>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4" name="Footer Placeholder 3">
            <a:extLst>
              <a:ext uri="{FF2B5EF4-FFF2-40B4-BE49-F238E27FC236}">
                <a16:creationId xmlns:a16="http://schemas.microsoft.com/office/drawing/2014/main" id="{BE0F12F2-52C0-EF66-1335-D566481321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A13FB9-93B0-D3CC-20E5-226B325A70D7}"/>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106300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C85E3E-9123-0E1C-643F-8D8E2123501C}"/>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3" name="Footer Placeholder 2">
            <a:extLst>
              <a:ext uri="{FF2B5EF4-FFF2-40B4-BE49-F238E27FC236}">
                <a16:creationId xmlns:a16="http://schemas.microsoft.com/office/drawing/2014/main" id="{CEED6E24-3408-4E47-5BEE-B982EAEAAD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DDADC9-9C2A-5C13-6B0E-C0EF523042CA}"/>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772060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28628-D306-7754-3B21-800629BC82B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99D467A-01DF-5978-09B1-2DDC8B3F65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8927AFC-0844-1673-5749-E90B9F701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9B512F9-E08E-2B10-D753-3A806C5AD2D3}"/>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6" name="Footer Placeholder 5">
            <a:extLst>
              <a:ext uri="{FF2B5EF4-FFF2-40B4-BE49-F238E27FC236}">
                <a16:creationId xmlns:a16="http://schemas.microsoft.com/office/drawing/2014/main" id="{C53D523C-4F0B-F8CE-55CA-A1D031481D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75FE48-B356-D4D4-1631-243F026BE1D5}"/>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46993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58F7-8C62-CA31-C385-9731A360D1F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BAF5148-832A-6ECE-3C7B-7C2442C2AE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CF0166-D885-0AB0-C66F-442FFB0153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214956-C8C1-59CF-8720-140447461672}"/>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6" name="Footer Placeholder 5">
            <a:extLst>
              <a:ext uri="{FF2B5EF4-FFF2-40B4-BE49-F238E27FC236}">
                <a16:creationId xmlns:a16="http://schemas.microsoft.com/office/drawing/2014/main" id="{1CA7B815-FE78-17F5-FA66-8829B2F3B6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37E4CA-B497-3CCA-5EC3-D7182D6F8245}"/>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1849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432CA-5EC4-4DCF-8A89-89B3C129567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15B48B2-FE3D-706F-D4FB-7E45763B319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0DFAC8-21FA-B777-7ECB-A20AAEE498E9}"/>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5" name="Footer Placeholder 4">
            <a:extLst>
              <a:ext uri="{FF2B5EF4-FFF2-40B4-BE49-F238E27FC236}">
                <a16:creationId xmlns:a16="http://schemas.microsoft.com/office/drawing/2014/main" id="{8D156E75-A31D-6017-6175-61F4D3BE5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DCDD1-7EA2-EAC1-FAC7-1D4206A821B0}"/>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53948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F401A4-1E83-76D5-8D3B-A88252028FC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2F8DEDD-3666-3BAA-95DB-39A12FB04EF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55B0361-000F-3B8C-98C3-74FEA4729FD2}"/>
              </a:ext>
            </a:extLst>
          </p:cNvPr>
          <p:cNvSpPr>
            <a:spLocks noGrp="1"/>
          </p:cNvSpPr>
          <p:nvPr>
            <p:ph type="dt" sz="half" idx="10"/>
          </p:nvPr>
        </p:nvSpPr>
        <p:spPr/>
        <p:txBody>
          <a:bodyPr/>
          <a:lstStyle/>
          <a:p>
            <a:fld id="{EC5A6F9E-C86F-D94D-BE56-BAD411514AB9}" type="datetimeFigureOut">
              <a:rPr lang="en-US" smtClean="0"/>
              <a:t>12/18/25</a:t>
            </a:fld>
            <a:endParaRPr lang="en-US"/>
          </a:p>
        </p:txBody>
      </p:sp>
      <p:sp>
        <p:nvSpPr>
          <p:cNvPr id="5" name="Footer Placeholder 4">
            <a:extLst>
              <a:ext uri="{FF2B5EF4-FFF2-40B4-BE49-F238E27FC236}">
                <a16:creationId xmlns:a16="http://schemas.microsoft.com/office/drawing/2014/main" id="{BCBC0EA2-0597-5D95-BD65-6AB9ECCFE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2094D-72D1-3CD6-48FF-6449F1C9AFAE}"/>
              </a:ext>
            </a:extLst>
          </p:cNvPr>
          <p:cNvSpPr>
            <a:spLocks noGrp="1"/>
          </p:cNvSpPr>
          <p:nvPr>
            <p:ph type="sldNum" sz="quarter" idx="12"/>
          </p:nvPr>
        </p:nvSpPr>
        <p:spPr/>
        <p:txBody>
          <a:bodyPr/>
          <a:lstStyle/>
          <a:p>
            <a:fld id="{969A285A-A71B-7A43-A19C-499328AC9CA6}" type="slidenum">
              <a:rPr lang="en-US" smtClean="0"/>
              <a:t>‹#›</a:t>
            </a:fld>
            <a:endParaRPr lang="en-US"/>
          </a:p>
        </p:txBody>
      </p:sp>
    </p:spTree>
    <p:extLst>
      <p:ext uri="{BB962C8B-B14F-4D97-AF65-F5344CB8AC3E}">
        <p14:creationId xmlns:p14="http://schemas.microsoft.com/office/powerpoint/2010/main" val="3437382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BB0AC8-7898-00F8-D4EA-7C33751C2E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220DFD-7F75-44CD-91D3-E9FE5F97AD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DDB559-0E0D-7A97-07D8-007BD9AB65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5A6F9E-C86F-D94D-BE56-BAD411514AB9}" type="datetimeFigureOut">
              <a:rPr lang="en-US" smtClean="0"/>
              <a:t>12/18/25</a:t>
            </a:fld>
            <a:endParaRPr lang="en-US"/>
          </a:p>
        </p:txBody>
      </p:sp>
      <p:sp>
        <p:nvSpPr>
          <p:cNvPr id="5" name="Footer Placeholder 4">
            <a:extLst>
              <a:ext uri="{FF2B5EF4-FFF2-40B4-BE49-F238E27FC236}">
                <a16:creationId xmlns:a16="http://schemas.microsoft.com/office/drawing/2014/main" id="{1345B9E5-ADAF-CBE7-AC7F-A8634A2FF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A57AB3-AB06-9300-053E-01E1D771F0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9A285A-A71B-7A43-A19C-499328AC9CA6}" type="slidenum">
              <a:rPr lang="en-US" smtClean="0"/>
              <a:t>‹#›</a:t>
            </a:fld>
            <a:endParaRPr lang="en-US"/>
          </a:p>
        </p:txBody>
      </p:sp>
    </p:spTree>
    <p:extLst>
      <p:ext uri="{BB962C8B-B14F-4D97-AF65-F5344CB8AC3E}">
        <p14:creationId xmlns:p14="http://schemas.microsoft.com/office/powerpoint/2010/main" val="230948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6.png"/><Relationship Id="rId2" Type="http://schemas.openxmlformats.org/officeDocument/2006/relationships/image" Target="../media/image25.png"/><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5.png"/><Relationship Id="rId5" Type="http://schemas.openxmlformats.org/officeDocument/2006/relationships/image" Target="../media/image28.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7.png"/><Relationship Id="rId9" Type="http://schemas.openxmlformats.org/officeDocument/2006/relationships/image" Target="../media/image33.png"/><Relationship Id="rId14"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image" Target="../media/image60.png"/><Relationship Id="rId16"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12.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770.png"/><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1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0.png"/><Relationship Id="rId7" Type="http://schemas.openxmlformats.org/officeDocument/2006/relationships/image" Target="../media/image9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0.png"/><Relationship Id="rId9" Type="http://schemas.openxmlformats.org/officeDocument/2006/relationships/image" Target="../media/image92.png"/></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s>
</file>

<file path=ppt/slides/_rels/slide15.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1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280.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17.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1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127D-907F-C083-C6DF-1B7F61D3C574}"/>
              </a:ext>
            </a:extLst>
          </p:cNvPr>
          <p:cNvSpPr>
            <a:spLocks noGrp="1"/>
          </p:cNvSpPr>
          <p:nvPr>
            <p:ph type="ctrTitle"/>
          </p:nvPr>
        </p:nvSpPr>
        <p:spPr/>
        <p:txBody>
          <a:bodyPr>
            <a:normAutofit fontScale="90000"/>
          </a:bodyPr>
          <a:lstStyle/>
          <a:p>
            <a:r>
              <a:rPr lang="en-US" dirty="0"/>
              <a:t>Towards Quantum Algorithms for Learning with Errors</a:t>
            </a:r>
          </a:p>
        </p:txBody>
      </p:sp>
      <p:sp>
        <p:nvSpPr>
          <p:cNvPr id="3" name="Subtitle 2">
            <a:extLst>
              <a:ext uri="{FF2B5EF4-FFF2-40B4-BE49-F238E27FC236}">
                <a16:creationId xmlns:a16="http://schemas.microsoft.com/office/drawing/2014/main" id="{33ECF9BD-C51A-6ACA-8394-D8045BE54B2F}"/>
              </a:ext>
            </a:extLst>
          </p:cNvPr>
          <p:cNvSpPr>
            <a:spLocks noGrp="1"/>
          </p:cNvSpPr>
          <p:nvPr>
            <p:ph type="subTitle" idx="1"/>
          </p:nvPr>
        </p:nvSpPr>
        <p:spPr/>
        <p:txBody>
          <a:bodyPr/>
          <a:lstStyle/>
          <a:p>
            <a:r>
              <a:rPr lang="en-US" dirty="0"/>
              <a:t>Shashwat Agrawal</a:t>
            </a:r>
          </a:p>
        </p:txBody>
      </p:sp>
    </p:spTree>
    <p:extLst>
      <p:ext uri="{BB962C8B-B14F-4D97-AF65-F5344CB8AC3E}">
        <p14:creationId xmlns:p14="http://schemas.microsoft.com/office/powerpoint/2010/main" val="4213253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8AAC-1479-1513-3DC6-9F91481C2313}"/>
              </a:ext>
            </a:extLst>
          </p:cNvPr>
          <p:cNvSpPr>
            <a:spLocks noGrp="1"/>
          </p:cNvSpPr>
          <p:nvPr>
            <p:ph type="title"/>
          </p:nvPr>
        </p:nvSpPr>
        <p:spPr/>
        <p:txBody>
          <a:bodyPr/>
          <a:lstStyle/>
          <a:p>
            <a:r>
              <a:rPr lang="en-US" dirty="0"/>
              <a:t>Learning with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C9D6D8-3118-5E34-540F-4809E761DFBB}"/>
                  </a:ext>
                </a:extLst>
              </p:cNvPr>
              <p:cNvSpPr>
                <a:spLocks noGrp="1"/>
              </p:cNvSpPr>
              <p:nvPr>
                <p:ph idx="1"/>
              </p:nvPr>
            </p:nvSpPr>
            <p:spPr>
              <a:xfrm>
                <a:off x="838200" y="1690689"/>
                <a:ext cx="6640024" cy="609826"/>
              </a:xfrm>
            </p:spPr>
            <p:txBody>
              <a:bodyPr vert="horz" lIns="91440" tIns="45720" rIns="91440" bIns="45720" rtlCol="0" anchor="t">
                <a:normAutofit/>
              </a:bodyPr>
              <a:lstStyle/>
              <a:p>
                <a:pPr marL="0" indent="0">
                  <a:buNone/>
                </a:pPr>
                <a:r>
                  <a:rPr lang="en-US" dirty="0"/>
                  <a:t>Given a system of linear equations in </a:t>
                </a:r>
                <a14:m>
                  <m:oMath xmlns:m="http://schemas.openxmlformats.org/officeDocument/2006/math">
                    <m:sSub>
                      <m:sSubPr>
                        <m:ctrlPr>
                          <a:rPr lang="en-US" b="0" i="1" smtClean="0">
                            <a:solidFill>
                              <a:schemeClr val="tx2">
                                <a:lumMod val="90000"/>
                                <a:lumOff val="10000"/>
                              </a:schemeClr>
                            </a:solidFill>
                            <a:latin typeface="Cambria Math" panose="02040503050406030204" pitchFamily="18" charset="0"/>
                          </a:rPr>
                        </m:ctrlPr>
                      </m:sSubPr>
                      <m:e>
                        <m:r>
                          <a:rPr lang="en-US" b="0" i="1" smtClean="0">
                            <a:solidFill>
                              <a:schemeClr val="tx2">
                                <a:lumMod val="90000"/>
                                <a:lumOff val="10000"/>
                              </a:schemeClr>
                            </a:solidFill>
                            <a:latin typeface="Cambria Math" panose="02040503050406030204" pitchFamily="18" charset="0"/>
                          </a:rPr>
                          <m:t>ℤ</m:t>
                        </m:r>
                      </m:e>
                      <m:sub>
                        <m:r>
                          <a:rPr lang="en-US" b="0" i="1" smtClean="0">
                            <a:solidFill>
                              <a:schemeClr val="tx2">
                                <a:lumMod val="90000"/>
                                <a:lumOff val="10000"/>
                              </a:schemeClr>
                            </a:solidFill>
                            <a:latin typeface="Cambria Math" panose="02040503050406030204" pitchFamily="18" charset="0"/>
                          </a:rPr>
                          <m:t>𝑞</m:t>
                        </m:r>
                      </m:sub>
                    </m:sSub>
                  </m:oMath>
                </a14:m>
                <a:r>
                  <a:rPr lang="en-US" dirty="0"/>
                  <a:t>: </a:t>
                </a:r>
              </a:p>
            </p:txBody>
          </p:sp>
        </mc:Choice>
        <mc:Fallback xmlns="">
          <p:sp>
            <p:nvSpPr>
              <p:cNvPr id="3" name="Content Placeholder 2">
                <a:extLst>
                  <a:ext uri="{FF2B5EF4-FFF2-40B4-BE49-F238E27FC236}">
                    <a16:creationId xmlns:a16="http://schemas.microsoft.com/office/drawing/2014/main" id="{02C9D6D8-3118-5E34-540F-4809E761DFBB}"/>
                  </a:ext>
                </a:extLst>
              </p:cNvPr>
              <p:cNvSpPr>
                <a:spLocks noGrp="1" noRot="1" noChangeAspect="1" noMove="1" noResize="1" noEditPoints="1" noAdjustHandles="1" noChangeArrowheads="1" noChangeShapeType="1" noTextEdit="1"/>
              </p:cNvSpPr>
              <p:nvPr>
                <p:ph idx="1"/>
              </p:nvPr>
            </p:nvSpPr>
            <p:spPr>
              <a:xfrm>
                <a:off x="838200" y="1690689"/>
                <a:ext cx="6640024" cy="609826"/>
              </a:xfrm>
              <a:blipFill>
                <a:blip r:embed="rId3"/>
                <a:stretch>
                  <a:fillRect l="-1912" t="-14286" b="-10204"/>
                </a:stretch>
              </a:blipFill>
            </p:spPr>
            <p:txBody>
              <a:bodyPr/>
              <a:lstStyle/>
              <a:p>
                <a:r>
                  <a:rPr lang="en-US">
                    <a:noFill/>
                  </a:rPr>
                  <a:t> </a:t>
                </a:r>
              </a:p>
            </p:txBody>
          </p:sp>
        </mc:Fallback>
      </mc:AlternateContent>
      <p:sp>
        <p:nvSpPr>
          <p:cNvPr id="4" name="Double Bracket 3">
            <a:extLst>
              <a:ext uri="{FF2B5EF4-FFF2-40B4-BE49-F238E27FC236}">
                <a16:creationId xmlns:a16="http://schemas.microsoft.com/office/drawing/2014/main" id="{EDC32E30-F917-A07C-92D9-74D43DC0EF4A}"/>
              </a:ext>
            </a:extLst>
          </p:cNvPr>
          <p:cNvSpPr/>
          <p:nvPr/>
        </p:nvSpPr>
        <p:spPr>
          <a:xfrm>
            <a:off x="1692177" y="2336347"/>
            <a:ext cx="1561549" cy="2002971"/>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2272208-FBC3-42D6-8DE7-C667756A20D4}"/>
                  </a:ext>
                </a:extLst>
              </p:cNvPr>
              <p:cNvSpPr/>
              <p:nvPr/>
            </p:nvSpPr>
            <p:spPr>
              <a:xfrm>
                <a:off x="2188620" y="2967335"/>
                <a:ext cx="771685" cy="923330"/>
              </a:xfrm>
              <a:prstGeom prst="rect">
                <a:avLst/>
              </a:prstGeom>
              <a:noFill/>
            </p:spPr>
            <p:txBody>
              <a:bodyPr wrap="square" lIns="91440" tIns="45720" rIns="91440" bIns="45720">
                <a:spAutoFit/>
              </a:bodyPr>
              <a:lstStyle/>
              <a:p>
                <a:pPr algn="ctr"/>
                <a14:m>
                  <m:oMathPara xmlns:m="http://schemas.openxmlformats.org/officeDocument/2006/math">
                    <m:oMathParaPr>
                      <m:jc m:val="centerGroup"/>
                    </m:oMathParaPr>
                    <m:oMath xmlns:m="http://schemas.openxmlformats.org/officeDocument/2006/math">
                      <m:r>
                        <a:rPr lang="en-US" sz="54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𝐴</m:t>
                      </m:r>
                    </m:oMath>
                  </m:oMathPara>
                </a14:m>
                <a:endParaRPr lang="en-GB" sz="5400" b="0" cap="none" spc="0" dirty="0">
                  <a:ln w="0"/>
                  <a:solidFill>
                    <a:schemeClr val="accent1"/>
                  </a:solidFill>
                  <a:effectLst>
                    <a:outerShdw blurRad="38100" dist="25400" dir="5400000" algn="ctr" rotWithShape="0">
                      <a:srgbClr val="6E747A">
                        <a:alpha val="43000"/>
                      </a:srgbClr>
                    </a:outerShdw>
                  </a:effectLst>
                </a:endParaRPr>
              </a:p>
            </p:txBody>
          </p:sp>
        </mc:Choice>
        <mc:Fallback xmlns="">
          <p:sp>
            <p:nvSpPr>
              <p:cNvPr id="5" name="Rectangle 4">
                <a:extLst>
                  <a:ext uri="{FF2B5EF4-FFF2-40B4-BE49-F238E27FC236}">
                    <a16:creationId xmlns:a16="http://schemas.microsoft.com/office/drawing/2014/main" id="{92272208-FBC3-42D6-8DE7-C667756A20D4}"/>
                  </a:ext>
                </a:extLst>
              </p:cNvPr>
              <p:cNvSpPr>
                <a:spLocks noRot="1" noChangeAspect="1" noMove="1" noResize="1" noEditPoints="1" noAdjustHandles="1" noChangeArrowheads="1" noChangeShapeType="1" noTextEdit="1"/>
              </p:cNvSpPr>
              <p:nvPr/>
            </p:nvSpPr>
            <p:spPr>
              <a:xfrm>
                <a:off x="2188620" y="2967335"/>
                <a:ext cx="771685" cy="923330"/>
              </a:xfrm>
              <a:prstGeom prst="rect">
                <a:avLst/>
              </a:prstGeom>
              <a:blipFill>
                <a:blip r:embed="rId4"/>
                <a:stretch>
                  <a:fillRect l="-20968" r="-1613" b="-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D8FC6B8-86D9-1505-547E-85893835AFB2}"/>
                  </a:ext>
                </a:extLst>
              </p:cNvPr>
              <p:cNvSpPr txBox="1"/>
              <p:nvPr/>
            </p:nvSpPr>
            <p:spPr>
              <a:xfrm>
                <a:off x="3081469" y="4121496"/>
                <a:ext cx="85634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oMath>
                  </m:oMathPara>
                </a14:m>
                <a:endParaRPr lang="en-US" dirty="0"/>
              </a:p>
            </p:txBody>
          </p:sp>
        </mc:Choice>
        <mc:Fallback xmlns="">
          <p:sp>
            <p:nvSpPr>
              <p:cNvPr id="6" name="TextBox 5">
                <a:extLst>
                  <a:ext uri="{FF2B5EF4-FFF2-40B4-BE49-F238E27FC236}">
                    <a16:creationId xmlns:a16="http://schemas.microsoft.com/office/drawing/2014/main" id="{7D8FC6B8-86D9-1505-547E-85893835AFB2}"/>
                  </a:ext>
                </a:extLst>
              </p:cNvPr>
              <p:cNvSpPr txBox="1">
                <a:spLocks noRot="1" noChangeAspect="1" noMove="1" noResize="1" noEditPoints="1" noAdjustHandles="1" noChangeArrowheads="1" noChangeShapeType="1" noTextEdit="1"/>
              </p:cNvSpPr>
              <p:nvPr/>
            </p:nvSpPr>
            <p:spPr>
              <a:xfrm>
                <a:off x="3081469" y="4121496"/>
                <a:ext cx="856343" cy="369332"/>
              </a:xfrm>
              <a:prstGeom prst="rect">
                <a:avLst/>
              </a:prstGeom>
              <a:blipFill>
                <a:blip r:embed="rId5"/>
                <a:stretch>
                  <a:fillRect/>
                </a:stretch>
              </a:blipFill>
            </p:spPr>
            <p:txBody>
              <a:bodyPr/>
              <a:lstStyle/>
              <a:p>
                <a:r>
                  <a:rPr lang="en-US">
                    <a:noFill/>
                  </a:rPr>
                  <a:t> </a:t>
                </a:r>
              </a:p>
            </p:txBody>
          </p:sp>
        </mc:Fallback>
      </mc:AlternateContent>
      <p:sp>
        <p:nvSpPr>
          <p:cNvPr id="7" name="Double Bracket 6">
            <a:extLst>
              <a:ext uri="{FF2B5EF4-FFF2-40B4-BE49-F238E27FC236}">
                <a16:creationId xmlns:a16="http://schemas.microsoft.com/office/drawing/2014/main" id="{7026FA01-715B-39E3-63EE-FA05BC1A969E}"/>
              </a:ext>
            </a:extLst>
          </p:cNvPr>
          <p:cNvSpPr/>
          <p:nvPr/>
        </p:nvSpPr>
        <p:spPr>
          <a:xfrm>
            <a:off x="4271216" y="2427514"/>
            <a:ext cx="578532" cy="2002971"/>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765BBC8A-E8D5-BEEA-50DA-3F7A583017B7}"/>
              </a:ext>
            </a:extLst>
          </p:cNvPr>
          <p:cNvSpPr/>
          <p:nvPr/>
        </p:nvSpPr>
        <p:spPr>
          <a:xfrm>
            <a:off x="4271216" y="2967335"/>
            <a:ext cx="1838837" cy="923330"/>
          </a:xfrm>
          <a:prstGeom prst="rect">
            <a:avLst/>
          </a:prstGeom>
          <a:noFill/>
        </p:spPr>
        <p:txBody>
          <a:bodyPr wrap="square" lIns="91440" tIns="45720" rIns="91440" bIns="45720">
            <a:spAutoFit/>
          </a:bodyPr>
          <a:lstStyle/>
          <a:p>
            <a:pPr algn="ctr"/>
            <a:r>
              <a:rPr lang="en-GB" sz="5400" dirty="0">
                <a:ln w="0"/>
                <a:solidFill>
                  <a:schemeClr val="accent1"/>
                </a:solidFill>
                <a:effectLst>
                  <a:outerShdw blurRad="38100" dist="25400" dir="5400000" algn="ctr" rotWithShape="0">
                    <a:srgbClr val="6E747A">
                      <a:alpha val="43000"/>
                    </a:srgbClr>
                  </a:outerShdw>
                </a:effectLst>
              </a:rPr>
              <a:t>b =As</a:t>
            </a:r>
            <a:endParaRPr lang="en-GB" sz="5400" b="0" cap="none" spc="0" dirty="0">
              <a:ln w="0"/>
              <a:solidFill>
                <a:schemeClr val="accent1"/>
              </a:solidFill>
              <a:effectLst>
                <a:outerShdw blurRad="38100" dist="25400" dir="5400000" algn="ctr" rotWithShape="0">
                  <a:srgbClr val="6E747A">
                    <a:alpha val="43000"/>
                  </a:srgbClr>
                </a:outerShdw>
              </a:effectLst>
            </a:endParaRPr>
          </a:p>
        </p:txBody>
      </p:sp>
      <p:sp>
        <p:nvSpPr>
          <p:cNvPr id="9" name="TextBox 8">
            <a:extLst>
              <a:ext uri="{FF2B5EF4-FFF2-40B4-BE49-F238E27FC236}">
                <a16:creationId xmlns:a16="http://schemas.microsoft.com/office/drawing/2014/main" id="{117EF267-C3DA-A330-EA6C-7DE348A10D51}"/>
              </a:ext>
            </a:extLst>
          </p:cNvPr>
          <p:cNvSpPr txBox="1"/>
          <p:nvPr/>
        </p:nvSpPr>
        <p:spPr>
          <a:xfrm>
            <a:off x="838200" y="5329302"/>
            <a:ext cx="10073957" cy="461665"/>
          </a:xfrm>
          <a:prstGeom prst="rect">
            <a:avLst/>
          </a:prstGeom>
          <a:noFill/>
        </p:spPr>
        <p:txBody>
          <a:bodyPr wrap="square" rtlCol="0">
            <a:spAutoFit/>
          </a:bodyPr>
          <a:lstStyle/>
          <a:p>
            <a:pPr lvl="1"/>
            <a:r>
              <a:rPr lang="en-US" sz="2400" dirty="0"/>
              <a:t>This simple innovation has baffled theorists and thrilled cryptographers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C40004-8406-95F6-2E52-066240A06DC4}"/>
                  </a:ext>
                </a:extLst>
              </p:cNvPr>
              <p:cNvSpPr txBox="1"/>
              <p:nvPr/>
            </p:nvSpPr>
            <p:spPr>
              <a:xfrm>
                <a:off x="7055161" y="2537421"/>
                <a:ext cx="2679681" cy="490199"/>
              </a:xfrm>
              <a:prstGeom prst="rect">
                <a:avLst/>
              </a:prstGeom>
              <a:noFill/>
            </p:spPr>
            <p:txBody>
              <a:bodyPr wrap="square" rtlCol="0">
                <a:spAutoFit/>
              </a:bodyPr>
              <a:lstStyle/>
              <a:p>
                <a:pPr lvl="1"/>
                <a:r>
                  <a:rPr lang="en-US" sz="2400" dirty="0"/>
                  <a:t>secret </a:t>
                </a:r>
                <a14:m>
                  <m:oMath xmlns:m="http://schemas.openxmlformats.org/officeDocument/2006/math">
                    <m:r>
                      <a:rPr lang="en-US" sz="2400" i="1" smtClean="0">
                        <a:solidFill>
                          <a:schemeClr val="accent5">
                            <a:lumMod val="75000"/>
                          </a:schemeClr>
                        </a:solidFill>
                        <a:latin typeface="Cambria Math" panose="02040503050406030204" pitchFamily="18" charset="0"/>
                      </a:rPr>
                      <m:t>𝑠</m:t>
                    </m:r>
                    <m:r>
                      <a:rPr lang="en-US" sz="2400" i="1" smtClean="0">
                        <a:solidFill>
                          <a:schemeClr val="accent5">
                            <a:lumMod val="75000"/>
                          </a:schemeClr>
                        </a:solidFill>
                        <a:latin typeface="Cambria Math" panose="02040503050406030204" pitchFamily="18" charset="0"/>
                      </a:rPr>
                      <m:t>∈</m:t>
                    </m:r>
                    <m:sSubSup>
                      <m:sSubSupPr>
                        <m:ctrlPr>
                          <a:rPr lang="en-US" sz="2400" i="1">
                            <a:solidFill>
                              <a:schemeClr val="accent5">
                                <a:lumMod val="75000"/>
                              </a:schemeClr>
                            </a:solidFill>
                            <a:latin typeface="Cambria Math" panose="02040503050406030204" pitchFamily="18" charset="0"/>
                          </a:rPr>
                        </m:ctrlPr>
                      </m:sSubSup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up>
                        <m:r>
                          <a:rPr lang="en-US" sz="2400" i="1">
                            <a:solidFill>
                              <a:schemeClr val="accent5">
                                <a:lumMod val="75000"/>
                              </a:schemeClr>
                            </a:solidFill>
                            <a:latin typeface="Cambria Math" panose="02040503050406030204" pitchFamily="18" charset="0"/>
                          </a:rPr>
                          <m:t>𝑛</m:t>
                        </m:r>
                      </m:sup>
                    </m:sSubSup>
                    <m:r>
                      <a:rPr lang="en-US" sz="2400" i="1">
                        <a:solidFill>
                          <a:schemeClr val="accent5">
                            <a:lumMod val="75000"/>
                          </a:schemeClr>
                        </a:solidFill>
                        <a:latin typeface="Cambria Math" panose="02040503050406030204" pitchFamily="18" charset="0"/>
                      </a:rPr>
                      <m:t> </m:t>
                    </m:r>
                  </m:oMath>
                </a14:m>
                <a:endParaRPr lang="en-US" sz="2400" dirty="0"/>
              </a:p>
            </p:txBody>
          </p:sp>
        </mc:Choice>
        <mc:Fallback xmlns="">
          <p:sp>
            <p:nvSpPr>
              <p:cNvPr id="10" name="TextBox 9">
                <a:extLst>
                  <a:ext uri="{FF2B5EF4-FFF2-40B4-BE49-F238E27FC236}">
                    <a16:creationId xmlns:a16="http://schemas.microsoft.com/office/drawing/2014/main" id="{3DC40004-8406-95F6-2E52-066240A06DC4}"/>
                  </a:ext>
                </a:extLst>
              </p:cNvPr>
              <p:cNvSpPr txBox="1">
                <a:spLocks noRot="1" noChangeAspect="1" noMove="1" noResize="1" noEditPoints="1" noAdjustHandles="1" noChangeArrowheads="1" noChangeShapeType="1" noTextEdit="1"/>
              </p:cNvSpPr>
              <p:nvPr/>
            </p:nvSpPr>
            <p:spPr>
              <a:xfrm>
                <a:off x="7055161" y="2537421"/>
                <a:ext cx="2679681" cy="490199"/>
              </a:xfrm>
              <a:prstGeom prst="rect">
                <a:avLst/>
              </a:prstGeom>
              <a:blipFill>
                <a:blip r:embed="rId6"/>
                <a:stretch>
                  <a:fillRect t="-75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F46529E-BE6D-C968-BF13-EFC2BE8966E7}"/>
                  </a:ext>
                </a:extLst>
              </p:cNvPr>
              <p:cNvSpPr txBox="1"/>
              <p:nvPr/>
            </p:nvSpPr>
            <p:spPr>
              <a:xfrm>
                <a:off x="6968347" y="3890664"/>
                <a:ext cx="4209143" cy="830997"/>
              </a:xfrm>
              <a:prstGeom prst="rect">
                <a:avLst/>
              </a:prstGeom>
              <a:noFill/>
            </p:spPr>
            <p:txBody>
              <a:bodyPr wrap="square" rtlCol="0">
                <a:spAutoFit/>
              </a:bodyPr>
              <a:lstStyle/>
              <a:p>
                <a:pPr lvl="1"/>
                <a:r>
                  <a:rPr lang="en-US" sz="2400" dirty="0"/>
                  <a:t>we can efficiently find </a:t>
                </a:r>
                <a14:m>
                  <m:oMath xmlns:m="http://schemas.openxmlformats.org/officeDocument/2006/math">
                    <m:r>
                      <a:rPr lang="en-US" sz="2400" b="0" i="1" smtClean="0">
                        <a:solidFill>
                          <a:schemeClr val="accent5">
                            <a:lumMod val="75000"/>
                          </a:schemeClr>
                        </a:solidFill>
                        <a:latin typeface="Cambria Math" panose="02040503050406030204" pitchFamily="18" charset="0"/>
                      </a:rPr>
                      <m:t>𝑠</m:t>
                    </m:r>
                  </m:oMath>
                </a14:m>
                <a:endParaRPr lang="en-US" sz="2400" dirty="0"/>
              </a:p>
              <a:p>
                <a:endParaRPr lang="en-US" sz="2400" dirty="0"/>
              </a:p>
            </p:txBody>
          </p:sp>
        </mc:Choice>
        <mc:Fallback xmlns="">
          <p:sp>
            <p:nvSpPr>
              <p:cNvPr id="11" name="TextBox 10">
                <a:extLst>
                  <a:ext uri="{FF2B5EF4-FFF2-40B4-BE49-F238E27FC236}">
                    <a16:creationId xmlns:a16="http://schemas.microsoft.com/office/drawing/2014/main" id="{FF46529E-BE6D-C968-BF13-EFC2BE8966E7}"/>
                  </a:ext>
                </a:extLst>
              </p:cNvPr>
              <p:cNvSpPr txBox="1">
                <a:spLocks noRot="1" noChangeAspect="1" noMove="1" noResize="1" noEditPoints="1" noAdjustHandles="1" noChangeArrowheads="1" noChangeShapeType="1" noTextEdit="1"/>
              </p:cNvSpPr>
              <p:nvPr/>
            </p:nvSpPr>
            <p:spPr>
              <a:xfrm>
                <a:off x="6968347" y="3890664"/>
                <a:ext cx="4209143" cy="830997"/>
              </a:xfrm>
              <a:prstGeom prst="rect">
                <a:avLst/>
              </a:prstGeom>
              <a:blipFill>
                <a:blip r:embed="rId7"/>
                <a:stretch>
                  <a:fillRect t="-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24CEB126-71AD-CD4A-9D72-DE0B1A972290}"/>
                  </a:ext>
                </a:extLst>
              </p:cNvPr>
              <p:cNvSpPr/>
              <p:nvPr/>
            </p:nvSpPr>
            <p:spPr>
              <a:xfrm>
                <a:off x="6217921" y="2967334"/>
                <a:ext cx="729372" cy="923330"/>
              </a:xfrm>
              <a:prstGeom prst="rect">
                <a:avLst/>
              </a:prstGeom>
              <a:noFill/>
            </p:spPr>
            <p:txBody>
              <a:bodyPr wrap="square" lIns="91440" tIns="45720" rIns="91440" bIns="45720">
                <a:spAutoFit/>
              </a:bodyPr>
              <a:lstStyle/>
              <a:p>
                <a:pPr algn="ctr"/>
                <a14:m>
                  <m:oMathPara xmlns:m="http://schemas.openxmlformats.org/officeDocument/2006/math">
                    <m:oMathParaPr>
                      <m:jc m:val="centerGroup"/>
                    </m:oMathParaPr>
                    <m:oMath xmlns:m="http://schemas.openxmlformats.org/officeDocument/2006/math">
                      <m:r>
                        <a:rPr lang="en-US" sz="5400" b="0" i="1" cap="none" spc="0" smtClean="0">
                          <a:ln w="0"/>
                          <a:solidFill>
                            <a:srgbClr val="FF0000"/>
                          </a:solidFill>
                          <a:effectLst>
                            <a:outerShdw blurRad="38100" dist="25400" dir="5400000" algn="ctr" rotWithShape="0">
                              <a:srgbClr val="6E747A">
                                <a:alpha val="43000"/>
                              </a:srgbClr>
                            </a:outerShdw>
                          </a:effectLst>
                          <a:latin typeface="Cambria Math" panose="02040503050406030204" pitchFamily="18" charset="0"/>
                        </a:rPr>
                        <m:t>+</m:t>
                      </m:r>
                      <m:r>
                        <a:rPr lang="en-US" sz="5400" b="0" i="1" cap="none" spc="0" smtClean="0">
                          <a:ln w="0"/>
                          <a:solidFill>
                            <a:srgbClr val="FF0000"/>
                          </a:solidFill>
                          <a:effectLst>
                            <a:outerShdw blurRad="38100" dist="25400" dir="5400000" algn="ctr" rotWithShape="0">
                              <a:srgbClr val="6E747A">
                                <a:alpha val="43000"/>
                              </a:srgbClr>
                            </a:outerShdw>
                          </a:effectLst>
                          <a:latin typeface="Cambria Math" panose="02040503050406030204" pitchFamily="18" charset="0"/>
                        </a:rPr>
                        <m:t>𝑒</m:t>
                      </m:r>
                    </m:oMath>
                  </m:oMathPara>
                </a14:m>
                <a:endParaRPr lang="en-GB" sz="5400" b="0" cap="none" spc="0" dirty="0">
                  <a:ln w="0"/>
                  <a:solidFill>
                    <a:srgbClr val="FF0000"/>
                  </a:solidFill>
                  <a:effectLst>
                    <a:outerShdw blurRad="38100" dist="25400" dir="5400000" algn="ctr" rotWithShape="0">
                      <a:srgbClr val="6E747A">
                        <a:alpha val="43000"/>
                      </a:srgbClr>
                    </a:outerShdw>
                  </a:effectLst>
                </a:endParaRPr>
              </a:p>
            </p:txBody>
          </p:sp>
        </mc:Choice>
        <mc:Fallback xmlns="">
          <p:sp>
            <p:nvSpPr>
              <p:cNvPr id="12" name="Rectangle 11">
                <a:extLst>
                  <a:ext uri="{FF2B5EF4-FFF2-40B4-BE49-F238E27FC236}">
                    <a16:creationId xmlns:a16="http://schemas.microsoft.com/office/drawing/2014/main" id="{24CEB126-71AD-CD4A-9D72-DE0B1A972290}"/>
                  </a:ext>
                </a:extLst>
              </p:cNvPr>
              <p:cNvSpPr>
                <a:spLocks noRot="1" noChangeAspect="1" noMove="1" noResize="1" noEditPoints="1" noAdjustHandles="1" noChangeArrowheads="1" noChangeShapeType="1" noTextEdit="1"/>
              </p:cNvSpPr>
              <p:nvPr/>
            </p:nvSpPr>
            <p:spPr>
              <a:xfrm>
                <a:off x="6217921" y="2967334"/>
                <a:ext cx="729372" cy="923330"/>
              </a:xfrm>
              <a:prstGeom prst="rect">
                <a:avLst/>
              </a:prstGeom>
              <a:blipFill>
                <a:blip r:embed="rId8"/>
                <a:stretch>
                  <a:fillRect l="-50847" r="-23729" b="-4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3BC9761-41AE-9DE4-2FD6-271F083CAE81}"/>
                  </a:ext>
                </a:extLst>
              </p:cNvPr>
              <p:cNvSpPr txBox="1"/>
              <p:nvPr/>
            </p:nvSpPr>
            <p:spPr>
              <a:xfrm>
                <a:off x="7478225" y="3043828"/>
                <a:ext cx="4085417" cy="859531"/>
              </a:xfrm>
              <a:prstGeom prst="rect">
                <a:avLst/>
              </a:prstGeom>
              <a:noFill/>
            </p:spPr>
            <p:txBody>
              <a:bodyPr wrap="square" rtlCol="0">
                <a:spAutoFit/>
              </a:bodyPr>
              <a:lstStyle/>
              <a:p>
                <a:r>
                  <a:rPr lang="en-US" sz="2400" dirty="0"/>
                  <a:t>noise vector </a:t>
                </a:r>
                <a14:m>
                  <m:oMath xmlns:m="http://schemas.openxmlformats.org/officeDocument/2006/math">
                    <m:r>
                      <a:rPr lang="en-US" sz="2400" i="1" smtClean="0">
                        <a:solidFill>
                          <a:srgbClr val="FF0000"/>
                        </a:solidFill>
                        <a:latin typeface="Cambria Math" panose="02040503050406030204" pitchFamily="18" charset="0"/>
                      </a:rPr>
                      <m:t>𝑒</m:t>
                    </m:r>
                  </m:oMath>
                </a14:m>
                <a:r>
                  <a:rPr lang="en-US" sz="2400" dirty="0"/>
                  <a:t> from a distribution in</a:t>
                </a:r>
                <a14:m>
                  <m:oMath xmlns:m="http://schemas.openxmlformats.org/officeDocument/2006/math">
                    <m:r>
                      <a:rPr lang="en-US" sz="2400" b="0" i="1" smtClean="0">
                        <a:solidFill>
                          <a:srgbClr val="FF0000"/>
                        </a:solidFill>
                        <a:latin typeface="Cambria Math" panose="02040503050406030204" pitchFamily="18" charset="0"/>
                      </a:rPr>
                      <m:t> </m:t>
                    </m:r>
                    <m:sSubSup>
                      <m:sSubSupPr>
                        <m:ctrlPr>
                          <a:rPr lang="en-US" sz="2400" i="1" smtClean="0">
                            <a:solidFill>
                              <a:schemeClr val="accent5">
                                <a:lumMod val="75000"/>
                              </a:schemeClr>
                            </a:solidFill>
                            <a:latin typeface="Cambria Math" panose="02040503050406030204" pitchFamily="18" charset="0"/>
                          </a:rPr>
                        </m:ctrlPr>
                      </m:sSubSup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up>
                        <m:r>
                          <a:rPr lang="en-US" sz="2400" i="1">
                            <a:solidFill>
                              <a:schemeClr val="accent5">
                                <a:lumMod val="75000"/>
                              </a:schemeClr>
                            </a:solidFill>
                            <a:latin typeface="Cambria Math" panose="02040503050406030204" pitchFamily="18" charset="0"/>
                          </a:rPr>
                          <m:t>𝑚</m:t>
                        </m:r>
                      </m:sup>
                    </m:sSubSup>
                  </m:oMath>
                </a14:m>
                <a:endParaRPr lang="en-US" sz="2400" dirty="0"/>
              </a:p>
            </p:txBody>
          </p:sp>
        </mc:Choice>
        <mc:Fallback xmlns="">
          <p:sp>
            <p:nvSpPr>
              <p:cNvPr id="13" name="TextBox 12">
                <a:extLst>
                  <a:ext uri="{FF2B5EF4-FFF2-40B4-BE49-F238E27FC236}">
                    <a16:creationId xmlns:a16="http://schemas.microsoft.com/office/drawing/2014/main" id="{63BC9761-41AE-9DE4-2FD6-271F083CAE81}"/>
                  </a:ext>
                </a:extLst>
              </p:cNvPr>
              <p:cNvSpPr txBox="1">
                <a:spLocks noRot="1" noChangeAspect="1" noMove="1" noResize="1" noEditPoints="1" noAdjustHandles="1" noChangeArrowheads="1" noChangeShapeType="1" noTextEdit="1"/>
              </p:cNvSpPr>
              <p:nvPr/>
            </p:nvSpPr>
            <p:spPr>
              <a:xfrm>
                <a:off x="7478225" y="3043828"/>
                <a:ext cx="4085417" cy="859531"/>
              </a:xfrm>
              <a:prstGeom prst="rect">
                <a:avLst/>
              </a:prstGeom>
              <a:blipFill>
                <a:blip r:embed="rId9"/>
                <a:stretch>
                  <a:fillRect l="-2167" t="-579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ED73AD0-0253-66BE-25A9-400B79D07EC2}"/>
                  </a:ext>
                </a:extLst>
              </p:cNvPr>
              <p:cNvSpPr txBox="1"/>
              <p:nvPr/>
            </p:nvSpPr>
            <p:spPr>
              <a:xfrm>
                <a:off x="7379010" y="3903359"/>
                <a:ext cx="4802106" cy="1200329"/>
              </a:xfrm>
              <a:prstGeom prst="rect">
                <a:avLst/>
              </a:prstGeom>
              <a:noFill/>
            </p:spPr>
            <p:txBody>
              <a:bodyPr wrap="square" rtlCol="0">
                <a:spAutoFit/>
              </a:bodyPr>
              <a:lstStyle/>
              <a:p>
                <a:r>
                  <a:rPr lang="en-US" sz="2400" dirty="0"/>
                  <a:t>Can we find the secret </a:t>
                </a:r>
                <a14:m>
                  <m:oMath xmlns:m="http://schemas.openxmlformats.org/officeDocument/2006/math">
                    <m:r>
                      <a:rPr lang="en-US" sz="2400" i="1" smtClean="0">
                        <a:solidFill>
                          <a:schemeClr val="accent5">
                            <a:lumMod val="75000"/>
                          </a:schemeClr>
                        </a:solidFill>
                        <a:latin typeface="Cambria Math" panose="02040503050406030204" pitchFamily="18" charset="0"/>
                      </a:rPr>
                      <m:t>𝑠</m:t>
                    </m:r>
                  </m:oMath>
                </a14:m>
                <a:r>
                  <a:rPr lang="en-US" sz="2400" dirty="0"/>
                  <a:t> efficiently (with high probability)?</a:t>
                </a:r>
              </a:p>
              <a:p>
                <a:endParaRPr lang="en-US" sz="2400" dirty="0"/>
              </a:p>
            </p:txBody>
          </p:sp>
        </mc:Choice>
        <mc:Fallback xmlns="">
          <p:sp>
            <p:nvSpPr>
              <p:cNvPr id="14" name="TextBox 13">
                <a:extLst>
                  <a:ext uri="{FF2B5EF4-FFF2-40B4-BE49-F238E27FC236}">
                    <a16:creationId xmlns:a16="http://schemas.microsoft.com/office/drawing/2014/main" id="{FED73AD0-0253-66BE-25A9-400B79D07EC2}"/>
                  </a:ext>
                </a:extLst>
              </p:cNvPr>
              <p:cNvSpPr txBox="1">
                <a:spLocks noRot="1" noChangeAspect="1" noMove="1" noResize="1" noEditPoints="1" noAdjustHandles="1" noChangeArrowheads="1" noChangeShapeType="1" noTextEdit="1"/>
              </p:cNvSpPr>
              <p:nvPr/>
            </p:nvSpPr>
            <p:spPr>
              <a:xfrm>
                <a:off x="7379010" y="3903359"/>
                <a:ext cx="4802106" cy="1200329"/>
              </a:xfrm>
              <a:prstGeom prst="rect">
                <a:avLst/>
              </a:prstGeom>
              <a:blipFill>
                <a:blip r:embed="rId10"/>
                <a:stretch>
                  <a:fillRect l="-1842" t="-4211" r="-52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C252C77-00E8-69AB-9199-C416D032D0E9}"/>
              </a:ext>
            </a:extLst>
          </p:cNvPr>
          <p:cNvSpPr txBox="1"/>
          <p:nvPr/>
        </p:nvSpPr>
        <p:spPr>
          <a:xfrm>
            <a:off x="7374598" y="1719119"/>
            <a:ext cx="2468112" cy="461665"/>
          </a:xfrm>
          <a:prstGeom prst="rect">
            <a:avLst/>
          </a:prstGeom>
          <a:noFill/>
        </p:spPr>
        <p:txBody>
          <a:bodyPr wrap="square" rtlCol="0">
            <a:spAutoFit/>
          </a:bodyPr>
          <a:lstStyle/>
          <a:p>
            <a:r>
              <a:rPr lang="en-US" sz="2400" dirty="0"/>
              <a:t>(Make RHS noisy)</a:t>
            </a:r>
          </a:p>
        </p:txBody>
      </p:sp>
    </p:spTree>
    <p:extLst>
      <p:ext uri="{BB962C8B-B14F-4D97-AF65-F5344CB8AC3E}">
        <p14:creationId xmlns:p14="http://schemas.microsoft.com/office/powerpoint/2010/main" val="78100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P spid="6" grpId="0"/>
      <p:bldP spid="7" grpId="0" animBg="1"/>
      <p:bldP spid="8" grpId="0"/>
      <p:bldP spid="9" grpId="0"/>
      <p:bldP spid="10" grpId="0"/>
      <p:bldP spid="11" grpId="0"/>
      <p:bldP spid="11" grpId="1"/>
      <p:bldP spid="12" grpId="0"/>
      <p:bldP spid="13"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8B9B1-0EED-3AD2-D6EF-256BB11403DE}"/>
              </a:ext>
            </a:extLst>
          </p:cNvPr>
          <p:cNvSpPr>
            <a:spLocks noGrp="1"/>
          </p:cNvSpPr>
          <p:nvPr>
            <p:ph type="title"/>
          </p:nvPr>
        </p:nvSpPr>
        <p:spPr/>
        <p:txBody>
          <a:bodyPr/>
          <a:lstStyle/>
          <a:p>
            <a:r>
              <a:rPr lang="en-US" dirty="0"/>
              <a:t>Learning with Errors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F1EA28C-EBEC-E5C6-D31C-5000EB2662A9}"/>
                  </a:ext>
                </a:extLst>
              </p:cNvPr>
              <p:cNvSpPr txBox="1"/>
              <p:nvPr/>
            </p:nvSpPr>
            <p:spPr>
              <a:xfrm>
                <a:off x="511091" y="1501988"/>
                <a:ext cx="11169817" cy="2371675"/>
              </a:xfrm>
              <a:prstGeom prst="rect">
                <a:avLst/>
              </a:prstGeom>
              <a:solidFill>
                <a:schemeClr val="bg1"/>
              </a:solidFill>
            </p:spPr>
            <p:txBody>
              <a:bodyPr wrap="square" rtlCol="0">
                <a:spAutoFit/>
              </a:bodyPr>
              <a:lstStyle/>
              <a:p>
                <a:r>
                  <a:rPr lang="en-IN" sz="2400" dirty="0"/>
                  <a:t>Find secret vector </a:t>
                </a:r>
                <a14:m>
                  <m:oMath xmlns:m="http://schemas.openxmlformats.org/officeDocument/2006/math">
                    <m:r>
                      <a:rPr lang="en-IN" sz="2400" b="0" i="1" smtClean="0">
                        <a:solidFill>
                          <a:schemeClr val="accent5">
                            <a:lumMod val="75000"/>
                          </a:schemeClr>
                        </a:solidFill>
                        <a:latin typeface="Cambria Math" panose="02040503050406030204" pitchFamily="18" charset="0"/>
                      </a:rPr>
                      <m:t>𝑠</m:t>
                    </m:r>
                  </m:oMath>
                </a14:m>
                <a:r>
                  <a:rPr lang="en-IN" sz="2400" dirty="0"/>
                  <a:t> given </a:t>
                </a:r>
                <a14:m>
                  <m:oMath xmlns:m="http://schemas.openxmlformats.org/officeDocument/2006/math">
                    <m:r>
                      <a:rPr lang="en-IN" sz="2400" b="0" i="1" smtClean="0">
                        <a:solidFill>
                          <a:schemeClr val="accent5">
                            <a:lumMod val="75000"/>
                          </a:schemeClr>
                        </a:solidFill>
                        <a:latin typeface="Cambria Math" panose="02040503050406030204" pitchFamily="18" charset="0"/>
                      </a:rPr>
                      <m:t>𝑚</m:t>
                    </m:r>
                  </m:oMath>
                </a14:m>
                <a:r>
                  <a:rPr lang="en-IN" sz="2400" dirty="0"/>
                  <a:t> vectors along with noisy inner products:</a:t>
                </a:r>
              </a:p>
              <a:p>
                <a:endParaRPr lang="en-IN" sz="2400" dirty="0"/>
              </a:p>
              <a:p>
                <a:pPr/>
                <a14:m>
                  <m:oMathPara xmlns:m="http://schemas.openxmlformats.org/officeDocument/2006/math">
                    <m:oMathParaPr>
                      <m:jc m:val="centerGroup"/>
                    </m:oMathParaPr>
                    <m:oMath xmlns:m="http://schemas.openxmlformats.org/officeDocument/2006/math">
                      <m:sSub>
                        <m:sSubPr>
                          <m:ctrlPr>
                            <a:rPr lang="en-IN" sz="2400" b="0" i="1" smtClean="0">
                              <a:solidFill>
                                <a:schemeClr val="accent5">
                                  <a:lumMod val="75000"/>
                                </a:schemeClr>
                              </a:solidFill>
                              <a:latin typeface="Cambria Math" panose="02040503050406030204" pitchFamily="18" charset="0"/>
                            </a:rPr>
                          </m:ctrlPr>
                        </m:sSubPr>
                        <m:e>
                          <m:r>
                            <a:rPr lang="en-IN" sz="2400" b="0" i="1" smtClean="0">
                              <a:solidFill>
                                <a:schemeClr val="accent5">
                                  <a:lumMod val="75000"/>
                                </a:schemeClr>
                              </a:solidFill>
                              <a:latin typeface="Cambria Math" panose="02040503050406030204" pitchFamily="18" charset="0"/>
                            </a:rPr>
                            <m:t>𝑎</m:t>
                          </m:r>
                        </m:e>
                        <m:sub>
                          <m:r>
                            <a:rPr lang="en-US" sz="2400" b="0" i="1" smtClean="0">
                              <a:solidFill>
                                <a:schemeClr val="accent5">
                                  <a:lumMod val="75000"/>
                                </a:schemeClr>
                              </a:solidFill>
                              <a:latin typeface="Cambria Math" panose="02040503050406030204" pitchFamily="18" charset="0"/>
                            </a:rPr>
                            <m:t>𝑖</m:t>
                          </m:r>
                        </m:sub>
                      </m:sSub>
                      <m:r>
                        <a:rPr lang="en-IN" sz="2400" b="0" i="1" smtClean="0">
                          <a:solidFill>
                            <a:schemeClr val="accent5">
                              <a:lumMod val="75000"/>
                            </a:schemeClr>
                          </a:solidFill>
                          <a:latin typeface="Cambria Math" panose="02040503050406030204" pitchFamily="18" charset="0"/>
                        </a:rPr>
                        <m:t>←</m:t>
                      </m:r>
                      <m:sSubSup>
                        <m:sSubSupPr>
                          <m:ctrlPr>
                            <a:rPr lang="en-IN" sz="2400" b="0" i="1" smtClean="0">
                              <a:solidFill>
                                <a:schemeClr val="accent5">
                                  <a:lumMod val="75000"/>
                                </a:schemeClr>
                              </a:solidFill>
                              <a:latin typeface="Cambria Math" panose="02040503050406030204" pitchFamily="18" charset="0"/>
                            </a:rPr>
                          </m:ctrlPr>
                        </m:sSubSupPr>
                        <m:e>
                          <m:r>
                            <a:rPr lang="en-IN"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up>
                          <m:r>
                            <a:rPr lang="en-IN" sz="2400" b="0" i="1" smtClean="0">
                              <a:solidFill>
                                <a:schemeClr val="accent5">
                                  <a:lumMod val="75000"/>
                                </a:schemeClr>
                              </a:solidFill>
                              <a:latin typeface="Cambria Math" panose="02040503050406030204" pitchFamily="18" charset="0"/>
                            </a:rPr>
                            <m:t>𝑛</m:t>
                          </m:r>
                        </m:sup>
                      </m:sSubSup>
                      <m:r>
                        <a:rPr lang="en-IN" sz="2400" b="0" i="1" smtClean="0">
                          <a:solidFill>
                            <a:schemeClr val="accent5">
                              <a:lumMod val="75000"/>
                            </a:schemeClr>
                          </a:solidFill>
                          <a:latin typeface="Cambria Math" panose="02040503050406030204" pitchFamily="18" charset="0"/>
                        </a:rPr>
                        <m:t>        </m:t>
                      </m:r>
                      <m:sSub>
                        <m:sSubPr>
                          <m:ctrlPr>
                            <a:rPr lang="en-IN" sz="2400" b="0" i="1" smtClean="0">
                              <a:solidFill>
                                <a:schemeClr val="accent5">
                                  <a:lumMod val="75000"/>
                                </a:schemeClr>
                              </a:solidFill>
                              <a:latin typeface="Cambria Math" panose="02040503050406030204" pitchFamily="18" charset="0"/>
                            </a:rPr>
                          </m:ctrlPr>
                        </m:sSubPr>
                        <m:e>
                          <m:r>
                            <a:rPr lang="en-IN" sz="2400" b="0" i="1" smtClean="0">
                              <a:solidFill>
                                <a:schemeClr val="accent5">
                                  <a:lumMod val="75000"/>
                                </a:schemeClr>
                              </a:solidFill>
                              <a:latin typeface="Cambria Math" panose="02040503050406030204" pitchFamily="18" charset="0"/>
                            </a:rPr>
                            <m:t>𝑏</m:t>
                          </m:r>
                        </m:e>
                        <m:sub>
                          <m:r>
                            <a:rPr lang="en-US" sz="2400" b="0" i="1" smtClean="0">
                              <a:solidFill>
                                <a:schemeClr val="accent5">
                                  <a:lumMod val="75000"/>
                                </a:schemeClr>
                              </a:solidFill>
                              <a:latin typeface="Cambria Math" panose="02040503050406030204" pitchFamily="18" charset="0"/>
                            </a:rPr>
                            <m:t>𝑖</m:t>
                          </m:r>
                        </m:sub>
                      </m:sSub>
                      <m:r>
                        <a:rPr lang="en-IN" sz="2400" b="0" i="1" smtClean="0">
                          <a:solidFill>
                            <a:schemeClr val="accent5">
                              <a:lumMod val="75000"/>
                            </a:schemeClr>
                          </a:solidFill>
                          <a:latin typeface="Cambria Math" panose="02040503050406030204" pitchFamily="18" charset="0"/>
                        </a:rPr>
                        <m:t>=</m:t>
                      </m:r>
                      <m:d>
                        <m:dPr>
                          <m:begChr m:val="⟨"/>
                          <m:endChr m:val="⟩"/>
                          <m:ctrlPr>
                            <a:rPr lang="en-IN" sz="2400" b="0" i="1" smtClean="0">
                              <a:solidFill>
                                <a:schemeClr val="accent5">
                                  <a:lumMod val="75000"/>
                                </a:schemeClr>
                              </a:solidFill>
                              <a:latin typeface="Cambria Math" panose="02040503050406030204" pitchFamily="18" charset="0"/>
                            </a:rPr>
                          </m:ctrlPr>
                        </m:dPr>
                        <m:e>
                          <m:r>
                            <a:rPr lang="en-IN" sz="2400" b="0" i="1" smtClean="0">
                              <a:solidFill>
                                <a:schemeClr val="accent5">
                                  <a:lumMod val="75000"/>
                                </a:schemeClr>
                              </a:solidFill>
                              <a:latin typeface="Cambria Math" panose="02040503050406030204" pitchFamily="18" charset="0"/>
                            </a:rPr>
                            <m:t>𝑠</m:t>
                          </m:r>
                          <m:r>
                            <a:rPr lang="en-IN" sz="2400" b="0" i="1" smtClean="0">
                              <a:solidFill>
                                <a:schemeClr val="accent5">
                                  <a:lumMod val="75000"/>
                                </a:schemeClr>
                              </a:solidFill>
                              <a:latin typeface="Cambria Math" panose="02040503050406030204" pitchFamily="18" charset="0"/>
                            </a:rPr>
                            <m:t>,</m:t>
                          </m:r>
                          <m:sSub>
                            <m:sSubPr>
                              <m:ctrlPr>
                                <a:rPr lang="en-IN" sz="2400" b="0" i="1" smtClean="0">
                                  <a:solidFill>
                                    <a:schemeClr val="accent5">
                                      <a:lumMod val="75000"/>
                                    </a:schemeClr>
                                  </a:solidFill>
                                  <a:latin typeface="Cambria Math" panose="02040503050406030204" pitchFamily="18" charset="0"/>
                                </a:rPr>
                              </m:ctrlPr>
                            </m:sSubPr>
                            <m:e>
                              <m:r>
                                <a:rPr lang="en-IN" sz="2400" b="0" i="1" smtClean="0">
                                  <a:solidFill>
                                    <a:schemeClr val="accent5">
                                      <a:lumMod val="75000"/>
                                    </a:schemeClr>
                                  </a:solidFill>
                                  <a:latin typeface="Cambria Math" panose="02040503050406030204" pitchFamily="18" charset="0"/>
                                </a:rPr>
                                <m:t>𝑎</m:t>
                              </m:r>
                            </m:e>
                            <m:sub>
                              <m:r>
                                <a:rPr lang="en-US" sz="2400" b="0" i="1" smtClean="0">
                                  <a:solidFill>
                                    <a:schemeClr val="accent5">
                                      <a:lumMod val="75000"/>
                                    </a:schemeClr>
                                  </a:solidFill>
                                  <a:latin typeface="Cambria Math" panose="02040503050406030204" pitchFamily="18" charset="0"/>
                                </a:rPr>
                                <m:t>𝑖</m:t>
                              </m:r>
                            </m:sub>
                          </m:sSub>
                        </m:e>
                      </m:d>
                      <m:r>
                        <a:rPr lang="en-IN" sz="2400" b="0" i="1" smtClean="0">
                          <a:solidFill>
                            <a:schemeClr val="accent5">
                              <a:lumMod val="75000"/>
                            </a:schemeClr>
                          </a:solidFill>
                          <a:latin typeface="Cambria Math" panose="02040503050406030204" pitchFamily="18" charset="0"/>
                        </a:rPr>
                        <m:t>+</m:t>
                      </m:r>
                      <m:sSub>
                        <m:sSubPr>
                          <m:ctrlPr>
                            <a:rPr lang="en-IN" sz="2400" b="0" i="1" smtClean="0">
                              <a:solidFill>
                                <a:schemeClr val="accent5">
                                  <a:lumMod val="75000"/>
                                </a:schemeClr>
                              </a:solidFill>
                              <a:latin typeface="Cambria Math" panose="02040503050406030204" pitchFamily="18" charset="0"/>
                            </a:rPr>
                          </m:ctrlPr>
                        </m:sSubPr>
                        <m:e>
                          <m:r>
                            <a:rPr lang="en-IN" sz="2400" b="0" i="1" smtClean="0">
                              <a:solidFill>
                                <a:schemeClr val="accent5">
                                  <a:lumMod val="75000"/>
                                </a:schemeClr>
                              </a:solidFill>
                              <a:latin typeface="Cambria Math" panose="02040503050406030204" pitchFamily="18" charset="0"/>
                            </a:rPr>
                            <m:t>𝑒</m:t>
                          </m:r>
                        </m:e>
                        <m:sub>
                          <m:r>
                            <a:rPr lang="en-US" sz="2400" b="0" i="1" smtClean="0">
                              <a:solidFill>
                                <a:schemeClr val="accent5">
                                  <a:lumMod val="75000"/>
                                </a:schemeClr>
                              </a:solidFill>
                              <a:latin typeface="Cambria Math" panose="02040503050406030204" pitchFamily="18" charset="0"/>
                            </a:rPr>
                            <m:t>𝑖</m:t>
                          </m:r>
                        </m:sub>
                      </m:sSub>
                      <m:r>
                        <a:rPr lang="en-IN" sz="2400" b="0" i="1" smtClean="0">
                          <a:solidFill>
                            <a:schemeClr val="accent5">
                              <a:lumMod val="75000"/>
                            </a:schemeClr>
                          </a:solidFill>
                          <a:latin typeface="Cambria Math" panose="02040503050406030204" pitchFamily="18" charset="0"/>
                        </a:rPr>
                        <m:t>∈</m:t>
                      </m:r>
                      <m:sSub>
                        <m:sSubPr>
                          <m:ctrlPr>
                            <a:rPr lang="en-IN" sz="2400" b="0" i="1" smtClean="0">
                              <a:solidFill>
                                <a:schemeClr val="accent5">
                                  <a:lumMod val="75000"/>
                                </a:schemeClr>
                              </a:solidFill>
                              <a:latin typeface="Cambria Math" panose="02040503050406030204" pitchFamily="18" charset="0"/>
                            </a:rPr>
                          </m:ctrlPr>
                        </m:sSubPr>
                        <m:e>
                          <m:r>
                            <a:rPr lang="en-IN" sz="2400" b="0" i="1" smtClean="0">
                              <a:solidFill>
                                <a:schemeClr val="accent5">
                                  <a:lumMod val="75000"/>
                                </a:schemeClr>
                              </a:solidFill>
                              <a:latin typeface="Cambria Math" panose="02040503050406030204" pitchFamily="18" charset="0"/>
                            </a:rPr>
                            <m:t>ℤ</m:t>
                          </m:r>
                        </m:e>
                        <m:sub>
                          <m:r>
                            <a:rPr lang="en-IN" sz="2400" b="0" i="1" smtClean="0">
                              <a:solidFill>
                                <a:schemeClr val="accent5">
                                  <a:lumMod val="75000"/>
                                </a:schemeClr>
                              </a:solidFill>
                              <a:latin typeface="Cambria Math" panose="02040503050406030204" pitchFamily="18" charset="0"/>
                            </a:rPr>
                            <m:t>𝑞</m:t>
                          </m:r>
                        </m:sub>
                      </m:sSub>
                    </m:oMath>
                  </m:oMathPara>
                </a14:m>
                <a:endParaRPr lang="en-IN" sz="2400" dirty="0">
                  <a:solidFill>
                    <a:schemeClr val="accent5">
                      <a:lumMod val="75000"/>
                    </a:schemeClr>
                  </a:solidFill>
                </a:endParaRPr>
              </a:p>
              <a:p>
                <a:pPr/>
                <a14:m>
                  <m:oMathPara xmlns:m="http://schemas.openxmlformats.org/officeDocument/2006/math">
                    <m:oMathParaPr>
                      <m:jc m:val="centerGroup"/>
                    </m:oMathParaPr>
                    <m:oMath xmlns:m="http://schemas.openxmlformats.org/officeDocument/2006/math">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𝑒</m:t>
                          </m:r>
                        </m:e>
                        <m:sub>
                          <m:r>
                            <a:rPr lang="en-US" sz="2400" b="0" i="1" smtClean="0">
                              <a:solidFill>
                                <a:schemeClr val="accent5">
                                  <a:lumMod val="75000"/>
                                </a:schemeClr>
                              </a:solidFill>
                              <a:latin typeface="Cambria Math" panose="02040503050406030204" pitchFamily="18" charset="0"/>
                            </a:rPr>
                            <m:t>𝑖</m:t>
                          </m:r>
                        </m:sub>
                      </m:sSub>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𝜒</m:t>
                      </m:r>
                    </m:oMath>
                  </m:oMathPara>
                </a14:m>
                <a:endParaRPr lang="en-US" sz="2400" b="0" dirty="0"/>
              </a:p>
              <a:p>
                <a:endParaRPr lang="en-US" sz="2400" b="0" dirty="0"/>
              </a:p>
              <a:p>
                <a:r>
                  <a:rPr lang="en-US" sz="2400" b="0" dirty="0"/>
                  <a:t>Most popular </a:t>
                </a:r>
                <a14:m>
                  <m:oMath xmlns:m="http://schemas.openxmlformats.org/officeDocument/2006/math">
                    <m:r>
                      <a:rPr lang="en-US" sz="2400" b="0" i="1" smtClean="0">
                        <a:solidFill>
                          <a:schemeClr val="accent5">
                            <a:lumMod val="75000"/>
                          </a:schemeClr>
                        </a:solidFill>
                        <a:latin typeface="Cambria Math" panose="02040503050406030204" pitchFamily="18" charset="0"/>
                      </a:rPr>
                      <m:t>𝜒</m:t>
                    </m:r>
                  </m:oMath>
                </a14:m>
                <a:r>
                  <a:rPr lang="en-IN" sz="2400" dirty="0"/>
                  <a:t>:      Discrete Gaussian with variance </a:t>
                </a:r>
                <a14:m>
                  <m:oMath xmlns:m="http://schemas.openxmlformats.org/officeDocument/2006/math">
                    <m:r>
                      <a:rPr lang="en-US" sz="2400" b="0" i="1" smtClean="0">
                        <a:solidFill>
                          <a:schemeClr val="accent5">
                            <a:lumMod val="75000"/>
                          </a:schemeClr>
                        </a:solidFill>
                        <a:latin typeface="Cambria Math" panose="02040503050406030204" pitchFamily="18" charset="0"/>
                      </a:rPr>
                      <m:t>𝛼</m:t>
                    </m:r>
                    <m:r>
                      <a:rPr lang="en-US" sz="2400" b="0" i="1" smtClean="0">
                        <a:solidFill>
                          <a:schemeClr val="accent5">
                            <a:lumMod val="75000"/>
                          </a:schemeClr>
                        </a:solidFill>
                        <a:latin typeface="Cambria Math" panose="02040503050406030204" pitchFamily="18" charset="0"/>
                      </a:rPr>
                      <m:t>𝑞</m:t>
                    </m:r>
                    <m:r>
                      <a:rPr lang="en-US" sz="2400" b="0" i="1" smtClean="0">
                        <a:solidFill>
                          <a:schemeClr val="accent5">
                            <a:lumMod val="75000"/>
                          </a:schemeClr>
                        </a:solidFill>
                        <a:latin typeface="Cambria Math" panose="02040503050406030204" pitchFamily="18" charset="0"/>
                      </a:rPr>
                      <m:t>/</m:t>
                    </m:r>
                    <m:rad>
                      <m:radPr>
                        <m:degHide m:val="on"/>
                        <m:ctrlPr>
                          <a:rPr lang="en-US" sz="2400" b="0" i="1" smtClean="0">
                            <a:solidFill>
                              <a:schemeClr val="accent5">
                                <a:lumMod val="75000"/>
                              </a:schemeClr>
                            </a:solidFill>
                            <a:latin typeface="Cambria Math" panose="02040503050406030204" pitchFamily="18" charset="0"/>
                          </a:rPr>
                        </m:ctrlPr>
                      </m:radPr>
                      <m:deg/>
                      <m:e>
                        <m:r>
                          <a:rPr lang="en-US" sz="2400" b="0" i="1" smtClean="0">
                            <a:solidFill>
                              <a:schemeClr val="accent5">
                                <a:lumMod val="75000"/>
                              </a:schemeClr>
                            </a:solidFill>
                            <a:latin typeface="Cambria Math" panose="02040503050406030204" pitchFamily="18" charset="0"/>
                          </a:rPr>
                          <m:t>2</m:t>
                        </m:r>
                        <m:r>
                          <a:rPr lang="en-US" sz="2400" b="0" i="1" smtClean="0">
                            <a:solidFill>
                              <a:schemeClr val="accent5">
                                <a:lumMod val="75000"/>
                              </a:schemeClr>
                            </a:solidFill>
                            <a:latin typeface="Cambria Math" panose="02040503050406030204" pitchFamily="18" charset="0"/>
                          </a:rPr>
                          <m:t>𝜋</m:t>
                        </m:r>
                      </m:e>
                    </m:rad>
                  </m:oMath>
                </a14:m>
                <a:endParaRPr lang="en-IN" sz="2400" dirty="0"/>
              </a:p>
            </p:txBody>
          </p:sp>
        </mc:Choice>
        <mc:Fallback xmlns="">
          <p:sp>
            <p:nvSpPr>
              <p:cNvPr id="4" name="TextBox 3">
                <a:extLst>
                  <a:ext uri="{FF2B5EF4-FFF2-40B4-BE49-F238E27FC236}">
                    <a16:creationId xmlns:a16="http://schemas.microsoft.com/office/drawing/2014/main" id="{2F1EA28C-EBEC-E5C6-D31C-5000EB2662A9}"/>
                  </a:ext>
                </a:extLst>
              </p:cNvPr>
              <p:cNvSpPr txBox="1">
                <a:spLocks noRot="1" noChangeAspect="1" noMove="1" noResize="1" noEditPoints="1" noAdjustHandles="1" noChangeArrowheads="1" noChangeShapeType="1" noTextEdit="1"/>
              </p:cNvSpPr>
              <p:nvPr/>
            </p:nvSpPr>
            <p:spPr>
              <a:xfrm>
                <a:off x="511091" y="1501988"/>
                <a:ext cx="11169817" cy="2371675"/>
              </a:xfrm>
              <a:prstGeom prst="rect">
                <a:avLst/>
              </a:prstGeom>
              <a:blipFill>
                <a:blip r:embed="rId3"/>
                <a:stretch>
                  <a:fillRect l="-909" t="-2139" b="-534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790F2AD9-98B0-1401-FB84-F238D3670E7D}"/>
              </a:ext>
            </a:extLst>
          </p:cNvPr>
          <p:cNvPicPr>
            <a:picLocks noChangeAspect="1"/>
          </p:cNvPicPr>
          <p:nvPr/>
        </p:nvPicPr>
        <p:blipFill>
          <a:blip r:embed="rId4"/>
          <a:stretch>
            <a:fillRect/>
          </a:stretch>
        </p:blipFill>
        <p:spPr>
          <a:xfrm>
            <a:off x="8881943" y="1501988"/>
            <a:ext cx="3126074" cy="2342597"/>
          </a:xfrm>
          <a:prstGeom prst="rect">
            <a:avLst/>
          </a:prstGeom>
        </p:spPr>
      </p:pic>
      <p:sp>
        <p:nvSpPr>
          <p:cNvPr id="10" name="TextBox 9">
            <a:extLst>
              <a:ext uri="{FF2B5EF4-FFF2-40B4-BE49-F238E27FC236}">
                <a16:creationId xmlns:a16="http://schemas.microsoft.com/office/drawing/2014/main" id="{FE110987-D6A9-25EA-D5F6-5F42F4266F6A}"/>
              </a:ext>
            </a:extLst>
          </p:cNvPr>
          <p:cNvSpPr txBox="1"/>
          <p:nvPr/>
        </p:nvSpPr>
        <p:spPr>
          <a:xfrm>
            <a:off x="9435987" y="3921078"/>
            <a:ext cx="2017986" cy="369332"/>
          </a:xfrm>
          <a:prstGeom prst="rect">
            <a:avLst/>
          </a:prstGeom>
          <a:noFill/>
        </p:spPr>
        <p:txBody>
          <a:bodyPr wrap="square" rtlCol="0">
            <a:spAutoFit/>
          </a:bodyPr>
          <a:lstStyle/>
          <a:p>
            <a:r>
              <a:rPr lang="en-IN" dirty="0"/>
              <a:t>Discrete Gaussian</a:t>
            </a:r>
            <a:endParaRPr lang="en-US" dirty="0"/>
          </a:p>
        </p:txBody>
      </p:sp>
      <p:sp>
        <p:nvSpPr>
          <p:cNvPr id="11" name="Double Bracket 10">
            <a:extLst>
              <a:ext uri="{FF2B5EF4-FFF2-40B4-BE49-F238E27FC236}">
                <a16:creationId xmlns:a16="http://schemas.microsoft.com/office/drawing/2014/main" id="{5F7D10B7-A0FB-F5B4-8A87-CD081261CFAD}"/>
              </a:ext>
            </a:extLst>
          </p:cNvPr>
          <p:cNvSpPr/>
          <p:nvPr/>
        </p:nvSpPr>
        <p:spPr>
          <a:xfrm>
            <a:off x="4513275" y="4432362"/>
            <a:ext cx="886125" cy="1078859"/>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EADF28-A537-4CBE-98D9-86556B0AD85F}"/>
                  </a:ext>
                </a:extLst>
              </p:cNvPr>
              <p:cNvSpPr txBox="1"/>
              <p:nvPr/>
            </p:nvSpPr>
            <p:spPr>
              <a:xfrm>
                <a:off x="4539485" y="4733527"/>
                <a:ext cx="85991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𝑎</m:t>
                          </m:r>
                        </m:e>
                        <m:sub>
                          <m:r>
                            <a:rPr lang="en-US" sz="2400" b="0" i="1" smtClean="0">
                              <a:solidFill>
                                <a:schemeClr val="accent5">
                                  <a:lumMod val="75000"/>
                                </a:schemeClr>
                              </a:solidFill>
                              <a:latin typeface="Cambria Math" panose="02040503050406030204" pitchFamily="18" charset="0"/>
                            </a:rPr>
                            <m:t>𝑖</m:t>
                          </m:r>
                        </m:sub>
                      </m:sSub>
                      <m:r>
                        <a:rPr lang="en-US" sz="2400" b="0" i="1" smtClean="0">
                          <a:solidFill>
                            <a:schemeClr val="accent5">
                              <a:lumMod val="75000"/>
                            </a:schemeClr>
                          </a:solidFill>
                          <a:latin typeface="Cambria Math" panose="02040503050406030204" pitchFamily="18" charset="0"/>
                        </a:rPr>
                        <m:t>−</m:t>
                      </m:r>
                    </m:oMath>
                  </m:oMathPara>
                </a14:m>
                <a:endParaRPr lang="en-US" sz="2400" dirty="0">
                  <a:solidFill>
                    <a:schemeClr val="accent5">
                      <a:lumMod val="75000"/>
                    </a:schemeClr>
                  </a:solidFill>
                </a:endParaRPr>
              </a:p>
            </p:txBody>
          </p:sp>
        </mc:Choice>
        <mc:Fallback xmlns="">
          <p:sp>
            <p:nvSpPr>
              <p:cNvPr id="13" name="TextBox 12">
                <a:extLst>
                  <a:ext uri="{FF2B5EF4-FFF2-40B4-BE49-F238E27FC236}">
                    <a16:creationId xmlns:a16="http://schemas.microsoft.com/office/drawing/2014/main" id="{13EADF28-A537-4CBE-98D9-86556B0AD85F}"/>
                  </a:ext>
                </a:extLst>
              </p:cNvPr>
              <p:cNvSpPr txBox="1">
                <a:spLocks noRot="1" noChangeAspect="1" noMove="1" noResize="1" noEditPoints="1" noAdjustHandles="1" noChangeArrowheads="1" noChangeShapeType="1" noTextEdit="1"/>
              </p:cNvSpPr>
              <p:nvPr/>
            </p:nvSpPr>
            <p:spPr>
              <a:xfrm>
                <a:off x="4539485" y="4733527"/>
                <a:ext cx="859915" cy="369332"/>
              </a:xfrm>
              <a:prstGeom prst="rect">
                <a:avLst/>
              </a:prstGeom>
              <a:blipFill>
                <a:blip r:embed="rId5"/>
                <a:stretch>
                  <a:fillRect l="-1449" r="-1449" b="-16667"/>
                </a:stretch>
              </a:blipFill>
            </p:spPr>
            <p:txBody>
              <a:bodyPr/>
              <a:lstStyle/>
              <a:p>
                <a:r>
                  <a:rPr lang="en-US">
                    <a:noFill/>
                  </a:rPr>
                  <a:t> </a:t>
                </a:r>
              </a:p>
            </p:txBody>
          </p:sp>
        </mc:Fallback>
      </mc:AlternateContent>
      <p:sp>
        <p:nvSpPr>
          <p:cNvPr id="14" name="Double Bracket 13">
            <a:extLst>
              <a:ext uri="{FF2B5EF4-FFF2-40B4-BE49-F238E27FC236}">
                <a16:creationId xmlns:a16="http://schemas.microsoft.com/office/drawing/2014/main" id="{155A1CE9-8447-6BBE-B7F6-1E02F0576DB6}"/>
              </a:ext>
            </a:extLst>
          </p:cNvPr>
          <p:cNvSpPr/>
          <p:nvPr/>
        </p:nvSpPr>
        <p:spPr>
          <a:xfrm>
            <a:off x="6296940" y="4432362"/>
            <a:ext cx="290654" cy="1078859"/>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48FAED3-29DE-6708-DA4D-24AFF3C28FA3}"/>
                  </a:ext>
                </a:extLst>
              </p:cNvPr>
              <p:cNvSpPr txBox="1"/>
              <p:nvPr/>
            </p:nvSpPr>
            <p:spPr>
              <a:xfrm>
                <a:off x="6283024" y="4767302"/>
                <a:ext cx="318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𝑏</m:t>
                          </m:r>
                        </m:e>
                        <m:sub>
                          <m:r>
                            <a:rPr lang="en-US" sz="2400" b="0" i="1" smtClean="0">
                              <a:solidFill>
                                <a:schemeClr val="accent5">
                                  <a:lumMod val="75000"/>
                                </a:schemeClr>
                              </a:solidFill>
                              <a:latin typeface="Cambria Math" panose="02040503050406030204" pitchFamily="18" charset="0"/>
                            </a:rPr>
                            <m:t>𝑖</m:t>
                          </m:r>
                        </m:sub>
                      </m:sSub>
                    </m:oMath>
                  </m:oMathPara>
                </a14:m>
                <a:endParaRPr lang="en-US" sz="2400" dirty="0">
                  <a:solidFill>
                    <a:schemeClr val="accent5">
                      <a:lumMod val="75000"/>
                    </a:schemeClr>
                  </a:solidFill>
                </a:endParaRPr>
              </a:p>
            </p:txBody>
          </p:sp>
        </mc:Choice>
        <mc:Fallback xmlns="">
          <p:sp>
            <p:nvSpPr>
              <p:cNvPr id="15" name="TextBox 14">
                <a:extLst>
                  <a:ext uri="{FF2B5EF4-FFF2-40B4-BE49-F238E27FC236}">
                    <a16:creationId xmlns:a16="http://schemas.microsoft.com/office/drawing/2014/main" id="{748FAED3-29DE-6708-DA4D-24AFF3C28FA3}"/>
                  </a:ext>
                </a:extLst>
              </p:cNvPr>
              <p:cNvSpPr txBox="1">
                <a:spLocks noRot="1" noChangeAspect="1" noMove="1" noResize="1" noEditPoints="1" noAdjustHandles="1" noChangeArrowheads="1" noChangeShapeType="1" noTextEdit="1"/>
              </p:cNvSpPr>
              <p:nvPr/>
            </p:nvSpPr>
            <p:spPr>
              <a:xfrm>
                <a:off x="6283024" y="4767302"/>
                <a:ext cx="318485" cy="369332"/>
              </a:xfrm>
              <a:prstGeom prst="rect">
                <a:avLst/>
              </a:prstGeom>
              <a:blipFill>
                <a:blip r:embed="rId6"/>
                <a:stretch>
                  <a:fillRect l="-23077" r="-7692"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8DBC029-0834-315C-FBD3-2FC73B2A2C3B}"/>
                  </a:ext>
                </a:extLst>
              </p:cNvPr>
              <p:cNvSpPr txBox="1"/>
              <p:nvPr/>
            </p:nvSpPr>
            <p:spPr>
              <a:xfrm>
                <a:off x="3948910" y="4771430"/>
                <a:ext cx="5757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𝐴</m:t>
                      </m:r>
                      <m:r>
                        <a:rPr lang="en-US" sz="2400" b="0" i="1" smtClean="0">
                          <a:solidFill>
                            <a:schemeClr val="accent5">
                              <a:lumMod val="75000"/>
                            </a:schemeClr>
                          </a:solidFill>
                          <a:latin typeface="Cambria Math" panose="02040503050406030204" pitchFamily="18" charset="0"/>
                        </a:rPr>
                        <m:t>=</m:t>
                      </m:r>
                    </m:oMath>
                  </m:oMathPara>
                </a14:m>
                <a:endParaRPr lang="en-US" sz="2400" dirty="0">
                  <a:solidFill>
                    <a:schemeClr val="accent5">
                      <a:lumMod val="75000"/>
                    </a:schemeClr>
                  </a:solidFill>
                </a:endParaRPr>
              </a:p>
            </p:txBody>
          </p:sp>
        </mc:Choice>
        <mc:Fallback xmlns="">
          <p:sp>
            <p:nvSpPr>
              <p:cNvPr id="16" name="TextBox 15">
                <a:extLst>
                  <a:ext uri="{FF2B5EF4-FFF2-40B4-BE49-F238E27FC236}">
                    <a16:creationId xmlns:a16="http://schemas.microsoft.com/office/drawing/2014/main" id="{38DBC029-0834-315C-FBD3-2FC73B2A2C3B}"/>
                  </a:ext>
                </a:extLst>
              </p:cNvPr>
              <p:cNvSpPr txBox="1">
                <a:spLocks noRot="1" noChangeAspect="1" noMove="1" noResize="1" noEditPoints="1" noAdjustHandles="1" noChangeArrowheads="1" noChangeShapeType="1" noTextEdit="1"/>
              </p:cNvSpPr>
              <p:nvPr/>
            </p:nvSpPr>
            <p:spPr>
              <a:xfrm>
                <a:off x="3948910" y="4771430"/>
                <a:ext cx="575799" cy="369332"/>
              </a:xfrm>
              <a:prstGeom prst="rect">
                <a:avLst/>
              </a:prstGeom>
              <a:blipFill>
                <a:blip r:embed="rId7"/>
                <a:stretch>
                  <a:fillRect l="-13043" r="-652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13241E1-DA2B-A752-654A-CA9875351DF1}"/>
                  </a:ext>
                </a:extLst>
              </p:cNvPr>
              <p:cNvSpPr txBox="1"/>
              <p:nvPr/>
            </p:nvSpPr>
            <p:spPr>
              <a:xfrm>
                <a:off x="5669006" y="4767302"/>
                <a:ext cx="5506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oMath>
                  </m:oMathPara>
                </a14:m>
                <a:endParaRPr lang="en-US" sz="2400" dirty="0">
                  <a:solidFill>
                    <a:schemeClr val="accent5">
                      <a:lumMod val="75000"/>
                    </a:schemeClr>
                  </a:solidFill>
                </a:endParaRPr>
              </a:p>
            </p:txBody>
          </p:sp>
        </mc:Choice>
        <mc:Fallback xmlns="">
          <p:sp>
            <p:nvSpPr>
              <p:cNvPr id="17" name="TextBox 16">
                <a:extLst>
                  <a:ext uri="{FF2B5EF4-FFF2-40B4-BE49-F238E27FC236}">
                    <a16:creationId xmlns:a16="http://schemas.microsoft.com/office/drawing/2014/main" id="{013241E1-DA2B-A752-654A-CA9875351DF1}"/>
                  </a:ext>
                </a:extLst>
              </p:cNvPr>
              <p:cNvSpPr txBox="1">
                <a:spLocks noRot="1" noChangeAspect="1" noMove="1" noResize="1" noEditPoints="1" noAdjustHandles="1" noChangeArrowheads="1" noChangeShapeType="1" noTextEdit="1"/>
              </p:cNvSpPr>
              <p:nvPr/>
            </p:nvSpPr>
            <p:spPr>
              <a:xfrm>
                <a:off x="5669006" y="4767302"/>
                <a:ext cx="550664" cy="369332"/>
              </a:xfrm>
              <a:prstGeom prst="rect">
                <a:avLst/>
              </a:prstGeom>
              <a:blipFill>
                <a:blip r:embed="rId8"/>
                <a:stretch>
                  <a:fillRect l="-13636" r="-6818" b="-6667"/>
                </a:stretch>
              </a:blipFill>
            </p:spPr>
            <p:txBody>
              <a:bodyPr/>
              <a:lstStyle/>
              <a:p>
                <a:r>
                  <a:rPr lang="en-US">
                    <a:noFill/>
                  </a:rPr>
                  <a:t> </a:t>
                </a:r>
              </a:p>
            </p:txBody>
          </p:sp>
        </mc:Fallback>
      </mc:AlternateContent>
    </p:spTree>
    <p:extLst>
      <p:ext uri="{BB962C8B-B14F-4D97-AF65-F5344CB8AC3E}">
        <p14:creationId xmlns:p14="http://schemas.microsoft.com/office/powerpoint/2010/main" val="138256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p:bldP spid="14" grpId="0" animBg="1"/>
      <p:bldP spid="15"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F1933-ADB6-F75E-F076-AF007CFE5179}"/>
              </a:ext>
            </a:extLst>
          </p:cNvPr>
          <p:cNvSpPr>
            <a:spLocks noGrp="1"/>
          </p:cNvSpPr>
          <p:nvPr>
            <p:ph type="title"/>
          </p:nvPr>
        </p:nvSpPr>
        <p:spPr/>
        <p:txBody>
          <a:bodyPr/>
          <a:lstStyle/>
          <a:p>
            <a:r>
              <a:rPr lang="en-US" dirty="0"/>
              <a:t>Classical Algorithms for LWE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F459FA-DEAD-10BD-AC0B-9D95CDFFB90B}"/>
                  </a:ext>
                </a:extLst>
              </p:cNvPr>
              <p:cNvSpPr>
                <a:spLocks noGrp="1"/>
              </p:cNvSpPr>
              <p:nvPr>
                <p:ph idx="1"/>
              </p:nvPr>
            </p:nvSpPr>
            <p:spPr>
              <a:xfrm>
                <a:off x="838200" y="1825625"/>
                <a:ext cx="10515600" cy="3397539"/>
              </a:xfrm>
            </p:spPr>
            <p:txBody>
              <a:bodyPr>
                <a:normAutofit/>
              </a:bodyPr>
              <a:lstStyle/>
              <a:p>
                <a:r>
                  <a:rPr lang="en-US" dirty="0"/>
                  <a:t>Naïve Algorithm</a:t>
                </a:r>
              </a:p>
              <a:p>
                <a:pPr lvl="1"/>
                <a:r>
                  <a:rPr lang="en-US" dirty="0"/>
                  <a:t>Find a set </a:t>
                </a:r>
                <a:r>
                  <a:rPr lang="en-US" dirty="0">
                    <a:solidFill>
                      <a:schemeClr val="accent5">
                        <a:lumMod val="75000"/>
                      </a:schemeClr>
                    </a:solidFill>
                  </a:rPr>
                  <a:t>S</a:t>
                </a:r>
                <a:r>
                  <a:rPr lang="en-US" dirty="0"/>
                  <a:t> of equations </a:t>
                </a:r>
                <a14:m>
                  <m:oMath xmlns:m="http://schemas.openxmlformats.org/officeDocument/2006/math">
                    <m:d>
                      <m:dPr>
                        <m:begChr m:val="⟨"/>
                        <m:endChr m:val="⟩"/>
                        <m:ctrlPr>
                          <a:rPr lang="en-US" b="0" i="1" smtClean="0">
                            <a:solidFill>
                              <a:schemeClr val="accent5">
                                <a:lumMod val="75000"/>
                              </a:schemeClr>
                            </a:solidFill>
                            <a:latin typeface="Cambria Math" panose="02040503050406030204" pitchFamily="18" charset="0"/>
                          </a:rPr>
                        </m:ctrlPr>
                      </m:dPr>
                      <m:e>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𝑎</m:t>
                            </m:r>
                          </m:e>
                          <m:sub>
                            <m:r>
                              <a:rPr lang="en-US" b="0" i="1" smtClean="0">
                                <a:solidFill>
                                  <a:schemeClr val="accent5">
                                    <a:lumMod val="75000"/>
                                  </a:schemeClr>
                                </a:solidFill>
                                <a:latin typeface="Cambria Math" panose="02040503050406030204" pitchFamily="18" charset="0"/>
                              </a:rPr>
                              <m:t>𝑖</m:t>
                            </m:r>
                          </m:sub>
                        </m:sSub>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𝑥</m:t>
                        </m:r>
                      </m:e>
                    </m:d>
                    <m:r>
                      <a:rPr lang="en-US" b="0" i="1" smtClean="0">
                        <a:solidFill>
                          <a:schemeClr val="accent5">
                            <a:lumMod val="75000"/>
                          </a:schemeClr>
                        </a:solidFill>
                        <a:latin typeface="Cambria Math" panose="02040503050406030204" pitchFamily="18" charset="0"/>
                      </a:rPr>
                      <m:t>=</m:t>
                    </m:r>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𝑏</m:t>
                        </m:r>
                      </m:e>
                      <m:sub>
                        <m:r>
                          <a:rPr lang="en-US" b="0" i="1" smtClean="0">
                            <a:solidFill>
                              <a:schemeClr val="accent5">
                                <a:lumMod val="75000"/>
                              </a:schemeClr>
                            </a:solidFill>
                            <a:latin typeface="Cambria Math" panose="02040503050406030204" pitchFamily="18" charset="0"/>
                          </a:rPr>
                          <m:t>𝑖</m:t>
                        </m:r>
                      </m:sub>
                    </m:sSub>
                  </m:oMath>
                </a14:m>
                <a:r>
                  <a:rPr lang="en-US" dirty="0">
                    <a:solidFill>
                      <a:schemeClr val="accent5">
                        <a:lumMod val="75000"/>
                      </a:schemeClr>
                    </a:solidFill>
                  </a:rPr>
                  <a:t> </a:t>
                </a:r>
                <a:r>
                  <a:rPr lang="en-US" dirty="0"/>
                  <a:t>such that </a:t>
                </a:r>
                <a14:m>
                  <m:oMath xmlns:m="http://schemas.openxmlformats.org/officeDocument/2006/math">
                    <m:sSub>
                      <m:sSubPr>
                        <m:ctrlPr>
                          <a:rPr lang="en-US" b="0" i="1" smtClean="0">
                            <a:solidFill>
                              <a:schemeClr val="accent5">
                                <a:lumMod val="75000"/>
                              </a:schemeClr>
                            </a:solidFill>
                            <a:latin typeface="Cambria Math" panose="02040503050406030204" pitchFamily="18" charset="0"/>
                          </a:rPr>
                        </m:ctrlPr>
                      </m:sSubPr>
                      <m:e>
                        <m:r>
                          <m:rPr>
                            <m:sty m:val="p"/>
                          </m:rPr>
                          <a:rPr lang="en-US" b="0" i="0" smtClean="0">
                            <a:solidFill>
                              <a:schemeClr val="accent5">
                                <a:lumMod val="75000"/>
                              </a:schemeClr>
                            </a:solidFill>
                            <a:latin typeface="Cambria Math" panose="02040503050406030204" pitchFamily="18" charset="0"/>
                          </a:rPr>
                          <m:t>c</m:t>
                        </m:r>
                      </m:e>
                      <m:sub>
                        <m:r>
                          <m:rPr>
                            <m:sty m:val="p"/>
                          </m:rPr>
                          <a:rPr lang="en-US" b="0" i="0" smtClean="0">
                            <a:solidFill>
                              <a:schemeClr val="accent5">
                                <a:lumMod val="75000"/>
                              </a:schemeClr>
                            </a:solidFill>
                            <a:latin typeface="Cambria Math" panose="02040503050406030204" pitchFamily="18" charset="0"/>
                          </a:rPr>
                          <m:t>i</m:t>
                        </m:r>
                      </m:sub>
                    </m:sSub>
                    <m:nary>
                      <m:naryPr>
                        <m:chr m:val="∑"/>
                        <m:limLoc m:val="subSup"/>
                        <m:supHide m:val="on"/>
                        <m:ctrlPr>
                          <a:rPr lang="en-US" b="0" i="1" smtClean="0">
                            <a:solidFill>
                              <a:schemeClr val="accent5">
                                <a:lumMod val="75000"/>
                              </a:schemeClr>
                            </a:solidFill>
                            <a:latin typeface="Cambria Math" panose="02040503050406030204" pitchFamily="18" charset="0"/>
                          </a:rPr>
                        </m:ctrlPr>
                      </m:naryPr>
                      <m:sub>
                        <m:r>
                          <m:rPr>
                            <m:brk m:alnAt="9"/>
                          </m:rPr>
                          <a:rPr lang="en-US" b="0" i="1" smtClean="0">
                            <a:solidFill>
                              <a:schemeClr val="accent5">
                                <a:lumMod val="75000"/>
                              </a:schemeClr>
                            </a:solidFill>
                            <a:latin typeface="Cambria Math" panose="02040503050406030204" pitchFamily="18" charset="0"/>
                          </a:rPr>
                          <m:t>𝑖</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𝑆</m:t>
                        </m:r>
                      </m:sub>
                      <m:sup/>
                      <m:e>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𝑎</m:t>
                            </m:r>
                          </m:e>
                          <m:sub>
                            <m:r>
                              <a:rPr lang="en-US" b="0" i="1" smtClean="0">
                                <a:solidFill>
                                  <a:schemeClr val="accent5">
                                    <a:lumMod val="75000"/>
                                  </a:schemeClr>
                                </a:solidFill>
                                <a:latin typeface="Cambria Math" panose="02040503050406030204" pitchFamily="18" charset="0"/>
                              </a:rPr>
                              <m:t>𝑖</m:t>
                            </m:r>
                          </m:sub>
                        </m:sSub>
                      </m:e>
                    </m:nary>
                  </m:oMath>
                </a14:m>
                <a:r>
                  <a:rPr lang="en-US" dirty="0">
                    <a:solidFill>
                      <a:schemeClr val="accent5">
                        <a:lumMod val="75000"/>
                      </a:schemeClr>
                    </a:solidFill>
                  </a:rPr>
                  <a:t> = </a:t>
                </a:r>
                <a14:m>
                  <m:oMath xmlns:m="http://schemas.openxmlformats.org/officeDocument/2006/math">
                    <m:d>
                      <m:dPr>
                        <m:ctrlPr>
                          <a:rPr lang="en-US" i="1" dirty="0" smtClean="0">
                            <a:solidFill>
                              <a:schemeClr val="accent5">
                                <a:lumMod val="75000"/>
                              </a:schemeClr>
                            </a:solidFill>
                            <a:latin typeface="Cambria Math" panose="02040503050406030204" pitchFamily="18" charset="0"/>
                          </a:rPr>
                        </m:ctrlPr>
                      </m:dPr>
                      <m:e>
                        <m:r>
                          <a:rPr lang="en-US" i="1" dirty="0" smtClean="0">
                            <a:solidFill>
                              <a:schemeClr val="accent5">
                                <a:lumMod val="75000"/>
                              </a:schemeClr>
                            </a:solidFill>
                            <a:latin typeface="Cambria Math" panose="02040503050406030204" pitchFamily="18" charset="0"/>
                          </a:rPr>
                          <m:t>1,0,…,0</m:t>
                        </m:r>
                      </m:e>
                    </m:d>
                  </m:oMath>
                </a14:m>
                <a:endParaRPr lang="en-US" i="1" dirty="0">
                  <a:latin typeface="Cambria Math" panose="02040503050406030204" pitchFamily="18" charset="0"/>
                </a:endParaRPr>
              </a:p>
              <a:p>
                <a:pPr lvl="1"/>
                <a14:m>
                  <m:oMath xmlns:m="http://schemas.openxmlformats.org/officeDocument/2006/math">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𝑐</m:t>
                        </m:r>
                      </m:e>
                      <m:sub>
                        <m:r>
                          <a:rPr lang="en-US" b="0" i="1" smtClean="0">
                            <a:solidFill>
                              <a:schemeClr val="accent5">
                                <a:lumMod val="75000"/>
                              </a:schemeClr>
                            </a:solidFill>
                            <a:latin typeface="Cambria Math" panose="02040503050406030204" pitchFamily="18" charset="0"/>
                          </a:rPr>
                          <m:t>𝑖</m:t>
                        </m:r>
                      </m:sub>
                    </m:sSub>
                    <m:nary>
                      <m:naryPr>
                        <m:chr m:val="∑"/>
                        <m:supHide m:val="on"/>
                        <m:ctrlPr>
                          <a:rPr lang="en-US" i="1" smtClean="0">
                            <a:solidFill>
                              <a:schemeClr val="accent5">
                                <a:lumMod val="75000"/>
                              </a:schemeClr>
                            </a:solidFill>
                            <a:latin typeface="Cambria Math" panose="02040503050406030204" pitchFamily="18" charset="0"/>
                          </a:rPr>
                        </m:ctrlPr>
                      </m:naryPr>
                      <m:sub>
                        <m:r>
                          <m:rPr>
                            <m:brk m:alnAt="7"/>
                          </m:rPr>
                          <a:rPr lang="en-US" b="0" i="1" smtClean="0">
                            <a:solidFill>
                              <a:schemeClr val="accent5">
                                <a:lumMod val="75000"/>
                              </a:schemeClr>
                            </a:solidFill>
                            <a:latin typeface="Cambria Math" panose="02040503050406030204" pitchFamily="18" charset="0"/>
                          </a:rPr>
                          <m:t>𝑖</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𝑆</m:t>
                        </m:r>
                      </m:sub>
                      <m:sup/>
                      <m:e>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𝑏</m:t>
                            </m:r>
                          </m:e>
                          <m:sub>
                            <m:r>
                              <a:rPr lang="en-US" b="0" i="1" smtClean="0">
                                <a:solidFill>
                                  <a:schemeClr val="accent5">
                                    <a:lumMod val="75000"/>
                                  </a:schemeClr>
                                </a:solidFill>
                                <a:latin typeface="Cambria Math" panose="02040503050406030204" pitchFamily="18" charset="0"/>
                              </a:rPr>
                              <m:t>𝑖</m:t>
                            </m:r>
                          </m:sub>
                        </m:sSub>
                      </m:e>
                    </m:nary>
                  </m:oMath>
                </a14:m>
                <a:r>
                  <a:rPr lang="en-US" i="1" dirty="0">
                    <a:latin typeface="Cambria Math" panose="02040503050406030204" pitchFamily="18" charset="0"/>
                  </a:rPr>
                  <a:t> </a:t>
                </a:r>
                <a:r>
                  <a:rPr lang="en-US" dirty="0">
                    <a:latin typeface="Cambria Math" panose="02040503050406030204" pitchFamily="18" charset="0"/>
                  </a:rPr>
                  <a:t>gives first entry of </a:t>
                </a:r>
                <a14:m>
                  <m:oMath xmlns:m="http://schemas.openxmlformats.org/officeDocument/2006/math">
                    <m:r>
                      <a:rPr lang="en-US" b="0" i="1" smtClean="0">
                        <a:solidFill>
                          <a:schemeClr val="accent5">
                            <a:lumMod val="75000"/>
                          </a:schemeClr>
                        </a:solidFill>
                        <a:latin typeface="Cambria Math" panose="02040503050406030204" pitchFamily="18" charset="0"/>
                      </a:rPr>
                      <m:t>𝑠</m:t>
                    </m:r>
                  </m:oMath>
                </a14:m>
                <a:r>
                  <a:rPr lang="en-US" dirty="0">
                    <a:latin typeface="Cambria Math" panose="02040503050406030204" pitchFamily="18" charset="0"/>
                  </a:rPr>
                  <a:t>. But with probability </a:t>
                </a:r>
                <a14:m>
                  <m:oMath xmlns:m="http://schemas.openxmlformats.org/officeDocument/2006/math">
                    <m:sSup>
                      <m:sSupPr>
                        <m:ctrlPr>
                          <a:rPr lang="en-US" b="0" i="1" smtClean="0">
                            <a:solidFill>
                              <a:schemeClr val="accent5">
                                <a:lumMod val="75000"/>
                              </a:schemeClr>
                            </a:solidFill>
                            <a:latin typeface="Cambria Math" panose="02040503050406030204" pitchFamily="18" charset="0"/>
                          </a:rPr>
                        </m:ctrlPr>
                      </m:sSupPr>
                      <m:e>
                        <m:f>
                          <m:fPr>
                            <m:ctrlPr>
                              <a:rPr lang="en-US" b="0" i="1" smtClean="0">
                                <a:solidFill>
                                  <a:schemeClr val="accent5">
                                    <a:lumMod val="75000"/>
                                  </a:schemeClr>
                                </a:solidFill>
                                <a:latin typeface="Cambria Math" panose="02040503050406030204" pitchFamily="18" charset="0"/>
                              </a:rPr>
                            </m:ctrlPr>
                          </m:fPr>
                          <m:num>
                            <m:r>
                              <a:rPr lang="en-US" b="0" i="1" smtClean="0">
                                <a:solidFill>
                                  <a:schemeClr val="accent5">
                                    <a:lumMod val="75000"/>
                                  </a:schemeClr>
                                </a:solidFill>
                                <a:latin typeface="Cambria Math" panose="02040503050406030204" pitchFamily="18" charset="0"/>
                              </a:rPr>
                              <m:t>1</m:t>
                            </m:r>
                          </m:num>
                          <m:den>
                            <m:r>
                              <a:rPr lang="en-US" b="0" i="1" smtClean="0">
                                <a:solidFill>
                                  <a:schemeClr val="accent5">
                                    <a:lumMod val="75000"/>
                                  </a:schemeClr>
                                </a:solidFill>
                                <a:latin typeface="Cambria Math" panose="02040503050406030204" pitchFamily="18" charset="0"/>
                              </a:rPr>
                              <m:t>𝑞</m:t>
                            </m:r>
                          </m:den>
                        </m:f>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𝑞</m:t>
                        </m:r>
                      </m:e>
                      <m:sup>
                        <m:r>
                          <a:rPr lang="en-US" b="0" i="1" smtClean="0">
                            <a:solidFill>
                              <a:schemeClr val="accent5">
                                <a:lumMod val="75000"/>
                              </a:schemeClr>
                            </a:solidFill>
                            <a:latin typeface="Cambria Math" panose="02040503050406030204" pitchFamily="18" charset="0"/>
                          </a:rPr>
                          <m:t>−</m:t>
                        </m:r>
                        <m:r>
                          <m:rPr>
                            <m:sty m:val="p"/>
                          </m:rPr>
                          <a:rPr lang="en-US" b="0" i="0" smtClean="0">
                            <a:solidFill>
                              <a:schemeClr val="accent5">
                                <a:lumMod val="75000"/>
                              </a:schemeClr>
                            </a:solidFill>
                            <a:latin typeface="Cambria Math" panose="02040503050406030204" pitchFamily="18" charset="0"/>
                          </a:rPr>
                          <m:t>Θ</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𝑛</m:t>
                        </m:r>
                        <m:r>
                          <a:rPr lang="en-US" b="0" i="1" smtClean="0">
                            <a:solidFill>
                              <a:schemeClr val="accent5">
                                <a:lumMod val="75000"/>
                              </a:schemeClr>
                            </a:solidFill>
                            <a:latin typeface="Cambria Math" panose="02040503050406030204" pitchFamily="18" charset="0"/>
                          </a:rPr>
                          <m:t>)</m:t>
                        </m:r>
                      </m:sup>
                    </m:sSup>
                  </m:oMath>
                </a14:m>
                <a:endParaRPr lang="en-US" dirty="0">
                  <a:latin typeface="Cambria Math" panose="02040503050406030204" pitchFamily="18" charset="0"/>
                </a:endParaRPr>
              </a:p>
              <a:p>
                <a:pPr lvl="1"/>
                <a:r>
                  <a:rPr lang="en-US" dirty="0">
                    <a:latin typeface="Cambria Math" panose="02040503050406030204" pitchFamily="18" charset="0"/>
                  </a:rPr>
                  <a:t>Repeat </a:t>
                </a:r>
                <a14:m>
                  <m:oMath xmlns:m="http://schemas.openxmlformats.org/officeDocument/2006/math">
                    <m:sSup>
                      <m:sSupPr>
                        <m:ctrlPr>
                          <a:rPr lang="en-US" b="0" i="1" smtClean="0">
                            <a:solidFill>
                              <a:schemeClr val="accent5">
                                <a:lumMod val="75000"/>
                              </a:schemeClr>
                            </a:solidFill>
                            <a:latin typeface="Cambria Math" panose="02040503050406030204" pitchFamily="18" charset="0"/>
                          </a:rPr>
                        </m:ctrlPr>
                      </m:sSupPr>
                      <m:e>
                        <m:r>
                          <a:rPr lang="en-US" b="0" i="1" smtClean="0">
                            <a:solidFill>
                              <a:schemeClr val="accent5">
                                <a:lumMod val="75000"/>
                              </a:schemeClr>
                            </a:solidFill>
                            <a:latin typeface="Cambria Math" panose="02040503050406030204" pitchFamily="18" charset="0"/>
                          </a:rPr>
                          <m:t>𝑞</m:t>
                        </m:r>
                      </m:e>
                      <m:sup>
                        <m:r>
                          <m:rPr>
                            <m:sty m:val="p"/>
                          </m:rPr>
                          <a:rPr lang="en-US" b="0" i="0" smtClean="0">
                            <a:solidFill>
                              <a:schemeClr val="accent5">
                                <a:lumMod val="75000"/>
                              </a:schemeClr>
                            </a:solidFill>
                            <a:latin typeface="Cambria Math" panose="02040503050406030204" pitchFamily="18" charset="0"/>
                          </a:rPr>
                          <m:t>Θ</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𝑛</m:t>
                        </m:r>
                        <m:r>
                          <a:rPr lang="en-US" b="0" i="1" smtClean="0">
                            <a:solidFill>
                              <a:schemeClr val="accent5">
                                <a:lumMod val="75000"/>
                              </a:schemeClr>
                            </a:solidFill>
                            <a:latin typeface="Cambria Math" panose="02040503050406030204" pitchFamily="18" charset="0"/>
                          </a:rPr>
                          <m:t>)</m:t>
                        </m:r>
                      </m:sup>
                    </m:sSup>
                  </m:oMath>
                </a14:m>
                <a:r>
                  <a:rPr lang="en-US" dirty="0">
                    <a:latin typeface="Cambria Math" panose="02040503050406030204" pitchFamily="18" charset="0"/>
                  </a:rPr>
                  <a:t> times for high confidence</a:t>
                </a:r>
              </a:p>
              <a:p>
                <a:r>
                  <a:rPr lang="en-US" dirty="0"/>
                  <a:t>Arora-Ge Algorithm</a:t>
                </a:r>
              </a:p>
              <a:p>
                <a:pPr lvl="1"/>
                <a:r>
                  <a:rPr lang="en-US" dirty="0"/>
                  <a:t>An efficient time algorithm when noise is sufficiently concentrated.</a:t>
                </a:r>
              </a:p>
              <a:p>
                <a:pPr lvl="1"/>
                <a:r>
                  <a:rPr lang="en-US" dirty="0"/>
                  <a:t>When </a:t>
                </a:r>
                <a14:m>
                  <m:oMath xmlns:m="http://schemas.openxmlformats.org/officeDocument/2006/math">
                    <m:d>
                      <m:dPr>
                        <m:begChr m:val="‖"/>
                        <m:endChr m:val="‖"/>
                        <m:ctrlPr>
                          <a:rPr lang="en-US" b="0" i="1" smtClean="0">
                            <a:solidFill>
                              <a:schemeClr val="accent5">
                                <a:lumMod val="75000"/>
                              </a:schemeClr>
                            </a:solidFill>
                            <a:latin typeface="Cambria Math" panose="02040503050406030204" pitchFamily="18" charset="0"/>
                          </a:rPr>
                        </m:ctrlPr>
                      </m:dPr>
                      <m:e>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𝑒</m:t>
                            </m:r>
                          </m:e>
                          <m:sub>
                            <m:r>
                              <a:rPr lang="en-US" b="0" i="1" smtClean="0">
                                <a:solidFill>
                                  <a:schemeClr val="accent5">
                                    <a:lumMod val="75000"/>
                                  </a:schemeClr>
                                </a:solidFill>
                                <a:latin typeface="Cambria Math" panose="02040503050406030204" pitchFamily="18" charset="0"/>
                              </a:rPr>
                              <m:t>𝑖</m:t>
                            </m:r>
                          </m:sub>
                        </m:sSub>
                      </m:e>
                    </m:d>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𝑑</m:t>
                    </m:r>
                    <m:r>
                      <a:rPr lang="en-US" b="0" i="0" smtClean="0">
                        <a:solidFill>
                          <a:schemeClr val="accent5">
                            <a:lumMod val="75000"/>
                          </a:schemeClr>
                        </a:solidFill>
                        <a:latin typeface="Cambria Math" panose="02040503050406030204" pitchFamily="18" charset="0"/>
                      </a:rPr>
                      <m:t> </m:t>
                    </m:r>
                    <m:r>
                      <m:rPr>
                        <m:sty m:val="p"/>
                      </m:rPr>
                      <a:rPr lang="en-US" b="0" i="0" smtClean="0">
                        <a:latin typeface="Cambria Math" panose="02040503050406030204" pitchFamily="18" charset="0"/>
                      </a:rPr>
                      <m:t>and</m:t>
                    </m:r>
                  </m:oMath>
                </a14:m>
                <a:r>
                  <a:rPr lang="en-US" dirty="0">
                    <a:solidFill>
                      <a:schemeClr val="accent5">
                        <a:lumMod val="75000"/>
                      </a:schemeClr>
                    </a:solidFill>
                  </a:rPr>
                  <a:t> </a:t>
                </a:r>
                <a14:m>
                  <m:oMath xmlns:m="http://schemas.openxmlformats.org/officeDocument/2006/math">
                    <m:r>
                      <a:rPr lang="en-US" b="0" i="1" smtClean="0">
                        <a:solidFill>
                          <a:schemeClr val="accent5">
                            <a:lumMod val="75000"/>
                          </a:schemeClr>
                        </a:solidFill>
                        <a:latin typeface="Cambria Math" panose="02040503050406030204" pitchFamily="18" charset="0"/>
                      </a:rPr>
                      <m:t>𝑞</m:t>
                    </m:r>
                  </m:oMath>
                </a14:m>
                <a:r>
                  <a:rPr lang="en-US" dirty="0">
                    <a:solidFill>
                      <a:schemeClr val="accent5">
                        <a:lumMod val="75000"/>
                      </a:schemeClr>
                    </a:solidFill>
                  </a:rPr>
                  <a:t> </a:t>
                </a:r>
                <a:r>
                  <a:rPr lang="en-US" dirty="0"/>
                  <a:t>is sufficiently large, it takes </a:t>
                </a:r>
                <a14:m>
                  <m:oMath xmlns:m="http://schemas.openxmlformats.org/officeDocument/2006/math">
                    <m:func>
                      <m:funcPr>
                        <m:ctrlPr>
                          <a:rPr lang="en-US" b="0" i="1" smtClean="0">
                            <a:solidFill>
                              <a:schemeClr val="accent5">
                                <a:lumMod val="75000"/>
                              </a:schemeClr>
                            </a:solidFill>
                            <a:latin typeface="Cambria Math" panose="02040503050406030204" pitchFamily="18" charset="0"/>
                          </a:rPr>
                        </m:ctrlPr>
                      </m:funcPr>
                      <m:fName>
                        <m:r>
                          <m:rPr>
                            <m:sty m:val="p"/>
                          </m:rPr>
                          <a:rPr lang="en-US" b="0" i="0" smtClean="0">
                            <a:solidFill>
                              <a:schemeClr val="accent5">
                                <a:lumMod val="75000"/>
                              </a:schemeClr>
                            </a:solidFill>
                            <a:latin typeface="Cambria Math" panose="02040503050406030204" pitchFamily="18" charset="0"/>
                          </a:rPr>
                          <m:t>exp</m:t>
                        </m:r>
                      </m:fName>
                      <m:e>
                        <m:d>
                          <m:dPr>
                            <m:ctrlPr>
                              <a:rPr lang="en-US" b="0" i="1" smtClean="0">
                                <a:solidFill>
                                  <a:schemeClr val="accent5">
                                    <a:lumMod val="75000"/>
                                  </a:schemeClr>
                                </a:solidFill>
                                <a:latin typeface="Cambria Math" panose="02040503050406030204" pitchFamily="18" charset="0"/>
                              </a:rPr>
                            </m:ctrlPr>
                          </m:dPr>
                          <m:e>
                            <m:acc>
                              <m:accPr>
                                <m:chr m:val="̃"/>
                                <m:ctrlPr>
                                  <a:rPr lang="en-US" i="1">
                                    <a:solidFill>
                                      <a:schemeClr val="accent5">
                                        <a:lumMod val="75000"/>
                                      </a:schemeClr>
                                    </a:solidFill>
                                    <a:latin typeface="Cambria Math" panose="02040503050406030204" pitchFamily="18" charset="0"/>
                                  </a:rPr>
                                </m:ctrlPr>
                              </m:accPr>
                              <m:e>
                                <m:r>
                                  <a:rPr lang="en-US" i="1">
                                    <a:solidFill>
                                      <a:schemeClr val="accent5">
                                        <a:lumMod val="75000"/>
                                      </a:schemeClr>
                                    </a:solidFill>
                                    <a:latin typeface="Cambria Math" panose="02040503050406030204" pitchFamily="18" charset="0"/>
                                  </a:rPr>
                                  <m:t>𝑂</m:t>
                                </m:r>
                              </m:e>
                            </m:acc>
                            <m:d>
                              <m:dPr>
                                <m:ctrlPr>
                                  <a:rPr lang="en-US" i="1" dirty="0">
                                    <a:solidFill>
                                      <a:schemeClr val="accent5">
                                        <a:lumMod val="75000"/>
                                      </a:schemeClr>
                                    </a:solidFill>
                                    <a:latin typeface="Cambria Math" panose="02040503050406030204" pitchFamily="18" charset="0"/>
                                  </a:rPr>
                                </m:ctrlPr>
                              </m:dPr>
                              <m:e>
                                <m:sSup>
                                  <m:sSupPr>
                                    <m:ctrlPr>
                                      <a:rPr lang="en-US" i="1" dirty="0">
                                        <a:solidFill>
                                          <a:schemeClr val="accent5">
                                            <a:lumMod val="75000"/>
                                          </a:schemeClr>
                                        </a:solidFill>
                                        <a:latin typeface="Cambria Math" panose="02040503050406030204" pitchFamily="18" charset="0"/>
                                      </a:rPr>
                                    </m:ctrlPr>
                                  </m:sSupPr>
                                  <m:e>
                                    <m:r>
                                      <a:rPr lang="en-US" i="1" dirty="0">
                                        <a:solidFill>
                                          <a:schemeClr val="accent5">
                                            <a:lumMod val="75000"/>
                                          </a:schemeClr>
                                        </a:solidFill>
                                        <a:latin typeface="Cambria Math" panose="02040503050406030204" pitchFamily="18" charset="0"/>
                                      </a:rPr>
                                      <m:t>𝑑</m:t>
                                    </m:r>
                                  </m:e>
                                  <m:sup>
                                    <m:r>
                                      <a:rPr lang="en-US" i="1" dirty="0">
                                        <a:solidFill>
                                          <a:schemeClr val="accent5">
                                            <a:lumMod val="75000"/>
                                          </a:schemeClr>
                                        </a:solidFill>
                                        <a:latin typeface="Cambria Math" panose="02040503050406030204" pitchFamily="18" charset="0"/>
                                      </a:rPr>
                                      <m:t>2</m:t>
                                    </m:r>
                                  </m:sup>
                                </m:sSup>
                              </m:e>
                            </m:d>
                          </m:e>
                        </m:d>
                      </m:e>
                    </m:func>
                  </m:oMath>
                </a14:m>
                <a:r>
                  <a:rPr lang="en-US" dirty="0"/>
                  <a:t> time</a:t>
                </a:r>
              </a:p>
            </p:txBody>
          </p:sp>
        </mc:Choice>
        <mc:Fallback xmlns="">
          <p:sp>
            <p:nvSpPr>
              <p:cNvPr id="3" name="Content Placeholder 2">
                <a:extLst>
                  <a:ext uri="{FF2B5EF4-FFF2-40B4-BE49-F238E27FC236}">
                    <a16:creationId xmlns:a16="http://schemas.microsoft.com/office/drawing/2014/main" id="{FEF459FA-DEAD-10BD-AC0B-9D95CDFFB90B}"/>
                  </a:ext>
                </a:extLst>
              </p:cNvPr>
              <p:cNvSpPr>
                <a:spLocks noGrp="1" noRot="1" noChangeAspect="1" noMove="1" noResize="1" noEditPoints="1" noAdjustHandles="1" noChangeArrowheads="1" noChangeShapeType="1" noTextEdit="1"/>
              </p:cNvSpPr>
              <p:nvPr>
                <p:ph idx="1"/>
              </p:nvPr>
            </p:nvSpPr>
            <p:spPr>
              <a:xfrm>
                <a:off x="838200" y="1825625"/>
                <a:ext cx="10515600" cy="3397539"/>
              </a:xfrm>
              <a:blipFill>
                <a:blip r:embed="rId3"/>
                <a:stretch>
                  <a:fillRect l="-1086" t="-5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88C8A0-6FAA-8B36-98A8-3B94FFD1E2FD}"/>
                  </a:ext>
                </a:extLst>
              </p:cNvPr>
              <p:cNvSpPr txBox="1"/>
              <p:nvPr/>
            </p:nvSpPr>
            <p:spPr>
              <a:xfrm>
                <a:off x="6769769" y="1066578"/>
                <a:ext cx="5117432" cy="9708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𝑎</m:t>
                          </m:r>
                        </m:e>
                        <m:sub>
                          <m:r>
                            <a:rPr lang="en-US" i="1">
                              <a:solidFill>
                                <a:schemeClr val="accent5">
                                  <a:lumMod val="75000"/>
                                </a:schemeClr>
                              </a:solidFill>
                              <a:latin typeface="Cambria Math" panose="02040503050406030204" pitchFamily="18" charset="0"/>
                            </a:rPr>
                            <m:t>𝑖</m:t>
                          </m:r>
                        </m:sub>
                      </m:sSub>
                      <m:r>
                        <a:rPr lang="en-IN" i="1">
                          <a:solidFill>
                            <a:schemeClr val="accent5">
                              <a:lumMod val="75000"/>
                            </a:schemeClr>
                          </a:solidFill>
                          <a:latin typeface="Cambria Math" panose="02040503050406030204" pitchFamily="18" charset="0"/>
                        </a:rPr>
                        <m:t>←</m:t>
                      </m:r>
                      <m:sSubSup>
                        <m:sSubSupPr>
                          <m:ctrlPr>
                            <a:rPr lang="en-IN" i="1">
                              <a:solidFill>
                                <a:schemeClr val="accent5">
                                  <a:lumMod val="75000"/>
                                </a:schemeClr>
                              </a:solidFill>
                              <a:latin typeface="Cambria Math" panose="02040503050406030204" pitchFamily="18" charset="0"/>
                            </a:rPr>
                          </m:ctrlPr>
                        </m:sSubSupPr>
                        <m:e>
                          <m:r>
                            <a:rPr lang="en-IN" i="1">
                              <a:solidFill>
                                <a:schemeClr val="accent5">
                                  <a:lumMod val="75000"/>
                                </a:schemeClr>
                              </a:solidFill>
                              <a:latin typeface="Cambria Math" panose="02040503050406030204" pitchFamily="18" charset="0"/>
                            </a:rPr>
                            <m:t>ℤ</m:t>
                          </m:r>
                        </m:e>
                        <m:sub>
                          <m:r>
                            <a:rPr lang="en-US" i="1">
                              <a:solidFill>
                                <a:schemeClr val="accent5">
                                  <a:lumMod val="75000"/>
                                </a:schemeClr>
                              </a:solidFill>
                              <a:latin typeface="Cambria Math" panose="02040503050406030204" pitchFamily="18" charset="0"/>
                            </a:rPr>
                            <m:t>𝑞</m:t>
                          </m:r>
                        </m:sub>
                        <m:sup>
                          <m:r>
                            <a:rPr lang="en-IN" i="1">
                              <a:solidFill>
                                <a:schemeClr val="accent5">
                                  <a:lumMod val="75000"/>
                                </a:schemeClr>
                              </a:solidFill>
                              <a:latin typeface="Cambria Math" panose="02040503050406030204" pitchFamily="18" charset="0"/>
                            </a:rPr>
                            <m:t>𝑛</m:t>
                          </m:r>
                        </m:sup>
                      </m:sSubSup>
                      <m:r>
                        <a:rPr lang="en-IN" i="1">
                          <a:solidFill>
                            <a:schemeClr val="accent5">
                              <a:lumMod val="75000"/>
                            </a:schemeClr>
                          </a:solidFill>
                          <a:latin typeface="Cambria Math" panose="02040503050406030204" pitchFamily="18" charset="0"/>
                        </a:rPr>
                        <m:t>        </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𝑏</m:t>
                          </m:r>
                        </m:e>
                        <m:sub>
                          <m:r>
                            <a:rPr lang="en-US" i="1">
                              <a:solidFill>
                                <a:schemeClr val="accent5">
                                  <a:lumMod val="75000"/>
                                </a:schemeClr>
                              </a:solidFill>
                              <a:latin typeface="Cambria Math" panose="02040503050406030204" pitchFamily="18" charset="0"/>
                            </a:rPr>
                            <m:t>𝑖</m:t>
                          </m:r>
                        </m:sub>
                      </m:sSub>
                      <m:r>
                        <a:rPr lang="en-IN" i="1">
                          <a:solidFill>
                            <a:schemeClr val="accent5">
                              <a:lumMod val="75000"/>
                            </a:schemeClr>
                          </a:solidFill>
                          <a:latin typeface="Cambria Math" panose="02040503050406030204" pitchFamily="18" charset="0"/>
                        </a:rPr>
                        <m:t>=</m:t>
                      </m:r>
                      <m:d>
                        <m:dPr>
                          <m:begChr m:val="⟨"/>
                          <m:endChr m:val="⟩"/>
                          <m:ctrlPr>
                            <a:rPr lang="en-IN" i="1">
                              <a:solidFill>
                                <a:schemeClr val="accent5">
                                  <a:lumMod val="75000"/>
                                </a:schemeClr>
                              </a:solidFill>
                              <a:latin typeface="Cambria Math" panose="02040503050406030204" pitchFamily="18" charset="0"/>
                            </a:rPr>
                          </m:ctrlPr>
                        </m:dPr>
                        <m:e>
                          <m:r>
                            <a:rPr lang="en-IN" i="1">
                              <a:solidFill>
                                <a:schemeClr val="accent5">
                                  <a:lumMod val="75000"/>
                                </a:schemeClr>
                              </a:solidFill>
                              <a:latin typeface="Cambria Math" panose="02040503050406030204" pitchFamily="18" charset="0"/>
                            </a:rPr>
                            <m:t>𝑠</m:t>
                          </m:r>
                          <m:r>
                            <a:rPr lang="en-IN" i="1">
                              <a:solidFill>
                                <a:schemeClr val="accent5">
                                  <a:lumMod val="75000"/>
                                </a:schemeClr>
                              </a:solidFill>
                              <a:latin typeface="Cambria Math" panose="02040503050406030204" pitchFamily="18" charset="0"/>
                            </a:rPr>
                            <m:t>,</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𝑎</m:t>
                              </m:r>
                            </m:e>
                            <m:sub>
                              <m:r>
                                <a:rPr lang="en-US" i="1">
                                  <a:solidFill>
                                    <a:schemeClr val="accent5">
                                      <a:lumMod val="75000"/>
                                    </a:schemeClr>
                                  </a:solidFill>
                                  <a:latin typeface="Cambria Math" panose="02040503050406030204" pitchFamily="18" charset="0"/>
                                </a:rPr>
                                <m:t>𝑖</m:t>
                              </m:r>
                            </m:sub>
                          </m:sSub>
                        </m:e>
                      </m:d>
                      <m:r>
                        <a:rPr lang="en-IN" i="1">
                          <a:solidFill>
                            <a:schemeClr val="accent5">
                              <a:lumMod val="75000"/>
                            </a:schemeClr>
                          </a:solidFill>
                          <a:latin typeface="Cambria Math" panose="02040503050406030204" pitchFamily="18" charset="0"/>
                        </a:rPr>
                        <m:t>+</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𝑒</m:t>
                          </m:r>
                        </m:e>
                        <m:sub>
                          <m:r>
                            <a:rPr lang="en-US" i="1">
                              <a:solidFill>
                                <a:schemeClr val="accent5">
                                  <a:lumMod val="75000"/>
                                </a:schemeClr>
                              </a:solidFill>
                              <a:latin typeface="Cambria Math" panose="02040503050406030204" pitchFamily="18" charset="0"/>
                            </a:rPr>
                            <m:t>𝑖</m:t>
                          </m:r>
                        </m:sub>
                      </m:sSub>
                      <m:r>
                        <a:rPr lang="en-IN" i="1">
                          <a:solidFill>
                            <a:schemeClr val="accent5">
                              <a:lumMod val="75000"/>
                            </a:schemeClr>
                          </a:solidFill>
                          <a:latin typeface="Cambria Math" panose="02040503050406030204" pitchFamily="18" charset="0"/>
                        </a:rPr>
                        <m:t>∈</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ℤ</m:t>
                          </m:r>
                        </m:e>
                        <m:sub>
                          <m:r>
                            <a:rPr lang="en-IN" i="1">
                              <a:solidFill>
                                <a:schemeClr val="accent5">
                                  <a:lumMod val="75000"/>
                                </a:schemeClr>
                              </a:solidFill>
                              <a:latin typeface="Cambria Math" panose="02040503050406030204" pitchFamily="18" charset="0"/>
                            </a:rPr>
                            <m:t>𝑞</m:t>
                          </m:r>
                        </m:sub>
                      </m:sSub>
                      <m:r>
                        <a:rPr lang="en-IN" i="1">
                          <a:solidFill>
                            <a:schemeClr val="accent5">
                              <a:lumMod val="75000"/>
                            </a:schemeClr>
                          </a:solidFill>
                          <a:latin typeface="Cambria Math" panose="02040503050406030204" pitchFamily="18" charset="0"/>
                        </a:rPr>
                        <m:t> </m:t>
                      </m:r>
                    </m:oMath>
                  </m:oMathPara>
                </a14:m>
                <a:endParaRPr lang="en-US" i="1" dirty="0">
                  <a:solidFill>
                    <a:schemeClr val="accent5">
                      <a:lumMod val="75000"/>
                    </a:schemeClr>
                  </a:solidFill>
                  <a:latin typeface="Cambria Math" panose="02040503050406030204" pitchFamily="18" charset="0"/>
                </a:endParaRPr>
              </a:p>
              <a:p>
                <a14:m>
                  <m:oMath xmlns:m="http://schemas.openxmlformats.org/officeDocument/2006/math">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𝑒</m:t>
                        </m:r>
                      </m:e>
                      <m:sub>
                        <m:r>
                          <a:rPr lang="en-US" b="0" i="1" smtClean="0">
                            <a:solidFill>
                              <a:schemeClr val="accent5">
                                <a:lumMod val="75000"/>
                              </a:schemeClr>
                            </a:solidFill>
                            <a:latin typeface="Cambria Math" panose="02040503050406030204" pitchFamily="18" charset="0"/>
                          </a:rPr>
                          <m:t>𝑖</m:t>
                        </m:r>
                      </m:sub>
                    </m:sSub>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𝜒</m:t>
                    </m:r>
                  </m:oMath>
                </a14:m>
                <a:r>
                  <a:rPr lang="en-US" dirty="0">
                    <a:solidFill>
                      <a:schemeClr val="accent5">
                        <a:lumMod val="75000"/>
                      </a:schemeClr>
                    </a:solidFill>
                  </a:rPr>
                  <a:t> </a:t>
                </a:r>
                <a:r>
                  <a:rPr lang="en-US" dirty="0"/>
                  <a:t>(</a:t>
                </a:r>
                <a:r>
                  <a:rPr lang="en-IN" dirty="0"/>
                  <a:t>Discrete Gaussian with variance </a:t>
                </a:r>
                <a14:m>
                  <m:oMath xmlns:m="http://schemas.openxmlformats.org/officeDocument/2006/math">
                    <m:r>
                      <a:rPr lang="en-US" i="1" smtClean="0">
                        <a:solidFill>
                          <a:schemeClr val="accent5">
                            <a:lumMod val="75000"/>
                          </a:schemeClr>
                        </a:solidFill>
                        <a:latin typeface="Cambria Math" panose="02040503050406030204" pitchFamily="18" charset="0"/>
                      </a:rPr>
                      <m:t>𝛼</m:t>
                    </m:r>
                    <m:r>
                      <a:rPr lang="en-US" i="1" smtClean="0">
                        <a:solidFill>
                          <a:schemeClr val="accent5">
                            <a:lumMod val="75000"/>
                          </a:schemeClr>
                        </a:solidFill>
                        <a:latin typeface="Cambria Math" panose="02040503050406030204" pitchFamily="18" charset="0"/>
                      </a:rPr>
                      <m:t>𝑞</m:t>
                    </m:r>
                    <m:r>
                      <a:rPr lang="en-US" i="1" smtClean="0">
                        <a:solidFill>
                          <a:schemeClr val="accent5">
                            <a:lumMod val="75000"/>
                          </a:schemeClr>
                        </a:solidFill>
                        <a:latin typeface="Cambria Math" panose="02040503050406030204" pitchFamily="18" charset="0"/>
                      </a:rPr>
                      <m:t>/</m:t>
                    </m:r>
                    <m:rad>
                      <m:radPr>
                        <m:degHide m:val="on"/>
                        <m:ctrlPr>
                          <a:rPr lang="en-US" i="1">
                            <a:solidFill>
                              <a:schemeClr val="accent5">
                                <a:lumMod val="75000"/>
                              </a:schemeClr>
                            </a:solidFill>
                            <a:latin typeface="Cambria Math" panose="02040503050406030204" pitchFamily="18" charset="0"/>
                          </a:rPr>
                        </m:ctrlPr>
                      </m:radPr>
                      <m:deg/>
                      <m:e>
                        <m:r>
                          <a:rPr lang="en-US" i="1">
                            <a:solidFill>
                              <a:schemeClr val="accent5">
                                <a:lumMod val="75000"/>
                              </a:schemeClr>
                            </a:solidFill>
                            <a:latin typeface="Cambria Math" panose="02040503050406030204" pitchFamily="18" charset="0"/>
                          </a:rPr>
                          <m:t>2</m:t>
                        </m:r>
                        <m:r>
                          <a:rPr lang="en-US" i="1">
                            <a:solidFill>
                              <a:schemeClr val="accent5">
                                <a:lumMod val="75000"/>
                              </a:schemeClr>
                            </a:solidFill>
                            <a:latin typeface="Cambria Math" panose="02040503050406030204" pitchFamily="18" charset="0"/>
                          </a:rPr>
                          <m:t>𝜋</m:t>
                        </m:r>
                      </m:e>
                    </m:rad>
                  </m:oMath>
                </a14:m>
                <a:r>
                  <a:rPr lang="en-US" dirty="0"/>
                  <a:t>)</a:t>
                </a:r>
              </a:p>
              <a:p>
                <a:endParaRPr lang="en-US" dirty="0"/>
              </a:p>
            </p:txBody>
          </p:sp>
        </mc:Choice>
        <mc:Fallback xmlns="">
          <p:sp>
            <p:nvSpPr>
              <p:cNvPr id="4" name="TextBox 3">
                <a:extLst>
                  <a:ext uri="{FF2B5EF4-FFF2-40B4-BE49-F238E27FC236}">
                    <a16:creationId xmlns:a16="http://schemas.microsoft.com/office/drawing/2014/main" id="{9F88C8A0-6FAA-8B36-98A8-3B94FFD1E2FD}"/>
                  </a:ext>
                </a:extLst>
              </p:cNvPr>
              <p:cNvSpPr txBox="1">
                <a:spLocks noRot="1" noChangeAspect="1" noMove="1" noResize="1" noEditPoints="1" noAdjustHandles="1" noChangeArrowheads="1" noChangeShapeType="1" noTextEdit="1"/>
              </p:cNvSpPr>
              <p:nvPr/>
            </p:nvSpPr>
            <p:spPr>
              <a:xfrm>
                <a:off x="6769769" y="1066578"/>
                <a:ext cx="5117432" cy="9708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56CFE3-EC61-66B3-7A74-B4F84755EA2B}"/>
                  </a:ext>
                </a:extLst>
              </p:cNvPr>
              <p:cNvSpPr txBox="1"/>
              <p:nvPr/>
            </p:nvSpPr>
            <p:spPr>
              <a:xfrm>
                <a:off x="838199" y="5496789"/>
                <a:ext cx="9990222" cy="835100"/>
              </a:xfrm>
              <a:prstGeom prst="rect">
                <a:avLst/>
              </a:prstGeom>
              <a:noFill/>
            </p:spPr>
            <p:txBody>
              <a:bodyPr wrap="square" rtlCol="0">
                <a:spAutoFit/>
              </a:bodyPr>
              <a:lstStyle/>
              <a:p>
                <a:r>
                  <a:rPr lang="en-US" sz="2400" dirty="0">
                    <a:solidFill>
                      <a:schemeClr val="accent2"/>
                    </a:solidFill>
                  </a:rPr>
                  <a:t>No known sub-exponential or arbitrary small exponential time algorithm for </a:t>
                </a:r>
                <a14:m>
                  <m:oMath xmlns:m="http://schemas.openxmlformats.org/officeDocument/2006/math">
                    <m:r>
                      <a:rPr lang="en-US" sz="2400" b="0" i="1" smtClean="0">
                        <a:solidFill>
                          <a:schemeClr val="accent2"/>
                        </a:solidFill>
                        <a:latin typeface="Cambria Math" panose="02040503050406030204" pitchFamily="18" charset="0"/>
                      </a:rPr>
                      <m:t>𝛼</m:t>
                    </m:r>
                    <m:r>
                      <a:rPr lang="en-US" sz="2400" b="0" i="1" smtClean="0">
                        <a:solidFill>
                          <a:schemeClr val="accent2"/>
                        </a:solidFill>
                        <a:latin typeface="Cambria Math" panose="02040503050406030204" pitchFamily="18" charset="0"/>
                      </a:rPr>
                      <m:t>𝑞</m:t>
                    </m:r>
                    <m:r>
                      <a:rPr lang="en-US" sz="2400" b="0" i="1" smtClean="0">
                        <a:solidFill>
                          <a:schemeClr val="accent2"/>
                        </a:solidFill>
                        <a:latin typeface="Cambria Math" panose="02040503050406030204" pitchFamily="18" charset="0"/>
                      </a:rPr>
                      <m:t>=</m:t>
                    </m:r>
                    <m:r>
                      <m:rPr>
                        <m:sty m:val="p"/>
                      </m:rPr>
                      <a:rPr lang="en-US" sz="2400" b="0" i="0" smtClean="0">
                        <a:solidFill>
                          <a:schemeClr val="accent2"/>
                        </a:solidFill>
                        <a:latin typeface="Cambria Math" panose="02040503050406030204" pitchFamily="18" charset="0"/>
                      </a:rPr>
                      <m:t>Ω</m:t>
                    </m:r>
                    <m:d>
                      <m:dPr>
                        <m:ctrlPr>
                          <a:rPr lang="en-US" sz="2400" b="0" i="1" smtClean="0">
                            <a:solidFill>
                              <a:schemeClr val="accent2"/>
                            </a:solidFill>
                            <a:latin typeface="Cambria Math" panose="02040503050406030204" pitchFamily="18" charset="0"/>
                          </a:rPr>
                        </m:ctrlPr>
                      </m:dPr>
                      <m:e>
                        <m:rad>
                          <m:radPr>
                            <m:degHide m:val="on"/>
                            <m:ctrlPr>
                              <a:rPr lang="en-US" sz="2400" b="0" i="1" smtClean="0">
                                <a:solidFill>
                                  <a:schemeClr val="accent2"/>
                                </a:solidFill>
                                <a:latin typeface="Cambria Math" panose="02040503050406030204" pitchFamily="18" charset="0"/>
                              </a:rPr>
                            </m:ctrlPr>
                          </m:radPr>
                          <m:deg/>
                          <m:e>
                            <m:r>
                              <a:rPr lang="en-US" sz="2400" b="0" i="1" smtClean="0">
                                <a:solidFill>
                                  <a:schemeClr val="accent2"/>
                                </a:solidFill>
                                <a:latin typeface="Cambria Math" panose="02040503050406030204" pitchFamily="18" charset="0"/>
                              </a:rPr>
                              <m:t>𝑛</m:t>
                            </m:r>
                          </m:e>
                        </m:rad>
                      </m:e>
                    </m:d>
                  </m:oMath>
                </a14:m>
                <a:endParaRPr lang="en-US" sz="2400" dirty="0">
                  <a:solidFill>
                    <a:schemeClr val="accent2"/>
                  </a:solidFill>
                </a:endParaRPr>
              </a:p>
            </p:txBody>
          </p:sp>
        </mc:Choice>
        <mc:Fallback xmlns="">
          <p:sp>
            <p:nvSpPr>
              <p:cNvPr id="5" name="TextBox 4">
                <a:extLst>
                  <a:ext uri="{FF2B5EF4-FFF2-40B4-BE49-F238E27FC236}">
                    <a16:creationId xmlns:a16="http://schemas.microsoft.com/office/drawing/2014/main" id="{AA56CFE3-EC61-66B3-7A74-B4F84755EA2B}"/>
                  </a:ext>
                </a:extLst>
              </p:cNvPr>
              <p:cNvSpPr txBox="1">
                <a:spLocks noRot="1" noChangeAspect="1" noMove="1" noResize="1" noEditPoints="1" noAdjustHandles="1" noChangeArrowheads="1" noChangeShapeType="1" noTextEdit="1"/>
              </p:cNvSpPr>
              <p:nvPr/>
            </p:nvSpPr>
            <p:spPr>
              <a:xfrm>
                <a:off x="838199" y="5496789"/>
                <a:ext cx="9990222" cy="835100"/>
              </a:xfrm>
              <a:prstGeom prst="rect">
                <a:avLst/>
              </a:prstGeom>
              <a:blipFill>
                <a:blip r:embed="rId5"/>
                <a:stretch>
                  <a:fillRect l="-888" t="-4478" r="-1523" b="-4478"/>
                </a:stretch>
              </a:blipFill>
            </p:spPr>
            <p:txBody>
              <a:bodyPr/>
              <a:lstStyle/>
              <a:p>
                <a:r>
                  <a:rPr lang="en-US">
                    <a:noFill/>
                  </a:rPr>
                  <a:t> </a:t>
                </a:r>
              </a:p>
            </p:txBody>
          </p:sp>
        </mc:Fallback>
      </mc:AlternateContent>
    </p:spTree>
    <p:extLst>
      <p:ext uri="{BB962C8B-B14F-4D97-AF65-F5344CB8AC3E}">
        <p14:creationId xmlns:p14="http://schemas.microsoft.com/office/powerpoint/2010/main" val="20049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6C3A-CB49-9143-4620-4820026549B6}"/>
              </a:ext>
            </a:extLst>
          </p:cNvPr>
          <p:cNvSpPr>
            <a:spLocks noGrp="1"/>
          </p:cNvSpPr>
          <p:nvPr>
            <p:ph type="title"/>
          </p:nvPr>
        </p:nvSpPr>
        <p:spPr/>
        <p:txBody>
          <a:bodyPr/>
          <a:lstStyle/>
          <a:p>
            <a:r>
              <a:rPr lang="en-US" dirty="0"/>
              <a:t>Hardness of LWE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E308F1-E4F0-5144-1024-249D5DF04DB6}"/>
                  </a:ext>
                </a:extLst>
              </p:cNvPr>
              <p:cNvSpPr>
                <a:spLocks noGrp="1"/>
              </p:cNvSpPr>
              <p:nvPr>
                <p:ph idx="1"/>
              </p:nvPr>
            </p:nvSpPr>
            <p:spPr>
              <a:xfrm>
                <a:off x="838200" y="2285054"/>
                <a:ext cx="10888579" cy="4351338"/>
              </a:xfrm>
            </p:spPr>
            <p:txBody>
              <a:bodyPr>
                <a:normAutofit/>
              </a:bodyPr>
              <a:lstStyle/>
              <a:p>
                <a:r>
                  <a:rPr lang="en-US" dirty="0"/>
                  <a:t>From (worst-case) lattice problems.</a:t>
                </a:r>
              </a:p>
              <a:p>
                <a:r>
                  <a:rPr lang="en-US" dirty="0"/>
                  <a:t>For </a:t>
                </a:r>
                <a14:m>
                  <m:oMath xmlns:m="http://schemas.openxmlformats.org/officeDocument/2006/math">
                    <m:r>
                      <a:rPr lang="en-US" b="0" i="1" smtClean="0">
                        <a:solidFill>
                          <a:schemeClr val="accent5">
                            <a:lumMod val="75000"/>
                          </a:schemeClr>
                        </a:solidFill>
                        <a:latin typeface="Cambria Math" panose="02040503050406030204" pitchFamily="18" charset="0"/>
                      </a:rPr>
                      <m:t>𝛼</m:t>
                    </m:r>
                    <m:r>
                      <a:rPr lang="en-US" b="0" i="1" smtClean="0">
                        <a:solidFill>
                          <a:schemeClr val="accent5">
                            <a:lumMod val="75000"/>
                          </a:schemeClr>
                        </a:solidFill>
                        <a:latin typeface="Cambria Math" panose="02040503050406030204" pitchFamily="18" charset="0"/>
                      </a:rPr>
                      <m:t>𝑞</m:t>
                    </m:r>
                    <m:r>
                      <a:rPr lang="en-US" b="0" i="1" smtClean="0">
                        <a:solidFill>
                          <a:schemeClr val="accent5">
                            <a:lumMod val="75000"/>
                          </a:schemeClr>
                        </a:solidFill>
                        <a:latin typeface="Cambria Math" panose="02040503050406030204" pitchFamily="18" charset="0"/>
                      </a:rPr>
                      <m:t>&gt;2</m:t>
                    </m:r>
                    <m:rad>
                      <m:radPr>
                        <m:degHide m:val="on"/>
                        <m:ctrlPr>
                          <a:rPr lang="en-US" b="0" i="1" smtClean="0">
                            <a:solidFill>
                              <a:schemeClr val="accent5">
                                <a:lumMod val="75000"/>
                              </a:schemeClr>
                            </a:solidFill>
                            <a:latin typeface="Cambria Math" panose="02040503050406030204" pitchFamily="18" charset="0"/>
                          </a:rPr>
                        </m:ctrlPr>
                      </m:radPr>
                      <m:deg/>
                      <m:e>
                        <m:r>
                          <a:rPr lang="en-US" b="0" i="1" smtClean="0">
                            <a:solidFill>
                              <a:schemeClr val="accent5">
                                <a:lumMod val="75000"/>
                              </a:schemeClr>
                            </a:solidFill>
                            <a:latin typeface="Cambria Math" panose="02040503050406030204" pitchFamily="18" charset="0"/>
                          </a:rPr>
                          <m:t>𝑛</m:t>
                        </m:r>
                      </m:e>
                    </m:rad>
                  </m:oMath>
                </a14:m>
                <a:r>
                  <a:rPr lang="en-US" dirty="0">
                    <a:solidFill>
                      <a:schemeClr val="accent5">
                        <a:lumMod val="75000"/>
                      </a:schemeClr>
                    </a:solidFill>
                  </a:rPr>
                  <a:t>, </a:t>
                </a:r>
                <a14:m>
                  <m:oMath xmlns:m="http://schemas.openxmlformats.org/officeDocument/2006/math">
                    <m:r>
                      <a:rPr lang="en-US" b="0" i="1" smtClean="0">
                        <a:solidFill>
                          <a:schemeClr val="accent5">
                            <a:lumMod val="75000"/>
                          </a:schemeClr>
                        </a:solidFill>
                        <a:latin typeface="Cambria Math" panose="02040503050406030204" pitchFamily="18" charset="0"/>
                      </a:rPr>
                      <m:t>𝑞</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𝑝𝑜𝑙𝑦</m:t>
                    </m:r>
                    <m:d>
                      <m:dPr>
                        <m:ctrlPr>
                          <a:rPr lang="en-US" b="0" i="1" smtClean="0">
                            <a:solidFill>
                              <a:schemeClr val="accent5">
                                <a:lumMod val="75000"/>
                              </a:schemeClr>
                            </a:solidFill>
                            <a:latin typeface="Cambria Math" panose="02040503050406030204" pitchFamily="18" charset="0"/>
                          </a:rPr>
                        </m:ctrlPr>
                      </m:dPr>
                      <m:e>
                        <m:r>
                          <a:rPr lang="en-US" b="0" i="1" smtClean="0">
                            <a:solidFill>
                              <a:schemeClr val="accent5">
                                <a:lumMod val="75000"/>
                              </a:schemeClr>
                            </a:solidFill>
                            <a:latin typeface="Cambria Math" panose="02040503050406030204" pitchFamily="18" charset="0"/>
                          </a:rPr>
                          <m:t>𝑛</m:t>
                        </m:r>
                      </m:e>
                    </m:d>
                  </m:oMath>
                </a14:m>
                <a:endParaRPr lang="en-US" b="0" dirty="0"/>
              </a:p>
              <a:p>
                <a:pPr marL="0" indent="0">
                  <a:buNone/>
                </a:pPr>
                <a:r>
                  <a:rPr lang="en-US" dirty="0"/>
                  <a:t>   Regev [Reg05]: quantum reduction from two lattice problems</a:t>
                </a:r>
              </a:p>
              <a:p>
                <a:r>
                  <a:rPr lang="en-US" dirty="0"/>
                  <a:t>Classical reductions:</a:t>
                </a:r>
              </a:p>
              <a:p>
                <a:pPr lvl="1"/>
                <a:r>
                  <a:rPr lang="en-US" dirty="0"/>
                  <a:t>Peikert [Pei09]: classical reduction from a lattice problem for exponential </a:t>
                </a:r>
                <a14:m>
                  <m:oMath xmlns:m="http://schemas.openxmlformats.org/officeDocument/2006/math">
                    <m:r>
                      <a:rPr lang="en-US" b="0" i="1" smtClean="0">
                        <a:solidFill>
                          <a:schemeClr val="accent5">
                            <a:lumMod val="75000"/>
                          </a:schemeClr>
                        </a:solidFill>
                        <a:latin typeface="Cambria Math" panose="02040503050406030204" pitchFamily="18" charset="0"/>
                      </a:rPr>
                      <m:t>𝑞</m:t>
                    </m:r>
                  </m:oMath>
                </a14:m>
                <a:endParaRPr lang="en-US" dirty="0"/>
              </a:p>
              <a:p>
                <a:pPr lvl="1"/>
                <a:r>
                  <a:rPr lang="en-US" dirty="0"/>
                  <a:t>[BLPRS13]: Equivalent hardness of LWE keeping </a:t>
                </a:r>
                <a14:m>
                  <m:oMath xmlns:m="http://schemas.openxmlformats.org/officeDocument/2006/math">
                    <m:r>
                      <a:rPr lang="en-US" b="0" i="1" smtClean="0">
                        <a:solidFill>
                          <a:schemeClr val="accent5">
                            <a:lumMod val="75000"/>
                          </a:schemeClr>
                        </a:solidFill>
                        <a:latin typeface="Cambria Math" panose="02040503050406030204" pitchFamily="18" charset="0"/>
                      </a:rPr>
                      <m:t>𝑛</m:t>
                    </m:r>
                    <m:func>
                      <m:funcPr>
                        <m:ctrlPr>
                          <a:rPr lang="en-US" b="0" i="1" smtClean="0">
                            <a:solidFill>
                              <a:schemeClr val="accent5">
                                <a:lumMod val="75000"/>
                              </a:schemeClr>
                            </a:solidFill>
                            <a:latin typeface="Cambria Math" panose="02040503050406030204" pitchFamily="18" charset="0"/>
                          </a:rPr>
                        </m:ctrlPr>
                      </m:funcPr>
                      <m:fName>
                        <m:sSub>
                          <m:sSubPr>
                            <m:ctrlPr>
                              <a:rPr lang="en-US" b="0" i="1" smtClean="0">
                                <a:solidFill>
                                  <a:schemeClr val="accent5">
                                    <a:lumMod val="75000"/>
                                  </a:schemeClr>
                                </a:solidFill>
                                <a:latin typeface="Cambria Math" panose="02040503050406030204" pitchFamily="18" charset="0"/>
                              </a:rPr>
                            </m:ctrlPr>
                          </m:sSubPr>
                          <m:e>
                            <m:r>
                              <m:rPr>
                                <m:sty m:val="p"/>
                              </m:rPr>
                              <a:rPr lang="en-US" b="0" i="0" smtClean="0">
                                <a:solidFill>
                                  <a:schemeClr val="accent5">
                                    <a:lumMod val="75000"/>
                                  </a:schemeClr>
                                </a:solidFill>
                                <a:latin typeface="Cambria Math" panose="02040503050406030204" pitchFamily="18" charset="0"/>
                              </a:rPr>
                              <m:t>log</m:t>
                            </m:r>
                          </m:e>
                          <m:sub>
                            <m:r>
                              <a:rPr lang="en-US" b="0" i="1" smtClean="0">
                                <a:solidFill>
                                  <a:schemeClr val="accent5">
                                    <a:lumMod val="75000"/>
                                  </a:schemeClr>
                                </a:solidFill>
                                <a:latin typeface="Cambria Math" panose="02040503050406030204" pitchFamily="18" charset="0"/>
                              </a:rPr>
                              <m:t>2</m:t>
                            </m:r>
                          </m:sub>
                        </m:sSub>
                      </m:fName>
                      <m:e>
                        <m:r>
                          <a:rPr lang="en-US" b="0" i="1" smtClean="0">
                            <a:solidFill>
                              <a:schemeClr val="accent5">
                                <a:lumMod val="75000"/>
                              </a:schemeClr>
                            </a:solidFill>
                            <a:latin typeface="Cambria Math" panose="02040503050406030204" pitchFamily="18" charset="0"/>
                          </a:rPr>
                          <m:t>𝑞</m:t>
                        </m:r>
                      </m:e>
                    </m:func>
                  </m:oMath>
                </a14:m>
                <a:r>
                  <a:rPr lang="en-US" dirty="0"/>
                  <a:t> fixed.</a:t>
                </a:r>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1DE308F1-E4F0-5144-1024-249D5DF04DB6}"/>
                  </a:ext>
                </a:extLst>
              </p:cNvPr>
              <p:cNvSpPr>
                <a:spLocks noGrp="1" noRot="1" noChangeAspect="1" noMove="1" noResize="1" noEditPoints="1" noAdjustHandles="1" noChangeArrowheads="1" noChangeShapeType="1" noTextEdit="1"/>
              </p:cNvSpPr>
              <p:nvPr>
                <p:ph idx="1"/>
              </p:nvPr>
            </p:nvSpPr>
            <p:spPr>
              <a:xfrm>
                <a:off x="838200" y="2285054"/>
                <a:ext cx="10888579" cy="4351338"/>
              </a:xfrm>
              <a:blipFill>
                <a:blip r:embed="rId3"/>
                <a:stretch>
                  <a:fillRect l="-1049" t="-26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A431B7-DF05-5A36-E454-130F733B4727}"/>
                  </a:ext>
                </a:extLst>
              </p:cNvPr>
              <p:cNvSpPr txBox="1"/>
              <p:nvPr/>
            </p:nvSpPr>
            <p:spPr>
              <a:xfrm>
                <a:off x="6096000" y="561048"/>
                <a:ext cx="5117432" cy="9708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𝑎</m:t>
                          </m:r>
                        </m:e>
                        <m:sub>
                          <m:r>
                            <a:rPr lang="en-US" i="1">
                              <a:solidFill>
                                <a:schemeClr val="accent5">
                                  <a:lumMod val="75000"/>
                                </a:schemeClr>
                              </a:solidFill>
                              <a:latin typeface="Cambria Math" panose="02040503050406030204" pitchFamily="18" charset="0"/>
                            </a:rPr>
                            <m:t>𝑖</m:t>
                          </m:r>
                        </m:sub>
                      </m:sSub>
                      <m:r>
                        <a:rPr lang="en-IN" i="1">
                          <a:solidFill>
                            <a:schemeClr val="accent5">
                              <a:lumMod val="75000"/>
                            </a:schemeClr>
                          </a:solidFill>
                          <a:latin typeface="Cambria Math" panose="02040503050406030204" pitchFamily="18" charset="0"/>
                        </a:rPr>
                        <m:t>←</m:t>
                      </m:r>
                      <m:sSubSup>
                        <m:sSubSupPr>
                          <m:ctrlPr>
                            <a:rPr lang="en-IN" i="1">
                              <a:solidFill>
                                <a:schemeClr val="accent5">
                                  <a:lumMod val="75000"/>
                                </a:schemeClr>
                              </a:solidFill>
                              <a:latin typeface="Cambria Math" panose="02040503050406030204" pitchFamily="18" charset="0"/>
                            </a:rPr>
                          </m:ctrlPr>
                        </m:sSubSupPr>
                        <m:e>
                          <m:r>
                            <a:rPr lang="en-IN" i="1">
                              <a:solidFill>
                                <a:schemeClr val="accent5">
                                  <a:lumMod val="75000"/>
                                </a:schemeClr>
                              </a:solidFill>
                              <a:latin typeface="Cambria Math" panose="02040503050406030204" pitchFamily="18" charset="0"/>
                            </a:rPr>
                            <m:t>ℤ</m:t>
                          </m:r>
                        </m:e>
                        <m:sub>
                          <m:r>
                            <a:rPr lang="en-US" i="1">
                              <a:solidFill>
                                <a:schemeClr val="accent5">
                                  <a:lumMod val="75000"/>
                                </a:schemeClr>
                              </a:solidFill>
                              <a:latin typeface="Cambria Math" panose="02040503050406030204" pitchFamily="18" charset="0"/>
                            </a:rPr>
                            <m:t>𝑞</m:t>
                          </m:r>
                        </m:sub>
                        <m:sup>
                          <m:r>
                            <a:rPr lang="en-IN" i="1">
                              <a:solidFill>
                                <a:schemeClr val="accent5">
                                  <a:lumMod val="75000"/>
                                </a:schemeClr>
                              </a:solidFill>
                              <a:latin typeface="Cambria Math" panose="02040503050406030204" pitchFamily="18" charset="0"/>
                            </a:rPr>
                            <m:t>𝑛</m:t>
                          </m:r>
                        </m:sup>
                      </m:sSubSup>
                      <m:r>
                        <a:rPr lang="en-IN" i="1">
                          <a:solidFill>
                            <a:schemeClr val="accent5">
                              <a:lumMod val="75000"/>
                            </a:schemeClr>
                          </a:solidFill>
                          <a:latin typeface="Cambria Math" panose="02040503050406030204" pitchFamily="18" charset="0"/>
                        </a:rPr>
                        <m:t>        </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𝑏</m:t>
                          </m:r>
                        </m:e>
                        <m:sub>
                          <m:r>
                            <a:rPr lang="en-US" i="1">
                              <a:solidFill>
                                <a:schemeClr val="accent5">
                                  <a:lumMod val="75000"/>
                                </a:schemeClr>
                              </a:solidFill>
                              <a:latin typeface="Cambria Math" panose="02040503050406030204" pitchFamily="18" charset="0"/>
                            </a:rPr>
                            <m:t>𝑖</m:t>
                          </m:r>
                        </m:sub>
                      </m:sSub>
                      <m:r>
                        <a:rPr lang="en-IN" i="1">
                          <a:solidFill>
                            <a:schemeClr val="accent5">
                              <a:lumMod val="75000"/>
                            </a:schemeClr>
                          </a:solidFill>
                          <a:latin typeface="Cambria Math" panose="02040503050406030204" pitchFamily="18" charset="0"/>
                        </a:rPr>
                        <m:t>=</m:t>
                      </m:r>
                      <m:d>
                        <m:dPr>
                          <m:begChr m:val="⟨"/>
                          <m:endChr m:val="⟩"/>
                          <m:ctrlPr>
                            <a:rPr lang="en-IN" i="1">
                              <a:solidFill>
                                <a:schemeClr val="accent5">
                                  <a:lumMod val="75000"/>
                                </a:schemeClr>
                              </a:solidFill>
                              <a:latin typeface="Cambria Math" panose="02040503050406030204" pitchFamily="18" charset="0"/>
                            </a:rPr>
                          </m:ctrlPr>
                        </m:dPr>
                        <m:e>
                          <m:r>
                            <a:rPr lang="en-IN" i="1">
                              <a:solidFill>
                                <a:schemeClr val="accent5">
                                  <a:lumMod val="75000"/>
                                </a:schemeClr>
                              </a:solidFill>
                              <a:latin typeface="Cambria Math" panose="02040503050406030204" pitchFamily="18" charset="0"/>
                            </a:rPr>
                            <m:t>𝑠</m:t>
                          </m:r>
                          <m:r>
                            <a:rPr lang="en-IN" i="1">
                              <a:solidFill>
                                <a:schemeClr val="accent5">
                                  <a:lumMod val="75000"/>
                                </a:schemeClr>
                              </a:solidFill>
                              <a:latin typeface="Cambria Math" panose="02040503050406030204" pitchFamily="18" charset="0"/>
                            </a:rPr>
                            <m:t>,</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𝑎</m:t>
                              </m:r>
                            </m:e>
                            <m:sub>
                              <m:r>
                                <a:rPr lang="en-US" i="1">
                                  <a:solidFill>
                                    <a:schemeClr val="accent5">
                                      <a:lumMod val="75000"/>
                                    </a:schemeClr>
                                  </a:solidFill>
                                  <a:latin typeface="Cambria Math" panose="02040503050406030204" pitchFamily="18" charset="0"/>
                                </a:rPr>
                                <m:t>𝑖</m:t>
                              </m:r>
                            </m:sub>
                          </m:sSub>
                        </m:e>
                      </m:d>
                      <m:r>
                        <a:rPr lang="en-IN" i="1">
                          <a:solidFill>
                            <a:schemeClr val="accent5">
                              <a:lumMod val="75000"/>
                            </a:schemeClr>
                          </a:solidFill>
                          <a:latin typeface="Cambria Math" panose="02040503050406030204" pitchFamily="18" charset="0"/>
                        </a:rPr>
                        <m:t>+</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𝑒</m:t>
                          </m:r>
                        </m:e>
                        <m:sub>
                          <m:r>
                            <a:rPr lang="en-US" i="1">
                              <a:solidFill>
                                <a:schemeClr val="accent5">
                                  <a:lumMod val="75000"/>
                                </a:schemeClr>
                              </a:solidFill>
                              <a:latin typeface="Cambria Math" panose="02040503050406030204" pitchFamily="18" charset="0"/>
                            </a:rPr>
                            <m:t>𝑖</m:t>
                          </m:r>
                        </m:sub>
                      </m:sSub>
                      <m:r>
                        <a:rPr lang="en-IN" i="1">
                          <a:solidFill>
                            <a:schemeClr val="accent5">
                              <a:lumMod val="75000"/>
                            </a:schemeClr>
                          </a:solidFill>
                          <a:latin typeface="Cambria Math" panose="02040503050406030204" pitchFamily="18" charset="0"/>
                        </a:rPr>
                        <m:t>∈</m:t>
                      </m:r>
                      <m:sSub>
                        <m:sSubPr>
                          <m:ctrlPr>
                            <a:rPr lang="en-IN" i="1">
                              <a:solidFill>
                                <a:schemeClr val="accent5">
                                  <a:lumMod val="75000"/>
                                </a:schemeClr>
                              </a:solidFill>
                              <a:latin typeface="Cambria Math" panose="02040503050406030204" pitchFamily="18" charset="0"/>
                            </a:rPr>
                          </m:ctrlPr>
                        </m:sSubPr>
                        <m:e>
                          <m:r>
                            <a:rPr lang="en-IN" i="1">
                              <a:solidFill>
                                <a:schemeClr val="accent5">
                                  <a:lumMod val="75000"/>
                                </a:schemeClr>
                              </a:solidFill>
                              <a:latin typeface="Cambria Math" panose="02040503050406030204" pitchFamily="18" charset="0"/>
                            </a:rPr>
                            <m:t>ℤ</m:t>
                          </m:r>
                        </m:e>
                        <m:sub>
                          <m:r>
                            <a:rPr lang="en-IN" i="1">
                              <a:solidFill>
                                <a:schemeClr val="accent5">
                                  <a:lumMod val="75000"/>
                                </a:schemeClr>
                              </a:solidFill>
                              <a:latin typeface="Cambria Math" panose="02040503050406030204" pitchFamily="18" charset="0"/>
                            </a:rPr>
                            <m:t>𝑞</m:t>
                          </m:r>
                        </m:sub>
                      </m:sSub>
                      <m:r>
                        <a:rPr lang="en-IN" i="1">
                          <a:solidFill>
                            <a:schemeClr val="accent5">
                              <a:lumMod val="75000"/>
                            </a:schemeClr>
                          </a:solidFill>
                          <a:latin typeface="Cambria Math" panose="02040503050406030204" pitchFamily="18" charset="0"/>
                        </a:rPr>
                        <m:t> </m:t>
                      </m:r>
                    </m:oMath>
                  </m:oMathPara>
                </a14:m>
                <a:endParaRPr lang="en-US" i="1" dirty="0">
                  <a:solidFill>
                    <a:schemeClr val="accent5">
                      <a:lumMod val="75000"/>
                    </a:schemeClr>
                  </a:solidFill>
                  <a:latin typeface="Cambria Math" panose="02040503050406030204" pitchFamily="18" charset="0"/>
                </a:endParaRPr>
              </a:p>
              <a:p>
                <a14:m>
                  <m:oMath xmlns:m="http://schemas.openxmlformats.org/officeDocument/2006/math">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𝑒</m:t>
                        </m:r>
                      </m:e>
                      <m:sub>
                        <m:r>
                          <a:rPr lang="en-US" b="0" i="1" smtClean="0">
                            <a:solidFill>
                              <a:schemeClr val="accent5">
                                <a:lumMod val="75000"/>
                              </a:schemeClr>
                            </a:solidFill>
                            <a:latin typeface="Cambria Math" panose="02040503050406030204" pitchFamily="18" charset="0"/>
                          </a:rPr>
                          <m:t>𝑖</m:t>
                        </m:r>
                      </m:sub>
                    </m:sSub>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𝜒</m:t>
                    </m:r>
                  </m:oMath>
                </a14:m>
                <a:r>
                  <a:rPr lang="en-US" dirty="0">
                    <a:solidFill>
                      <a:schemeClr val="accent5">
                        <a:lumMod val="75000"/>
                      </a:schemeClr>
                    </a:solidFill>
                  </a:rPr>
                  <a:t> </a:t>
                </a:r>
                <a:r>
                  <a:rPr lang="en-US" dirty="0"/>
                  <a:t>(</a:t>
                </a:r>
                <a:r>
                  <a:rPr lang="en-IN" dirty="0"/>
                  <a:t>Discrete Gaussian with variance </a:t>
                </a:r>
                <a14:m>
                  <m:oMath xmlns:m="http://schemas.openxmlformats.org/officeDocument/2006/math">
                    <m:r>
                      <a:rPr lang="en-US" i="1" smtClean="0">
                        <a:solidFill>
                          <a:schemeClr val="accent5">
                            <a:lumMod val="75000"/>
                          </a:schemeClr>
                        </a:solidFill>
                        <a:latin typeface="Cambria Math" panose="02040503050406030204" pitchFamily="18" charset="0"/>
                      </a:rPr>
                      <m:t>𝛼</m:t>
                    </m:r>
                    <m:r>
                      <a:rPr lang="en-US" i="1" smtClean="0">
                        <a:solidFill>
                          <a:schemeClr val="accent5">
                            <a:lumMod val="75000"/>
                          </a:schemeClr>
                        </a:solidFill>
                        <a:latin typeface="Cambria Math" panose="02040503050406030204" pitchFamily="18" charset="0"/>
                      </a:rPr>
                      <m:t>𝑞</m:t>
                    </m:r>
                    <m:r>
                      <a:rPr lang="en-US" i="1" smtClean="0">
                        <a:solidFill>
                          <a:schemeClr val="accent5">
                            <a:lumMod val="75000"/>
                          </a:schemeClr>
                        </a:solidFill>
                        <a:latin typeface="Cambria Math" panose="02040503050406030204" pitchFamily="18" charset="0"/>
                      </a:rPr>
                      <m:t>/</m:t>
                    </m:r>
                    <m:rad>
                      <m:radPr>
                        <m:degHide m:val="on"/>
                        <m:ctrlPr>
                          <a:rPr lang="en-US" i="1">
                            <a:solidFill>
                              <a:schemeClr val="accent5">
                                <a:lumMod val="75000"/>
                              </a:schemeClr>
                            </a:solidFill>
                            <a:latin typeface="Cambria Math" panose="02040503050406030204" pitchFamily="18" charset="0"/>
                          </a:rPr>
                        </m:ctrlPr>
                      </m:radPr>
                      <m:deg/>
                      <m:e>
                        <m:r>
                          <a:rPr lang="en-US" i="1">
                            <a:solidFill>
                              <a:schemeClr val="accent5">
                                <a:lumMod val="75000"/>
                              </a:schemeClr>
                            </a:solidFill>
                            <a:latin typeface="Cambria Math" panose="02040503050406030204" pitchFamily="18" charset="0"/>
                          </a:rPr>
                          <m:t>2</m:t>
                        </m:r>
                        <m:r>
                          <a:rPr lang="en-US" i="1">
                            <a:solidFill>
                              <a:schemeClr val="accent5">
                                <a:lumMod val="75000"/>
                              </a:schemeClr>
                            </a:solidFill>
                            <a:latin typeface="Cambria Math" panose="02040503050406030204" pitchFamily="18" charset="0"/>
                          </a:rPr>
                          <m:t>𝜋</m:t>
                        </m:r>
                      </m:e>
                    </m:rad>
                  </m:oMath>
                </a14:m>
                <a:r>
                  <a:rPr lang="en-US" dirty="0"/>
                  <a:t>)</a:t>
                </a:r>
              </a:p>
              <a:p>
                <a:endParaRPr lang="en-US" dirty="0"/>
              </a:p>
            </p:txBody>
          </p:sp>
        </mc:Choice>
        <mc:Fallback xmlns="">
          <p:sp>
            <p:nvSpPr>
              <p:cNvPr id="5" name="TextBox 4">
                <a:extLst>
                  <a:ext uri="{FF2B5EF4-FFF2-40B4-BE49-F238E27FC236}">
                    <a16:creationId xmlns:a16="http://schemas.microsoft.com/office/drawing/2014/main" id="{C6A431B7-DF05-5A36-E454-130F733B4727}"/>
                  </a:ext>
                </a:extLst>
              </p:cNvPr>
              <p:cNvSpPr txBox="1">
                <a:spLocks noRot="1" noChangeAspect="1" noMove="1" noResize="1" noEditPoints="1" noAdjustHandles="1" noChangeArrowheads="1" noChangeShapeType="1" noTextEdit="1"/>
              </p:cNvSpPr>
              <p:nvPr/>
            </p:nvSpPr>
            <p:spPr>
              <a:xfrm>
                <a:off x="6096000" y="561048"/>
                <a:ext cx="5117432" cy="9708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841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BA3D4-753B-B754-004C-5CDC293D4325}"/>
              </a:ext>
            </a:extLst>
          </p:cNvPr>
          <p:cNvSpPr>
            <a:spLocks noGrp="1"/>
          </p:cNvSpPr>
          <p:nvPr>
            <p:ph type="title"/>
          </p:nvPr>
        </p:nvSpPr>
        <p:spPr/>
        <p:txBody>
          <a:bodyPr/>
          <a:lstStyle/>
          <a:p>
            <a:r>
              <a:rPr lang="en-US" dirty="0"/>
              <a:t>Versatility of LWE</a:t>
            </a:r>
          </a:p>
        </p:txBody>
      </p:sp>
      <p:sp>
        <p:nvSpPr>
          <p:cNvPr id="3" name="Content Placeholder 2">
            <a:extLst>
              <a:ext uri="{FF2B5EF4-FFF2-40B4-BE49-F238E27FC236}">
                <a16:creationId xmlns:a16="http://schemas.microsoft.com/office/drawing/2014/main" id="{11E0C4D6-627B-E81A-FA0D-3D4C42D73258}"/>
              </a:ext>
            </a:extLst>
          </p:cNvPr>
          <p:cNvSpPr>
            <a:spLocks noGrp="1"/>
          </p:cNvSpPr>
          <p:nvPr>
            <p:ph idx="1"/>
          </p:nvPr>
        </p:nvSpPr>
        <p:spPr>
          <a:xfrm>
            <a:off x="838200" y="1825625"/>
            <a:ext cx="10780986" cy="4351338"/>
          </a:xfrm>
        </p:spPr>
        <p:txBody>
          <a:bodyPr>
            <a:normAutofit/>
          </a:bodyPr>
          <a:lstStyle/>
          <a:p>
            <a:r>
              <a:rPr lang="en-US" dirty="0"/>
              <a:t>Public Key Encryption</a:t>
            </a:r>
          </a:p>
          <a:p>
            <a:pPr marL="0" indent="0">
              <a:buNone/>
            </a:pPr>
            <a:endParaRPr lang="en-US" dirty="0"/>
          </a:p>
          <a:p>
            <a:r>
              <a:rPr lang="en-US" dirty="0"/>
              <a:t>Advanced Primitives</a:t>
            </a:r>
          </a:p>
          <a:p>
            <a:pPr lvl="1"/>
            <a:r>
              <a:rPr lang="en-US" dirty="0"/>
              <a:t>Fully Homomorphic Encryption (FHE)</a:t>
            </a:r>
          </a:p>
          <a:p>
            <a:pPr lvl="1"/>
            <a:r>
              <a:rPr lang="en-US" dirty="0"/>
              <a:t>Attribute Based Encryption (ABE)</a:t>
            </a:r>
          </a:p>
          <a:p>
            <a:pPr lvl="1"/>
            <a:r>
              <a:rPr lang="en-US" dirty="0"/>
              <a:t>Indistinguishability Obfuscation (</a:t>
            </a:r>
            <a:r>
              <a:rPr lang="en-US" dirty="0" err="1"/>
              <a:t>iO</a:t>
            </a:r>
            <a:r>
              <a:rPr lang="en-US" dirty="0"/>
              <a:t>)</a:t>
            </a:r>
          </a:p>
          <a:p>
            <a:pPr lvl="1"/>
            <a:r>
              <a:rPr lang="en-US" dirty="0"/>
              <a:t>Lossy Trapdoor Functions (LTDF)</a:t>
            </a:r>
          </a:p>
          <a:p>
            <a:pPr lvl="1"/>
            <a:r>
              <a:rPr lang="en-US" dirty="0"/>
              <a:t>Certifiable Deletion </a:t>
            </a:r>
          </a:p>
          <a:p>
            <a:pPr lvl="1"/>
            <a:r>
              <a:rPr lang="en-US" dirty="0"/>
              <a:t>Quantum Homomorphic Encryption</a:t>
            </a:r>
          </a:p>
        </p:txBody>
      </p:sp>
      <p:pic>
        <p:nvPicPr>
          <p:cNvPr id="5" name="Picture 4" descr="A diagram of a cloud with numbers and symbols&#10;&#10;AI-generated content may be incorrect.">
            <a:extLst>
              <a:ext uri="{FF2B5EF4-FFF2-40B4-BE49-F238E27FC236}">
                <a16:creationId xmlns:a16="http://schemas.microsoft.com/office/drawing/2014/main" id="{F24A887B-E0AF-14A5-47CF-1BE87CB45B7C}"/>
              </a:ext>
            </a:extLst>
          </p:cNvPr>
          <p:cNvPicPr>
            <a:picLocks noChangeAspect="1"/>
          </p:cNvPicPr>
          <p:nvPr/>
        </p:nvPicPr>
        <p:blipFill>
          <a:blip r:embed="rId3"/>
          <a:stretch>
            <a:fillRect/>
          </a:stretch>
        </p:blipFill>
        <p:spPr>
          <a:xfrm>
            <a:off x="7256455" y="2145151"/>
            <a:ext cx="4362731" cy="4166749"/>
          </a:xfrm>
          <a:prstGeom prst="rect">
            <a:avLst/>
          </a:prstGeom>
        </p:spPr>
      </p:pic>
    </p:spTree>
    <p:extLst>
      <p:ext uri="{BB962C8B-B14F-4D97-AF65-F5344CB8AC3E}">
        <p14:creationId xmlns:p14="http://schemas.microsoft.com/office/powerpoint/2010/main" val="228001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4A92-E02D-2208-A4E6-35E16A703BEA}"/>
              </a:ext>
            </a:extLst>
          </p:cNvPr>
          <p:cNvSpPr>
            <a:spLocks noGrp="1"/>
          </p:cNvSpPr>
          <p:nvPr>
            <p:ph type="title"/>
          </p:nvPr>
        </p:nvSpPr>
        <p:spPr/>
        <p:txBody>
          <a:bodyPr/>
          <a:lstStyle/>
          <a:p>
            <a:r>
              <a:rPr lang="en-US" dirty="0"/>
              <a:t>Some useful Math and Quantum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E2C3AD-351A-B68A-EDEB-B3BC5766B098}"/>
                  </a:ext>
                </a:extLst>
              </p:cNvPr>
              <p:cNvSpPr>
                <a:spLocks noGrp="1"/>
              </p:cNvSpPr>
              <p:nvPr>
                <p:ph idx="1"/>
              </p:nvPr>
            </p:nvSpPr>
            <p:spPr>
              <a:xfrm>
                <a:off x="838200" y="1825624"/>
                <a:ext cx="10515600" cy="4838411"/>
              </a:xfrm>
            </p:spPr>
            <p:txBody>
              <a:bodyPr>
                <a:normAutofit fontScale="92500" lnSpcReduction="10000"/>
              </a:bodyPr>
              <a:lstStyle/>
              <a:p>
                <a:r>
                  <a:rPr lang="en-US" dirty="0"/>
                  <a:t>Notations</a:t>
                </a:r>
              </a:p>
              <a:p>
                <a:pPr lvl="1"/>
                <a14:m>
                  <m:oMath xmlns:m="http://schemas.openxmlformats.org/officeDocument/2006/math">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𝜔</m:t>
                        </m:r>
                      </m:e>
                      <m:sub>
                        <m:r>
                          <a:rPr lang="en-US" b="0" i="1" smtClean="0">
                            <a:solidFill>
                              <a:schemeClr val="accent5">
                                <a:lumMod val="75000"/>
                              </a:schemeClr>
                            </a:solidFill>
                            <a:latin typeface="Cambria Math" panose="02040503050406030204" pitchFamily="18" charset="0"/>
                          </a:rPr>
                          <m:t>𝑞</m:t>
                        </m:r>
                      </m:sub>
                    </m:sSub>
                    <m:r>
                      <a:rPr lang="en-US" b="0" i="1" smtClean="0">
                        <a:solidFill>
                          <a:schemeClr val="accent5">
                            <a:lumMod val="75000"/>
                          </a:schemeClr>
                        </a:solidFill>
                        <a:latin typeface="Cambria Math" panose="02040503050406030204" pitchFamily="18" charset="0"/>
                      </a:rPr>
                      <m:t>≔</m:t>
                    </m:r>
                    <m:r>
                      <m:rPr>
                        <m:sty m:val="p"/>
                      </m:rPr>
                      <a:rPr lang="en-US" b="0" i="0" smtClean="0">
                        <a:solidFill>
                          <a:schemeClr val="accent5">
                            <a:lumMod val="75000"/>
                          </a:schemeClr>
                        </a:solidFill>
                        <a:latin typeface="Cambria Math" panose="02040503050406030204" pitchFamily="18" charset="0"/>
                      </a:rPr>
                      <m:t>exp</m:t>
                    </m:r>
                    <m:r>
                      <a:rPr lang="en-US" b="0" i="1" smtClean="0">
                        <a:solidFill>
                          <a:schemeClr val="accent5">
                            <a:lumMod val="75000"/>
                          </a:schemeClr>
                        </a:solidFill>
                        <a:latin typeface="Cambria Math" panose="02040503050406030204" pitchFamily="18" charset="0"/>
                      </a:rPr>
                      <m:t>⁡(2</m:t>
                    </m:r>
                    <m:r>
                      <a:rPr lang="en-US" b="0" i="1" smtClean="0">
                        <a:solidFill>
                          <a:schemeClr val="accent5">
                            <a:lumMod val="75000"/>
                          </a:schemeClr>
                        </a:solidFill>
                        <a:latin typeface="Cambria Math" panose="02040503050406030204" pitchFamily="18" charset="0"/>
                      </a:rPr>
                      <m:t>𝜋𝜄</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𝑞</m:t>
                    </m:r>
                    <m:r>
                      <a:rPr lang="en-US" b="0" i="1" smtClean="0">
                        <a:solidFill>
                          <a:schemeClr val="accent5">
                            <a:lumMod val="75000"/>
                          </a:schemeClr>
                        </a:solidFill>
                        <a:latin typeface="Cambria Math" panose="02040503050406030204" pitchFamily="18" charset="0"/>
                      </a:rPr>
                      <m:t>)</m:t>
                    </m:r>
                  </m:oMath>
                </a14:m>
                <a:r>
                  <a:rPr lang="en-US" dirty="0">
                    <a:solidFill>
                      <a:schemeClr val="accent5">
                        <a:lumMod val="75000"/>
                      </a:schemeClr>
                    </a:solidFill>
                  </a:rPr>
                  <a:t>;  </a:t>
                </a:r>
                <a14:m>
                  <m:oMath xmlns:m="http://schemas.openxmlformats.org/officeDocument/2006/math">
                    <m:sSub>
                      <m:sSubPr>
                        <m:ctrlPr>
                          <a:rPr lang="en-US" b="0" i="1" dirty="0" smtClean="0">
                            <a:solidFill>
                              <a:schemeClr val="accent5">
                                <a:lumMod val="75000"/>
                              </a:schemeClr>
                            </a:solidFill>
                            <a:latin typeface="Cambria Math" panose="02040503050406030204" pitchFamily="18" charset="0"/>
                          </a:rPr>
                        </m:ctrlPr>
                      </m:sSubPr>
                      <m:e>
                        <m:r>
                          <a:rPr lang="en-US" b="0" i="1" dirty="0" smtClean="0">
                            <a:solidFill>
                              <a:schemeClr val="accent5">
                                <a:lumMod val="75000"/>
                              </a:schemeClr>
                            </a:solidFill>
                            <a:latin typeface="Cambria Math" panose="02040503050406030204" pitchFamily="18" charset="0"/>
                          </a:rPr>
                          <m:t>𝜌</m:t>
                        </m:r>
                      </m:e>
                      <m:sub>
                        <m:r>
                          <a:rPr lang="en-US" b="0" i="1" dirty="0" smtClean="0">
                            <a:solidFill>
                              <a:schemeClr val="accent5">
                                <a:lumMod val="75000"/>
                              </a:schemeClr>
                            </a:solidFill>
                            <a:latin typeface="Cambria Math" panose="02040503050406030204" pitchFamily="18" charset="0"/>
                          </a:rPr>
                          <m:t>𝑟</m:t>
                        </m:r>
                      </m:sub>
                    </m:sSub>
                    <m:d>
                      <m:dPr>
                        <m:ctrlPr>
                          <a:rPr lang="en-US" b="0" i="1" dirty="0" smtClean="0">
                            <a:solidFill>
                              <a:schemeClr val="accent5">
                                <a:lumMod val="75000"/>
                              </a:schemeClr>
                            </a:solidFill>
                            <a:latin typeface="Cambria Math" panose="02040503050406030204" pitchFamily="18" charset="0"/>
                          </a:rPr>
                        </m:ctrlPr>
                      </m:dPr>
                      <m:e>
                        <m:r>
                          <a:rPr lang="en-US" b="0" i="1" dirty="0" smtClean="0">
                            <a:solidFill>
                              <a:schemeClr val="accent5">
                                <a:lumMod val="75000"/>
                              </a:schemeClr>
                            </a:solidFill>
                            <a:latin typeface="Cambria Math" panose="02040503050406030204" pitchFamily="18" charset="0"/>
                          </a:rPr>
                          <m:t>𝑥</m:t>
                        </m:r>
                      </m:e>
                    </m:d>
                    <m:r>
                      <a:rPr lang="en-US" b="0" i="1" dirty="0" smtClean="0">
                        <a:solidFill>
                          <a:schemeClr val="accent5">
                            <a:lumMod val="75000"/>
                          </a:schemeClr>
                        </a:solidFill>
                        <a:latin typeface="Cambria Math" panose="02040503050406030204" pitchFamily="18" charset="0"/>
                      </a:rPr>
                      <m:t>=</m:t>
                    </m:r>
                    <m:r>
                      <m:rPr>
                        <m:sty m:val="p"/>
                      </m:rPr>
                      <a:rPr lang="en-US" b="0" i="0" dirty="0" smtClean="0">
                        <a:solidFill>
                          <a:schemeClr val="accent5">
                            <a:lumMod val="75000"/>
                          </a:schemeClr>
                        </a:solidFill>
                        <a:latin typeface="Cambria Math" panose="02040503050406030204" pitchFamily="18" charset="0"/>
                      </a:rPr>
                      <m:t>exp</m:t>
                    </m:r>
                    <m:r>
                      <a:rPr lang="en-US" b="0" i="1" dirty="0" smtClean="0">
                        <a:solidFill>
                          <a:schemeClr val="accent5">
                            <a:lumMod val="75000"/>
                          </a:schemeClr>
                        </a:solidFill>
                        <a:latin typeface="Cambria Math" panose="02040503050406030204" pitchFamily="18" charset="0"/>
                      </a:rPr>
                      <m:t>⁡(−</m:t>
                    </m:r>
                    <m:r>
                      <a:rPr lang="en-US" b="0" i="1" dirty="0" smtClean="0">
                        <a:solidFill>
                          <a:schemeClr val="accent5">
                            <a:lumMod val="75000"/>
                          </a:schemeClr>
                        </a:solidFill>
                        <a:latin typeface="Cambria Math" panose="02040503050406030204" pitchFamily="18" charset="0"/>
                      </a:rPr>
                      <m:t>𝜋</m:t>
                    </m:r>
                    <m:sSup>
                      <m:sSupPr>
                        <m:ctrlPr>
                          <a:rPr lang="en-US" b="0" i="1" dirty="0" smtClean="0">
                            <a:solidFill>
                              <a:schemeClr val="accent5">
                                <a:lumMod val="75000"/>
                              </a:schemeClr>
                            </a:solidFill>
                            <a:latin typeface="Cambria Math" panose="02040503050406030204" pitchFamily="18" charset="0"/>
                          </a:rPr>
                        </m:ctrlPr>
                      </m:sSupPr>
                      <m:e>
                        <m:r>
                          <a:rPr lang="en-US" b="0" i="1" dirty="0" smtClean="0">
                            <a:solidFill>
                              <a:schemeClr val="accent5">
                                <a:lumMod val="75000"/>
                              </a:schemeClr>
                            </a:solidFill>
                            <a:latin typeface="Cambria Math" panose="02040503050406030204" pitchFamily="18" charset="0"/>
                          </a:rPr>
                          <m:t>𝑥</m:t>
                        </m:r>
                      </m:e>
                      <m:sup>
                        <m:r>
                          <a:rPr lang="en-US" b="0" i="1" dirty="0" smtClean="0">
                            <a:solidFill>
                              <a:schemeClr val="accent5">
                                <a:lumMod val="75000"/>
                              </a:schemeClr>
                            </a:solidFill>
                            <a:latin typeface="Cambria Math" panose="02040503050406030204" pitchFamily="18" charset="0"/>
                          </a:rPr>
                          <m:t>2</m:t>
                        </m:r>
                      </m:sup>
                    </m:sSup>
                    <m:r>
                      <a:rPr lang="en-US" b="0" i="1" dirty="0" smtClean="0">
                        <a:solidFill>
                          <a:schemeClr val="accent5">
                            <a:lumMod val="75000"/>
                          </a:schemeClr>
                        </a:solidFill>
                        <a:latin typeface="Cambria Math" panose="02040503050406030204" pitchFamily="18" charset="0"/>
                      </a:rPr>
                      <m:t>/</m:t>
                    </m:r>
                    <m:sSup>
                      <m:sSupPr>
                        <m:ctrlPr>
                          <a:rPr lang="en-US" b="0" i="1" dirty="0" smtClean="0">
                            <a:solidFill>
                              <a:schemeClr val="accent5">
                                <a:lumMod val="75000"/>
                              </a:schemeClr>
                            </a:solidFill>
                            <a:latin typeface="Cambria Math" panose="02040503050406030204" pitchFamily="18" charset="0"/>
                          </a:rPr>
                        </m:ctrlPr>
                      </m:sSupPr>
                      <m:e>
                        <m:r>
                          <a:rPr lang="en-US" b="0" i="1" dirty="0" smtClean="0">
                            <a:solidFill>
                              <a:schemeClr val="accent5">
                                <a:lumMod val="75000"/>
                              </a:schemeClr>
                            </a:solidFill>
                            <a:latin typeface="Cambria Math" panose="02040503050406030204" pitchFamily="18" charset="0"/>
                          </a:rPr>
                          <m:t>𝑟</m:t>
                        </m:r>
                      </m:e>
                      <m:sup>
                        <m:r>
                          <a:rPr lang="en-US" b="0" i="1" dirty="0" smtClean="0">
                            <a:solidFill>
                              <a:schemeClr val="accent5">
                                <a:lumMod val="75000"/>
                              </a:schemeClr>
                            </a:solidFill>
                            <a:latin typeface="Cambria Math" panose="02040503050406030204" pitchFamily="18" charset="0"/>
                          </a:rPr>
                          <m:t>2</m:t>
                        </m:r>
                      </m:sup>
                    </m:sSup>
                    <m:r>
                      <a:rPr lang="en-US" b="0" i="1" dirty="0" smtClean="0">
                        <a:solidFill>
                          <a:schemeClr val="accent5">
                            <a:lumMod val="75000"/>
                          </a:schemeClr>
                        </a:solidFill>
                        <a:latin typeface="Cambria Math" panose="02040503050406030204" pitchFamily="18" charset="0"/>
                      </a:rPr>
                      <m:t>)</m:t>
                    </m:r>
                  </m:oMath>
                </a14:m>
                <a:endParaRPr lang="en-US" dirty="0">
                  <a:solidFill>
                    <a:schemeClr val="accent5">
                      <a:lumMod val="75000"/>
                    </a:schemeClr>
                  </a:solidFill>
                </a:endParaRPr>
              </a:p>
              <a:p>
                <a:r>
                  <a:rPr lang="en-US" dirty="0"/>
                  <a:t>Discrete Fourier Transform</a:t>
                </a:r>
              </a:p>
              <a:p>
                <a:pPr lvl="1"/>
                <a:r>
                  <a:rPr lang="en-US" dirty="0"/>
                  <a:t>For </a:t>
                </a:r>
                <a14:m>
                  <m:oMath xmlns:m="http://schemas.openxmlformats.org/officeDocument/2006/math">
                    <m:r>
                      <a:rPr lang="en-US" i="1">
                        <a:solidFill>
                          <a:schemeClr val="accent5">
                            <a:lumMod val="75000"/>
                          </a:schemeClr>
                        </a:solidFill>
                        <a:latin typeface="Cambria Math" panose="02040503050406030204" pitchFamily="18" charset="0"/>
                      </a:rPr>
                      <m:t>𝑓</m:t>
                    </m:r>
                    <m:r>
                      <a:rPr lang="en-US" i="1">
                        <a:solidFill>
                          <a:schemeClr val="accent5">
                            <a:lumMod val="75000"/>
                          </a:schemeClr>
                        </a:solidFill>
                        <a:latin typeface="Cambria Math" panose="02040503050406030204" pitchFamily="18" charset="0"/>
                      </a:rPr>
                      <m:t>:</m:t>
                    </m:r>
                    <m:sSub>
                      <m:sSubPr>
                        <m:ctrlPr>
                          <a:rPr lang="en-US" i="1">
                            <a:solidFill>
                              <a:schemeClr val="accent5">
                                <a:lumMod val="75000"/>
                              </a:schemeClr>
                            </a:solidFill>
                            <a:latin typeface="Cambria Math" panose="02040503050406030204" pitchFamily="18" charset="0"/>
                          </a:rPr>
                        </m:ctrlPr>
                      </m:sSubPr>
                      <m:e>
                        <m:r>
                          <a:rPr lang="en-US" i="1">
                            <a:solidFill>
                              <a:schemeClr val="accent5">
                                <a:lumMod val="75000"/>
                              </a:schemeClr>
                            </a:solidFill>
                            <a:latin typeface="Cambria Math" panose="02040503050406030204" pitchFamily="18" charset="0"/>
                          </a:rPr>
                          <m:t>ℤ</m:t>
                        </m:r>
                      </m:e>
                      <m:sub>
                        <m:r>
                          <a:rPr lang="en-US" i="1">
                            <a:solidFill>
                              <a:schemeClr val="accent5">
                                <a:lumMod val="75000"/>
                              </a:schemeClr>
                            </a:solidFill>
                            <a:latin typeface="Cambria Math" panose="02040503050406030204" pitchFamily="18" charset="0"/>
                          </a:rPr>
                          <m:t>𝑞</m:t>
                        </m:r>
                      </m:sub>
                    </m:sSub>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ℂ</m:t>
                    </m:r>
                  </m:oMath>
                </a14:m>
                <a:r>
                  <a:rPr lang="en-US" dirty="0"/>
                  <a:t>, its discrete </a:t>
                </a:r>
                <a:r>
                  <a:rPr lang="en-US" dirty="0" err="1"/>
                  <a:t>fourier</a:t>
                </a:r>
                <a:r>
                  <a:rPr lang="en-US" dirty="0"/>
                  <a:t> transform: </a:t>
                </a:r>
                <a14:m>
                  <m:oMath xmlns:m="http://schemas.openxmlformats.org/officeDocument/2006/math">
                    <m:acc>
                      <m:accPr>
                        <m:chr m:val="̂"/>
                        <m:ctrlPr>
                          <a:rPr lang="en-US" i="1">
                            <a:solidFill>
                              <a:schemeClr val="accent5">
                                <a:lumMod val="75000"/>
                              </a:schemeClr>
                            </a:solidFill>
                            <a:latin typeface="Cambria Math" panose="02040503050406030204" pitchFamily="18" charset="0"/>
                          </a:rPr>
                        </m:ctrlPr>
                      </m:accPr>
                      <m:e>
                        <m:r>
                          <a:rPr lang="en-US" i="1">
                            <a:solidFill>
                              <a:schemeClr val="accent5">
                                <a:lumMod val="75000"/>
                              </a:schemeClr>
                            </a:solidFill>
                            <a:latin typeface="Cambria Math" panose="02040503050406030204" pitchFamily="18" charset="0"/>
                          </a:rPr>
                          <m:t>𝑓</m:t>
                        </m:r>
                      </m:e>
                    </m:acc>
                    <m:d>
                      <m:dPr>
                        <m:ctrlPr>
                          <a:rPr lang="en-US" i="1" dirty="0">
                            <a:solidFill>
                              <a:schemeClr val="accent5">
                                <a:lumMod val="75000"/>
                              </a:schemeClr>
                            </a:solidFill>
                            <a:latin typeface="Cambria Math" panose="02040503050406030204" pitchFamily="18" charset="0"/>
                          </a:rPr>
                        </m:ctrlPr>
                      </m:dPr>
                      <m:e>
                        <m:r>
                          <a:rPr lang="en-US" i="1" dirty="0">
                            <a:solidFill>
                              <a:schemeClr val="accent5">
                                <a:lumMod val="75000"/>
                              </a:schemeClr>
                            </a:solidFill>
                            <a:latin typeface="Cambria Math" panose="02040503050406030204" pitchFamily="18" charset="0"/>
                          </a:rPr>
                          <m:t>𝑥</m:t>
                        </m:r>
                      </m:e>
                    </m:d>
                    <m:r>
                      <a:rPr lang="en-US" i="1" dirty="0">
                        <a:solidFill>
                          <a:schemeClr val="accent5">
                            <a:lumMod val="75000"/>
                          </a:schemeClr>
                        </a:solidFill>
                        <a:latin typeface="Cambria Math" panose="02040503050406030204" pitchFamily="18" charset="0"/>
                      </a:rPr>
                      <m:t>= </m:t>
                    </m:r>
                    <m:nary>
                      <m:naryPr>
                        <m:chr m:val="∑"/>
                        <m:supHide m:val="on"/>
                        <m:ctrlPr>
                          <a:rPr lang="en-US" i="1" dirty="0">
                            <a:solidFill>
                              <a:schemeClr val="accent5">
                                <a:lumMod val="75000"/>
                              </a:schemeClr>
                            </a:solidFill>
                            <a:latin typeface="Cambria Math" panose="02040503050406030204" pitchFamily="18" charset="0"/>
                          </a:rPr>
                        </m:ctrlPr>
                      </m:naryPr>
                      <m:sub>
                        <m:r>
                          <m:rPr>
                            <m:brk m:alnAt="7"/>
                          </m:rPr>
                          <a:rPr lang="en-US" i="1" dirty="0">
                            <a:solidFill>
                              <a:schemeClr val="accent5">
                                <a:lumMod val="75000"/>
                              </a:schemeClr>
                            </a:solidFill>
                            <a:latin typeface="Cambria Math" panose="02040503050406030204" pitchFamily="18" charset="0"/>
                          </a:rPr>
                          <m:t>𝑦</m:t>
                        </m:r>
                        <m:r>
                          <a:rPr lang="en-US" i="1" dirty="0">
                            <a:solidFill>
                              <a:schemeClr val="accent5">
                                <a:lumMod val="75000"/>
                              </a:schemeClr>
                            </a:solidFill>
                            <a:latin typeface="Cambria Math" panose="02040503050406030204" pitchFamily="18" charset="0"/>
                          </a:rPr>
                          <m:t>∈</m:t>
                        </m:r>
                        <m:sSub>
                          <m:sSubPr>
                            <m:ctrlPr>
                              <a:rPr lang="en-US" i="1" dirty="0">
                                <a:solidFill>
                                  <a:schemeClr val="accent5">
                                    <a:lumMod val="75000"/>
                                  </a:schemeClr>
                                </a:solidFill>
                                <a:latin typeface="Cambria Math" panose="02040503050406030204" pitchFamily="18" charset="0"/>
                              </a:rPr>
                            </m:ctrlPr>
                          </m:sSubPr>
                          <m:e>
                            <m:r>
                              <a:rPr lang="en-US" i="1" dirty="0">
                                <a:solidFill>
                                  <a:schemeClr val="accent5">
                                    <a:lumMod val="75000"/>
                                  </a:schemeClr>
                                </a:solidFill>
                                <a:latin typeface="Cambria Math" panose="02040503050406030204" pitchFamily="18" charset="0"/>
                              </a:rPr>
                              <m:t>ℤ</m:t>
                            </m:r>
                          </m:e>
                          <m:sub>
                            <m:r>
                              <a:rPr lang="en-US" i="1" dirty="0">
                                <a:solidFill>
                                  <a:schemeClr val="accent5">
                                    <a:lumMod val="75000"/>
                                  </a:schemeClr>
                                </a:solidFill>
                                <a:latin typeface="Cambria Math" panose="02040503050406030204" pitchFamily="18" charset="0"/>
                              </a:rPr>
                              <m:t>𝑞</m:t>
                            </m:r>
                          </m:sub>
                        </m:sSub>
                      </m:sub>
                      <m:sup/>
                      <m:e>
                        <m:sSubSup>
                          <m:sSubSupPr>
                            <m:ctrlPr>
                              <a:rPr lang="en-US" i="1" dirty="0">
                                <a:solidFill>
                                  <a:schemeClr val="accent5">
                                    <a:lumMod val="75000"/>
                                  </a:schemeClr>
                                </a:solidFill>
                                <a:latin typeface="Cambria Math" panose="02040503050406030204" pitchFamily="18" charset="0"/>
                              </a:rPr>
                            </m:ctrlPr>
                          </m:sSubSupPr>
                          <m:e>
                            <m:r>
                              <a:rPr lang="en-US" i="1" dirty="0">
                                <a:solidFill>
                                  <a:schemeClr val="accent5">
                                    <a:lumMod val="75000"/>
                                  </a:schemeClr>
                                </a:solidFill>
                                <a:latin typeface="Cambria Math" panose="02040503050406030204" pitchFamily="18" charset="0"/>
                              </a:rPr>
                              <m:t>𝜔</m:t>
                            </m:r>
                          </m:e>
                          <m:sub>
                            <m:r>
                              <a:rPr lang="en-US" i="1" dirty="0">
                                <a:solidFill>
                                  <a:schemeClr val="accent5">
                                    <a:lumMod val="75000"/>
                                  </a:schemeClr>
                                </a:solidFill>
                                <a:latin typeface="Cambria Math" panose="02040503050406030204" pitchFamily="18" charset="0"/>
                              </a:rPr>
                              <m:t>𝑞</m:t>
                            </m:r>
                          </m:sub>
                          <m:sup>
                            <m:r>
                              <a:rPr lang="en-US" i="1" dirty="0">
                                <a:solidFill>
                                  <a:schemeClr val="accent5">
                                    <a:lumMod val="75000"/>
                                  </a:schemeClr>
                                </a:solidFill>
                                <a:latin typeface="Cambria Math" panose="02040503050406030204" pitchFamily="18" charset="0"/>
                              </a:rPr>
                              <m:t>𝑥𝑦</m:t>
                            </m:r>
                          </m:sup>
                        </m:sSubSup>
                        <m:r>
                          <a:rPr lang="en-US" i="1" dirty="0">
                            <a:solidFill>
                              <a:schemeClr val="accent5">
                                <a:lumMod val="75000"/>
                              </a:schemeClr>
                            </a:solidFill>
                            <a:latin typeface="Cambria Math" panose="02040503050406030204" pitchFamily="18" charset="0"/>
                          </a:rPr>
                          <m:t>𝑓</m:t>
                        </m:r>
                        <m:r>
                          <a:rPr lang="en-US" i="1" dirty="0">
                            <a:solidFill>
                              <a:schemeClr val="accent5">
                                <a:lumMod val="75000"/>
                              </a:schemeClr>
                            </a:solidFill>
                            <a:latin typeface="Cambria Math" panose="02040503050406030204" pitchFamily="18" charset="0"/>
                          </a:rPr>
                          <m:t>(</m:t>
                        </m:r>
                        <m:r>
                          <a:rPr lang="en-US" i="1" dirty="0">
                            <a:solidFill>
                              <a:schemeClr val="accent5">
                                <a:lumMod val="75000"/>
                              </a:schemeClr>
                            </a:solidFill>
                            <a:latin typeface="Cambria Math" panose="02040503050406030204" pitchFamily="18" charset="0"/>
                          </a:rPr>
                          <m:t>𝑦</m:t>
                        </m:r>
                        <m:r>
                          <a:rPr lang="en-US" i="1" dirty="0">
                            <a:solidFill>
                              <a:schemeClr val="accent5">
                                <a:lumMod val="75000"/>
                              </a:schemeClr>
                            </a:solidFill>
                            <a:latin typeface="Cambria Math" panose="02040503050406030204" pitchFamily="18" charset="0"/>
                          </a:rPr>
                          <m:t>)</m:t>
                        </m:r>
                      </m:e>
                    </m:nary>
                  </m:oMath>
                </a14:m>
                <a:endParaRPr lang="en-US" i="1" dirty="0">
                  <a:solidFill>
                    <a:schemeClr val="accent5">
                      <a:lumMod val="75000"/>
                    </a:schemeClr>
                  </a:solidFill>
                  <a:latin typeface="Cambria Math" panose="02040503050406030204" pitchFamily="18" charset="0"/>
                </a:endParaRPr>
              </a:p>
              <a:p>
                <a:r>
                  <a:rPr lang="en-US" dirty="0"/>
                  <a:t>Quantum Fourier Transform</a:t>
                </a:r>
              </a:p>
              <a:p>
                <a:pPr lvl="1"/>
                <a14:m>
                  <m:oMath xmlns:m="http://schemas.openxmlformats.org/officeDocument/2006/math">
                    <m:r>
                      <a:rPr lang="en-US" b="0" i="1" smtClean="0">
                        <a:latin typeface="Cambria Math" panose="02040503050406030204" pitchFamily="18" charset="0"/>
                      </a:rPr>
                      <m:t>𝑄𝐹</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𝑞</m:t>
                        </m:r>
                      </m:sub>
                    </m:sSub>
                  </m:oMath>
                </a14:m>
                <a:r>
                  <a:rPr lang="en-US" dirty="0"/>
                  <a:t>: A quantum gate; </a:t>
                </a:r>
                <a14:m>
                  <m:oMath xmlns:m="http://schemas.openxmlformats.org/officeDocument/2006/math">
                    <m:nary>
                      <m:naryPr>
                        <m:chr m:val="∑"/>
                        <m:supHide m:val="on"/>
                        <m:ctrlPr>
                          <a:rPr lang="en-US" i="1">
                            <a:solidFill>
                              <a:schemeClr val="accent5">
                                <a:lumMod val="75000"/>
                              </a:schemeClr>
                            </a:solidFill>
                            <a:latin typeface="Cambria Math" panose="02040503050406030204" pitchFamily="18" charset="0"/>
                          </a:rPr>
                        </m:ctrlPr>
                      </m:naryPr>
                      <m:sub>
                        <m:r>
                          <m:rPr>
                            <m:brk m:alnAt="7"/>
                          </m:rPr>
                          <a:rPr lang="en-US" i="1">
                            <a:solidFill>
                              <a:schemeClr val="accent5">
                                <a:lumMod val="75000"/>
                              </a:schemeClr>
                            </a:solidFill>
                            <a:latin typeface="Cambria Math" panose="02040503050406030204" pitchFamily="18" charset="0"/>
                          </a:rPr>
                          <m:t>𝑥</m:t>
                        </m:r>
                        <m:r>
                          <a:rPr lang="en-US" i="1">
                            <a:solidFill>
                              <a:schemeClr val="accent5">
                                <a:lumMod val="75000"/>
                              </a:schemeClr>
                            </a:solidFill>
                            <a:latin typeface="Cambria Math" panose="02040503050406030204" pitchFamily="18" charset="0"/>
                          </a:rPr>
                          <m:t>∈</m:t>
                        </m:r>
                        <m:sSub>
                          <m:sSubPr>
                            <m:ctrlPr>
                              <a:rPr lang="en-US" i="1">
                                <a:solidFill>
                                  <a:schemeClr val="accent5">
                                    <a:lumMod val="75000"/>
                                  </a:schemeClr>
                                </a:solidFill>
                                <a:latin typeface="Cambria Math" panose="02040503050406030204" pitchFamily="18" charset="0"/>
                              </a:rPr>
                            </m:ctrlPr>
                          </m:sSubPr>
                          <m:e>
                            <m:r>
                              <a:rPr lang="en-US" i="1">
                                <a:solidFill>
                                  <a:schemeClr val="accent5">
                                    <a:lumMod val="75000"/>
                                  </a:schemeClr>
                                </a:solidFill>
                                <a:latin typeface="Cambria Math" panose="02040503050406030204" pitchFamily="18" charset="0"/>
                              </a:rPr>
                              <m:t>ℤ</m:t>
                            </m:r>
                          </m:e>
                          <m:sub>
                            <m:r>
                              <a:rPr lang="en-US" i="1">
                                <a:solidFill>
                                  <a:schemeClr val="accent5">
                                    <a:lumMod val="75000"/>
                                  </a:schemeClr>
                                </a:solidFill>
                                <a:latin typeface="Cambria Math" panose="02040503050406030204" pitchFamily="18" charset="0"/>
                              </a:rPr>
                              <m:t>𝑞</m:t>
                            </m:r>
                          </m:sub>
                        </m:sSub>
                      </m:sub>
                      <m:sup/>
                      <m:e>
                        <m:r>
                          <a:rPr lang="en-US" i="1">
                            <a:solidFill>
                              <a:schemeClr val="accent5">
                                <a:lumMod val="75000"/>
                              </a:schemeClr>
                            </a:solidFill>
                            <a:latin typeface="Cambria Math" panose="02040503050406030204" pitchFamily="18" charset="0"/>
                          </a:rPr>
                          <m:t>𝑓</m:t>
                        </m:r>
                        <m:d>
                          <m:dPr>
                            <m:ctrlPr>
                              <a:rPr lang="en-US" i="1">
                                <a:solidFill>
                                  <a:schemeClr val="accent5">
                                    <a:lumMod val="75000"/>
                                  </a:schemeClr>
                                </a:solidFill>
                                <a:latin typeface="Cambria Math" panose="02040503050406030204" pitchFamily="18" charset="0"/>
                              </a:rPr>
                            </m:ctrlPr>
                          </m:dPr>
                          <m:e>
                            <m:r>
                              <a:rPr lang="en-US" i="1">
                                <a:solidFill>
                                  <a:schemeClr val="accent5">
                                    <a:lumMod val="75000"/>
                                  </a:schemeClr>
                                </a:solidFill>
                                <a:latin typeface="Cambria Math" panose="02040503050406030204" pitchFamily="18" charset="0"/>
                              </a:rPr>
                              <m:t>𝑥</m:t>
                            </m:r>
                          </m:e>
                        </m:d>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𝑥</m:t>
                        </m:r>
                        <m:r>
                          <a:rPr lang="en-US" i="1">
                            <a:solidFill>
                              <a:schemeClr val="accent5">
                                <a:lumMod val="75000"/>
                              </a:schemeClr>
                            </a:solidFill>
                            <a:latin typeface="Cambria Math" panose="02040503050406030204" pitchFamily="18" charset="0"/>
                          </a:rPr>
                          <m:t>⟩</m:t>
                        </m:r>
                      </m:e>
                    </m:nary>
                  </m:oMath>
                </a14:m>
                <a:r>
                  <a:rPr lang="en-US" i="1" dirty="0">
                    <a:solidFill>
                      <a:schemeClr val="accent5">
                        <a:lumMod val="75000"/>
                      </a:schemeClr>
                    </a:solidFill>
                    <a:latin typeface="Cambria Math" panose="02040503050406030204" pitchFamily="18" charset="0"/>
                  </a:rPr>
                  <a:t>  </a:t>
                </a:r>
                <a14:m>
                  <m:oMath xmlns:m="http://schemas.openxmlformats.org/officeDocument/2006/math">
                    <m:groupChr>
                      <m:groupChrPr>
                        <m:chr m:val="→"/>
                        <m:vertJc m:val="bot"/>
                        <m:ctrlPr>
                          <a:rPr lang="en-US" i="1" dirty="0">
                            <a:solidFill>
                              <a:schemeClr val="accent5">
                                <a:lumMod val="75000"/>
                              </a:schemeClr>
                            </a:solidFill>
                            <a:latin typeface="Cambria Math" panose="02040503050406030204" pitchFamily="18" charset="0"/>
                          </a:rPr>
                        </m:ctrlPr>
                      </m:groupChrPr>
                      <m:e>
                        <m:r>
                          <m:rPr>
                            <m:brk m:alnAt="2"/>
                          </m:rPr>
                          <a:rPr lang="en-US" i="1" dirty="0">
                            <a:solidFill>
                              <a:schemeClr val="accent5">
                                <a:lumMod val="75000"/>
                              </a:schemeClr>
                            </a:solidFill>
                            <a:latin typeface="Cambria Math" panose="02040503050406030204" pitchFamily="18" charset="0"/>
                          </a:rPr>
                          <m:t>𝑄</m:t>
                        </m:r>
                        <m:r>
                          <a:rPr lang="en-US" i="1" dirty="0">
                            <a:solidFill>
                              <a:schemeClr val="accent5">
                                <a:lumMod val="75000"/>
                              </a:schemeClr>
                            </a:solidFill>
                            <a:latin typeface="Cambria Math" panose="02040503050406030204" pitchFamily="18" charset="0"/>
                          </a:rPr>
                          <m:t>𝐹</m:t>
                        </m:r>
                        <m:sSub>
                          <m:sSubPr>
                            <m:ctrlPr>
                              <a:rPr lang="en-US" i="1" dirty="0">
                                <a:solidFill>
                                  <a:schemeClr val="accent5">
                                    <a:lumMod val="75000"/>
                                  </a:schemeClr>
                                </a:solidFill>
                                <a:latin typeface="Cambria Math" panose="02040503050406030204" pitchFamily="18" charset="0"/>
                              </a:rPr>
                            </m:ctrlPr>
                          </m:sSubPr>
                          <m:e>
                            <m:r>
                              <m:rPr>
                                <m:brk m:alnAt="2"/>
                              </m:rPr>
                              <a:rPr lang="en-US" i="1" dirty="0">
                                <a:solidFill>
                                  <a:schemeClr val="accent5">
                                    <a:lumMod val="75000"/>
                                  </a:schemeClr>
                                </a:solidFill>
                                <a:latin typeface="Cambria Math" panose="02040503050406030204" pitchFamily="18" charset="0"/>
                              </a:rPr>
                              <m:t>𝑇</m:t>
                            </m:r>
                          </m:e>
                          <m:sub>
                            <m:r>
                              <m:rPr>
                                <m:brk m:alnAt="2"/>
                              </m:rPr>
                              <a:rPr lang="en-US" i="1" dirty="0">
                                <a:solidFill>
                                  <a:schemeClr val="accent5">
                                    <a:lumMod val="75000"/>
                                  </a:schemeClr>
                                </a:solidFill>
                                <a:latin typeface="Cambria Math" panose="02040503050406030204" pitchFamily="18" charset="0"/>
                              </a:rPr>
                              <m:t>𝑞</m:t>
                            </m:r>
                          </m:sub>
                        </m:sSub>
                        <m:r>
                          <m:rPr>
                            <m:brk m:alnAt="2"/>
                          </m:rPr>
                          <a:rPr lang="en-US" i="1" dirty="0">
                            <a:solidFill>
                              <a:schemeClr val="accent5">
                                <a:lumMod val="75000"/>
                              </a:schemeClr>
                            </a:solidFill>
                            <a:latin typeface="Cambria Math" panose="02040503050406030204" pitchFamily="18" charset="0"/>
                          </a:rPr>
                          <m:t> </m:t>
                        </m:r>
                      </m:e>
                    </m:groupChr>
                    <m:r>
                      <a:rPr lang="en-US" i="1" dirty="0">
                        <a:solidFill>
                          <a:schemeClr val="accent5">
                            <a:lumMod val="75000"/>
                          </a:schemeClr>
                        </a:solidFill>
                        <a:latin typeface="Cambria Math" panose="02040503050406030204" pitchFamily="18" charset="0"/>
                      </a:rPr>
                      <m:t> </m:t>
                    </m:r>
                    <m:nary>
                      <m:naryPr>
                        <m:chr m:val="∑"/>
                        <m:supHide m:val="on"/>
                        <m:ctrlPr>
                          <a:rPr lang="en-US" i="1">
                            <a:solidFill>
                              <a:schemeClr val="accent5">
                                <a:lumMod val="75000"/>
                              </a:schemeClr>
                            </a:solidFill>
                            <a:latin typeface="Cambria Math" panose="02040503050406030204" pitchFamily="18" charset="0"/>
                          </a:rPr>
                        </m:ctrlPr>
                      </m:naryPr>
                      <m:sub>
                        <m:r>
                          <a:rPr lang="en-US" i="1">
                            <a:solidFill>
                              <a:schemeClr val="accent5">
                                <a:lumMod val="75000"/>
                              </a:schemeClr>
                            </a:solidFill>
                            <a:latin typeface="Cambria Math" panose="02040503050406030204" pitchFamily="18" charset="0"/>
                          </a:rPr>
                          <m:t>𝑦</m:t>
                        </m:r>
                        <m:r>
                          <a:rPr lang="en-US" i="1">
                            <a:solidFill>
                              <a:schemeClr val="accent5">
                                <a:lumMod val="75000"/>
                              </a:schemeClr>
                            </a:solidFill>
                            <a:latin typeface="Cambria Math" panose="02040503050406030204" pitchFamily="18" charset="0"/>
                          </a:rPr>
                          <m:t>∈</m:t>
                        </m:r>
                        <m:sSub>
                          <m:sSubPr>
                            <m:ctrlPr>
                              <a:rPr lang="en-US" i="1">
                                <a:solidFill>
                                  <a:schemeClr val="accent5">
                                    <a:lumMod val="75000"/>
                                  </a:schemeClr>
                                </a:solidFill>
                                <a:latin typeface="Cambria Math" panose="02040503050406030204" pitchFamily="18" charset="0"/>
                              </a:rPr>
                            </m:ctrlPr>
                          </m:sSubPr>
                          <m:e>
                            <m:r>
                              <a:rPr lang="en-US" i="1">
                                <a:solidFill>
                                  <a:schemeClr val="accent5">
                                    <a:lumMod val="75000"/>
                                  </a:schemeClr>
                                </a:solidFill>
                                <a:latin typeface="Cambria Math" panose="02040503050406030204" pitchFamily="18" charset="0"/>
                              </a:rPr>
                              <m:t>ℤ</m:t>
                            </m:r>
                          </m:e>
                          <m:sub>
                            <m:r>
                              <a:rPr lang="en-US" i="1">
                                <a:solidFill>
                                  <a:schemeClr val="accent5">
                                    <a:lumMod val="75000"/>
                                  </a:schemeClr>
                                </a:solidFill>
                                <a:latin typeface="Cambria Math" panose="02040503050406030204" pitchFamily="18" charset="0"/>
                              </a:rPr>
                              <m:t>𝑞</m:t>
                            </m:r>
                          </m:sub>
                        </m:sSub>
                      </m:sub>
                      <m:sup/>
                      <m:e>
                        <m:acc>
                          <m:accPr>
                            <m:chr m:val="̂"/>
                            <m:ctrlPr>
                              <a:rPr lang="en-US" i="1" dirty="0">
                                <a:solidFill>
                                  <a:schemeClr val="accent5">
                                    <a:lumMod val="75000"/>
                                  </a:schemeClr>
                                </a:solidFill>
                                <a:latin typeface="Cambria Math" panose="02040503050406030204" pitchFamily="18" charset="0"/>
                              </a:rPr>
                            </m:ctrlPr>
                          </m:accPr>
                          <m:e>
                            <m:r>
                              <a:rPr lang="en-US" i="1">
                                <a:solidFill>
                                  <a:schemeClr val="accent5">
                                    <a:lumMod val="75000"/>
                                  </a:schemeClr>
                                </a:solidFill>
                                <a:latin typeface="Cambria Math" panose="02040503050406030204" pitchFamily="18" charset="0"/>
                              </a:rPr>
                              <m:t>𝑓</m:t>
                            </m:r>
                          </m:e>
                        </m:acc>
                        <m:d>
                          <m:dPr>
                            <m:ctrlPr>
                              <a:rPr lang="en-US" i="1">
                                <a:solidFill>
                                  <a:schemeClr val="accent5">
                                    <a:lumMod val="75000"/>
                                  </a:schemeClr>
                                </a:solidFill>
                                <a:latin typeface="Cambria Math" panose="02040503050406030204" pitchFamily="18" charset="0"/>
                              </a:rPr>
                            </m:ctrlPr>
                          </m:dPr>
                          <m:e>
                            <m:r>
                              <a:rPr lang="en-US" i="1">
                                <a:solidFill>
                                  <a:schemeClr val="accent5">
                                    <a:lumMod val="75000"/>
                                  </a:schemeClr>
                                </a:solidFill>
                                <a:latin typeface="Cambria Math" panose="02040503050406030204" pitchFamily="18" charset="0"/>
                              </a:rPr>
                              <m:t>𝑦</m:t>
                            </m:r>
                          </m:e>
                        </m:d>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𝑦</m:t>
                        </m:r>
                        <m:r>
                          <a:rPr lang="en-US" i="1">
                            <a:solidFill>
                              <a:schemeClr val="accent5">
                                <a:lumMod val="75000"/>
                              </a:schemeClr>
                            </a:solidFill>
                            <a:latin typeface="Cambria Math" panose="02040503050406030204" pitchFamily="18" charset="0"/>
                          </a:rPr>
                          <m:t>⟩</m:t>
                        </m:r>
                      </m:e>
                    </m:nary>
                  </m:oMath>
                </a14:m>
                <a:endParaRPr lang="en-US" i="1" dirty="0">
                  <a:solidFill>
                    <a:schemeClr val="accent5">
                      <a:lumMod val="75000"/>
                    </a:schemeClr>
                  </a:solidFill>
                  <a:latin typeface="Cambria Math" panose="02040503050406030204" pitchFamily="18" charset="0"/>
                </a:endParaRPr>
              </a:p>
              <a:p>
                <a:pPr lvl="1"/>
                <a:r>
                  <a:rPr lang="en-US" dirty="0"/>
                  <a:t>Efficient to implement: uses </a:t>
                </a:r>
                <a14:m>
                  <m:oMath xmlns:m="http://schemas.openxmlformats.org/officeDocument/2006/math">
                    <m:r>
                      <a:rPr lang="en-US" i="1">
                        <a:solidFill>
                          <a:schemeClr val="accent5">
                            <a:lumMod val="75000"/>
                          </a:schemeClr>
                        </a:solidFill>
                        <a:latin typeface="Cambria Math" panose="02040503050406030204" pitchFamily="18" charset="0"/>
                      </a:rPr>
                      <m:t>𝑝𝑜𝑙𝑦</m:t>
                    </m:r>
                    <m:func>
                      <m:funcPr>
                        <m:ctrlPr>
                          <a:rPr lang="en-US" i="1">
                            <a:solidFill>
                              <a:schemeClr val="accent5">
                                <a:lumMod val="75000"/>
                              </a:schemeClr>
                            </a:solidFill>
                            <a:latin typeface="Cambria Math" panose="02040503050406030204" pitchFamily="18" charset="0"/>
                          </a:rPr>
                        </m:ctrlPr>
                      </m:funcPr>
                      <m:fName>
                        <m:r>
                          <m:rPr>
                            <m:sty m:val="p"/>
                          </m:rPr>
                          <a:rPr lang="en-US" i="1">
                            <a:solidFill>
                              <a:schemeClr val="accent5">
                                <a:lumMod val="75000"/>
                              </a:schemeClr>
                            </a:solidFill>
                            <a:latin typeface="Cambria Math" panose="02040503050406030204" pitchFamily="18" charset="0"/>
                          </a:rPr>
                          <m:t>log</m:t>
                        </m:r>
                      </m:fName>
                      <m:e>
                        <m:r>
                          <a:rPr lang="en-US" i="1">
                            <a:solidFill>
                              <a:schemeClr val="accent5">
                                <a:lumMod val="75000"/>
                              </a:schemeClr>
                            </a:solidFill>
                            <a:latin typeface="Cambria Math" panose="02040503050406030204" pitchFamily="18" charset="0"/>
                          </a:rPr>
                          <m:t>𝑞</m:t>
                        </m:r>
                      </m:e>
                    </m:func>
                  </m:oMath>
                </a14:m>
                <a:r>
                  <a:rPr lang="en-US" dirty="0"/>
                  <a:t> gates</a:t>
                </a:r>
              </a:p>
              <a:p>
                <a:r>
                  <a:rPr lang="en-US" dirty="0"/>
                  <a:t>Poisson Summation Formula</a:t>
                </a:r>
              </a:p>
              <a:p>
                <a:pPr lvl="1"/>
                <a14:m>
                  <m:oMath xmlns:m="http://schemas.openxmlformats.org/officeDocument/2006/math">
                    <m:r>
                      <a:rPr lang="en-US" i="1">
                        <a:solidFill>
                          <a:schemeClr val="accent5">
                            <a:lumMod val="75000"/>
                          </a:schemeClr>
                        </a:solidFill>
                        <a:latin typeface="Cambria Math" panose="02040503050406030204" pitchFamily="18" charset="0"/>
                      </a:rPr>
                      <m:t>𝜌</m:t>
                    </m:r>
                    <m:d>
                      <m:dPr>
                        <m:ctrlPr>
                          <a:rPr lang="en-US" i="1">
                            <a:solidFill>
                              <a:schemeClr val="accent5">
                                <a:lumMod val="75000"/>
                              </a:schemeClr>
                            </a:solidFill>
                            <a:latin typeface="Cambria Math" panose="02040503050406030204" pitchFamily="18" charset="0"/>
                          </a:rPr>
                        </m:ctrlPr>
                      </m:dPr>
                      <m:e>
                        <m:r>
                          <a:rPr lang="en-US" i="1">
                            <a:solidFill>
                              <a:schemeClr val="accent5">
                                <a:lumMod val="75000"/>
                              </a:schemeClr>
                            </a:solidFill>
                            <a:latin typeface="Cambria Math" panose="02040503050406030204" pitchFamily="18" charset="0"/>
                          </a:rPr>
                          <m:t>ℤ</m:t>
                        </m:r>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𝑢</m:t>
                        </m:r>
                      </m:e>
                    </m:d>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𝑟</m:t>
                    </m:r>
                    <m:nary>
                      <m:naryPr>
                        <m:chr m:val="∑"/>
                        <m:supHide m:val="on"/>
                        <m:ctrlPr>
                          <a:rPr lang="en-US" i="1">
                            <a:solidFill>
                              <a:schemeClr val="accent5">
                                <a:lumMod val="75000"/>
                              </a:schemeClr>
                            </a:solidFill>
                            <a:latin typeface="Cambria Math" panose="02040503050406030204" pitchFamily="18" charset="0"/>
                          </a:rPr>
                        </m:ctrlPr>
                      </m:naryPr>
                      <m:sub>
                        <m:r>
                          <m:rPr>
                            <m:brk m:alnAt="7"/>
                          </m:rPr>
                          <a:rPr lang="en-US" i="1">
                            <a:solidFill>
                              <a:schemeClr val="accent5">
                                <a:lumMod val="75000"/>
                              </a:schemeClr>
                            </a:solidFill>
                            <a:latin typeface="Cambria Math" panose="02040503050406030204" pitchFamily="18" charset="0"/>
                          </a:rPr>
                          <m:t>𝑥</m:t>
                        </m:r>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ℤ</m:t>
                        </m:r>
                      </m:sub>
                      <m:sup/>
                      <m:e>
                        <m:func>
                          <m:funcPr>
                            <m:ctrlPr>
                              <a:rPr lang="en-US" i="1">
                                <a:solidFill>
                                  <a:schemeClr val="accent5">
                                    <a:lumMod val="75000"/>
                                  </a:schemeClr>
                                </a:solidFill>
                                <a:latin typeface="Cambria Math" panose="02040503050406030204" pitchFamily="18" charset="0"/>
                              </a:rPr>
                            </m:ctrlPr>
                          </m:funcPr>
                          <m:fName>
                            <m:r>
                              <m:rPr>
                                <m:sty m:val="p"/>
                              </m:rPr>
                              <a:rPr lang="en-US" i="1">
                                <a:solidFill>
                                  <a:schemeClr val="accent5">
                                    <a:lumMod val="75000"/>
                                  </a:schemeClr>
                                </a:solidFill>
                                <a:latin typeface="Cambria Math" panose="02040503050406030204" pitchFamily="18" charset="0"/>
                              </a:rPr>
                              <m:t>exp</m:t>
                            </m:r>
                          </m:fName>
                          <m:e>
                            <m:d>
                              <m:dPr>
                                <m:ctrlPr>
                                  <a:rPr lang="en-US" i="1">
                                    <a:solidFill>
                                      <a:schemeClr val="accent5">
                                        <a:lumMod val="75000"/>
                                      </a:schemeClr>
                                    </a:solidFill>
                                    <a:latin typeface="Cambria Math" panose="02040503050406030204" pitchFamily="18" charset="0"/>
                                  </a:rPr>
                                </m:ctrlPr>
                              </m:dPr>
                              <m:e>
                                <m:r>
                                  <a:rPr lang="en-US" i="1">
                                    <a:solidFill>
                                      <a:schemeClr val="accent5">
                                        <a:lumMod val="75000"/>
                                      </a:schemeClr>
                                    </a:solidFill>
                                    <a:latin typeface="Cambria Math" panose="02040503050406030204" pitchFamily="18" charset="0"/>
                                  </a:rPr>
                                  <m:t>2</m:t>
                                </m:r>
                                <m:r>
                                  <a:rPr lang="en-US" i="1">
                                    <a:solidFill>
                                      <a:schemeClr val="accent5">
                                        <a:lumMod val="75000"/>
                                      </a:schemeClr>
                                    </a:solidFill>
                                    <a:latin typeface="Cambria Math" panose="02040503050406030204" pitchFamily="18" charset="0"/>
                                  </a:rPr>
                                  <m:t>𝜋𝜄</m:t>
                                </m:r>
                                <m:r>
                                  <a:rPr lang="en-US" i="1">
                                    <a:solidFill>
                                      <a:schemeClr val="accent5">
                                        <a:lumMod val="75000"/>
                                      </a:schemeClr>
                                    </a:solidFill>
                                    <a:latin typeface="Cambria Math" panose="02040503050406030204" pitchFamily="18" charset="0"/>
                                  </a:rPr>
                                  <m:t>𝑥𝑢</m:t>
                                </m:r>
                              </m:e>
                            </m:d>
                          </m:e>
                        </m:func>
                        <m:sSub>
                          <m:sSubPr>
                            <m:ctrlPr>
                              <a:rPr lang="en-US" i="1">
                                <a:solidFill>
                                  <a:schemeClr val="accent5">
                                    <a:lumMod val="75000"/>
                                  </a:schemeClr>
                                </a:solidFill>
                                <a:latin typeface="Cambria Math" panose="02040503050406030204" pitchFamily="18" charset="0"/>
                              </a:rPr>
                            </m:ctrlPr>
                          </m:sSubPr>
                          <m:e>
                            <m:r>
                              <a:rPr lang="en-US" i="1">
                                <a:solidFill>
                                  <a:schemeClr val="accent5">
                                    <a:lumMod val="75000"/>
                                  </a:schemeClr>
                                </a:solidFill>
                                <a:latin typeface="Cambria Math" panose="02040503050406030204" pitchFamily="18" charset="0"/>
                              </a:rPr>
                              <m:t>𝜌</m:t>
                            </m:r>
                          </m:e>
                          <m:sub>
                            <m:r>
                              <a:rPr lang="en-US" i="1">
                                <a:solidFill>
                                  <a:schemeClr val="accent5">
                                    <a:lumMod val="75000"/>
                                  </a:schemeClr>
                                </a:solidFill>
                                <a:latin typeface="Cambria Math" panose="02040503050406030204" pitchFamily="18" charset="0"/>
                              </a:rPr>
                              <m:t>1/</m:t>
                            </m:r>
                            <m:r>
                              <a:rPr lang="en-US" i="1">
                                <a:solidFill>
                                  <a:schemeClr val="accent5">
                                    <a:lumMod val="75000"/>
                                  </a:schemeClr>
                                </a:solidFill>
                                <a:latin typeface="Cambria Math" panose="02040503050406030204" pitchFamily="18" charset="0"/>
                              </a:rPr>
                              <m:t>𝑟</m:t>
                            </m:r>
                          </m:sub>
                        </m:sSub>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𝑥</m:t>
                        </m:r>
                        <m:r>
                          <a:rPr lang="en-US" i="1">
                            <a:solidFill>
                              <a:schemeClr val="accent5">
                                <a:lumMod val="75000"/>
                              </a:schemeClr>
                            </a:solidFill>
                            <a:latin typeface="Cambria Math" panose="02040503050406030204" pitchFamily="18" charset="0"/>
                          </a:rPr>
                          <m:t>)</m:t>
                        </m:r>
                      </m:e>
                    </m:nary>
                  </m:oMath>
                </a14:m>
                <a:endParaRPr lang="en-US" i="1" dirty="0">
                  <a:solidFill>
                    <a:schemeClr val="accent5">
                      <a:lumMod val="75000"/>
                    </a:schemeClr>
                  </a:solidFill>
                  <a:latin typeface="Cambria Math" panose="02040503050406030204" pitchFamily="18" charset="0"/>
                </a:endParaRPr>
              </a:p>
              <a:p>
                <a:r>
                  <a:rPr lang="en-US" dirty="0"/>
                  <a:t>Gaussian state preparation</a:t>
                </a:r>
              </a:p>
              <a:p>
                <a:pPr lvl="1"/>
                <a:r>
                  <a:rPr lang="en-US" dirty="0"/>
                  <a:t>We can efficiently prepare a state close to </a:t>
                </a:r>
                <a14:m>
                  <m:oMath xmlns:m="http://schemas.openxmlformats.org/officeDocument/2006/math">
                    <m:nary>
                      <m:naryPr>
                        <m:chr m:val="∑"/>
                        <m:supHide m:val="on"/>
                        <m:ctrlPr>
                          <a:rPr lang="en-US" i="1">
                            <a:solidFill>
                              <a:schemeClr val="accent5">
                                <a:lumMod val="75000"/>
                              </a:schemeClr>
                            </a:solidFill>
                            <a:latin typeface="Cambria Math" panose="02040503050406030204" pitchFamily="18" charset="0"/>
                          </a:rPr>
                        </m:ctrlPr>
                      </m:naryPr>
                      <m:sub>
                        <m:r>
                          <m:rPr>
                            <m:brk m:alnAt="7"/>
                          </m:rPr>
                          <a:rPr lang="en-US" i="1">
                            <a:solidFill>
                              <a:schemeClr val="accent5">
                                <a:lumMod val="75000"/>
                              </a:schemeClr>
                            </a:solidFill>
                            <a:latin typeface="Cambria Math" panose="02040503050406030204" pitchFamily="18" charset="0"/>
                          </a:rPr>
                          <m:t>𝑥</m:t>
                        </m:r>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ℤ</m:t>
                        </m:r>
                      </m:sub>
                      <m:sup/>
                      <m:e>
                        <m:sSub>
                          <m:sSubPr>
                            <m:ctrlPr>
                              <a:rPr lang="en-US" i="1">
                                <a:solidFill>
                                  <a:schemeClr val="accent5">
                                    <a:lumMod val="75000"/>
                                  </a:schemeClr>
                                </a:solidFill>
                                <a:latin typeface="Cambria Math" panose="02040503050406030204" pitchFamily="18" charset="0"/>
                              </a:rPr>
                            </m:ctrlPr>
                          </m:sSubPr>
                          <m:e>
                            <m:r>
                              <a:rPr lang="en-US" i="1">
                                <a:solidFill>
                                  <a:schemeClr val="accent5">
                                    <a:lumMod val="75000"/>
                                  </a:schemeClr>
                                </a:solidFill>
                                <a:latin typeface="Cambria Math" panose="02040503050406030204" pitchFamily="18" charset="0"/>
                              </a:rPr>
                              <m:t>𝜌</m:t>
                            </m:r>
                          </m:e>
                          <m:sub>
                            <m:r>
                              <a:rPr lang="en-US" i="1">
                                <a:solidFill>
                                  <a:schemeClr val="accent5">
                                    <a:lumMod val="75000"/>
                                  </a:schemeClr>
                                </a:solidFill>
                                <a:latin typeface="Cambria Math" panose="02040503050406030204" pitchFamily="18" charset="0"/>
                              </a:rPr>
                              <m:t>𝑟</m:t>
                            </m:r>
                          </m:sub>
                        </m:sSub>
                        <m:d>
                          <m:dPr>
                            <m:ctrlPr>
                              <a:rPr lang="en-US" i="1">
                                <a:solidFill>
                                  <a:schemeClr val="accent5">
                                    <a:lumMod val="75000"/>
                                  </a:schemeClr>
                                </a:solidFill>
                                <a:latin typeface="Cambria Math" panose="02040503050406030204" pitchFamily="18" charset="0"/>
                              </a:rPr>
                            </m:ctrlPr>
                          </m:dPr>
                          <m:e>
                            <m:r>
                              <a:rPr lang="en-US" i="1">
                                <a:solidFill>
                                  <a:schemeClr val="accent5">
                                    <a:lumMod val="75000"/>
                                  </a:schemeClr>
                                </a:solidFill>
                                <a:latin typeface="Cambria Math" panose="02040503050406030204" pitchFamily="18" charset="0"/>
                              </a:rPr>
                              <m:t>𝑥</m:t>
                            </m:r>
                          </m:e>
                        </m:d>
                        <m:r>
                          <a:rPr lang="en-US" i="1">
                            <a:solidFill>
                              <a:schemeClr val="accent5">
                                <a:lumMod val="75000"/>
                              </a:schemeClr>
                            </a:solidFill>
                            <a:latin typeface="Cambria Math" panose="02040503050406030204" pitchFamily="18" charset="0"/>
                          </a:rPr>
                          <m:t>|</m:t>
                        </m:r>
                        <m:r>
                          <a:rPr lang="en-US" i="1">
                            <a:solidFill>
                              <a:schemeClr val="accent5">
                                <a:lumMod val="75000"/>
                              </a:schemeClr>
                            </a:solidFill>
                            <a:latin typeface="Cambria Math" panose="02040503050406030204" pitchFamily="18" charset="0"/>
                          </a:rPr>
                          <m:t>𝑥</m:t>
                        </m:r>
                        <m:r>
                          <a:rPr lang="en-US" i="1">
                            <a:solidFill>
                              <a:schemeClr val="accent5">
                                <a:lumMod val="75000"/>
                              </a:schemeClr>
                            </a:solidFill>
                            <a:latin typeface="Cambria Math" panose="02040503050406030204" pitchFamily="18" charset="0"/>
                          </a:rPr>
                          <m:t>⟩</m:t>
                        </m:r>
                      </m:e>
                    </m:nary>
                  </m:oMath>
                </a14:m>
                <a:endParaRPr lang="en-US" i="1" dirty="0">
                  <a:solidFill>
                    <a:schemeClr val="accent5">
                      <a:lumMod val="75000"/>
                    </a:schemeClr>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30E2C3AD-351A-B68A-EDEB-B3BC5766B098}"/>
                  </a:ext>
                </a:extLst>
              </p:cNvPr>
              <p:cNvSpPr>
                <a:spLocks noGrp="1" noRot="1" noChangeAspect="1" noMove="1" noResize="1" noEditPoints="1" noAdjustHandles="1" noChangeArrowheads="1" noChangeShapeType="1" noTextEdit="1"/>
              </p:cNvSpPr>
              <p:nvPr>
                <p:ph idx="1"/>
              </p:nvPr>
            </p:nvSpPr>
            <p:spPr>
              <a:xfrm>
                <a:off x="838200" y="1825624"/>
                <a:ext cx="10515600" cy="4838411"/>
              </a:xfrm>
              <a:blipFill>
                <a:blip r:embed="rId2"/>
                <a:stretch>
                  <a:fillRect l="-965" t="-2356" b="-10209"/>
                </a:stretch>
              </a:blipFill>
            </p:spPr>
            <p:txBody>
              <a:bodyPr/>
              <a:lstStyle/>
              <a:p>
                <a:r>
                  <a:rPr lang="en-US">
                    <a:noFill/>
                  </a:rPr>
                  <a:t> </a:t>
                </a:r>
              </a:p>
            </p:txBody>
          </p:sp>
        </mc:Fallback>
      </mc:AlternateContent>
    </p:spTree>
    <p:extLst>
      <p:ext uri="{BB962C8B-B14F-4D97-AF65-F5344CB8AC3E}">
        <p14:creationId xmlns:p14="http://schemas.microsoft.com/office/powerpoint/2010/main" val="155806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4370-C916-BE5D-566B-6FF87D3B7B61}"/>
              </a:ext>
            </a:extLst>
          </p:cNvPr>
          <p:cNvSpPr>
            <a:spLocks noGrp="1"/>
          </p:cNvSpPr>
          <p:nvPr>
            <p:ph type="title"/>
          </p:nvPr>
        </p:nvSpPr>
        <p:spPr/>
        <p:txBody>
          <a:bodyPr/>
          <a:lstStyle/>
          <a:p>
            <a:r>
              <a:rPr lang="en-US" dirty="0"/>
              <a:t>Hidden Subgroup Problem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4FD8E60-3C4A-D1F6-DA19-F66292DAEE4F}"/>
                  </a:ext>
                </a:extLst>
              </p:cNvPr>
              <p:cNvSpPr txBox="1"/>
              <p:nvPr/>
            </p:nvSpPr>
            <p:spPr>
              <a:xfrm>
                <a:off x="838200" y="1506022"/>
                <a:ext cx="5257800" cy="1938992"/>
              </a:xfrm>
              <a:prstGeom prst="rect">
                <a:avLst/>
              </a:prstGeom>
              <a:noFill/>
            </p:spPr>
            <p:txBody>
              <a:bodyPr wrap="square" rtlCol="0">
                <a:spAutoFit/>
              </a:bodyPr>
              <a:lstStyle/>
              <a:p>
                <a:r>
                  <a:rPr lang="en-US" sz="2400" dirty="0"/>
                  <a:t>Given: </a:t>
                </a:r>
              </a:p>
              <a:p>
                <a:pPr marL="285750" indent="-285750">
                  <a:buFont typeface="Arial" panose="020B0604020202020204" pitchFamily="34" charset="0"/>
                  <a:buChar char="•"/>
                </a:pPr>
                <a:r>
                  <a:rPr lang="en-US" sz="2400" dirty="0"/>
                  <a:t>A group </a:t>
                </a:r>
                <a14:m>
                  <m:oMath xmlns:m="http://schemas.openxmlformats.org/officeDocument/2006/math">
                    <m:r>
                      <a:rPr lang="en-US" sz="2400" b="0" i="1" smtClean="0">
                        <a:solidFill>
                          <a:schemeClr val="accent5">
                            <a:lumMod val="75000"/>
                          </a:schemeClr>
                        </a:solidFill>
                        <a:latin typeface="Cambria Math" panose="02040503050406030204" pitchFamily="18" charset="0"/>
                      </a:rPr>
                      <m:t>𝐺</m:t>
                    </m:r>
                  </m:oMath>
                </a14:m>
                <a:r>
                  <a:rPr lang="en-US" sz="2400" dirty="0"/>
                  <a:t> (its generators)</a:t>
                </a:r>
              </a:p>
              <a:p>
                <a:pPr marL="285750" indent="-285750">
                  <a:buFont typeface="Arial" panose="020B0604020202020204" pitchFamily="34" charset="0"/>
                  <a:buChar char="•"/>
                </a:pPr>
                <a14:m>
                  <m:oMath xmlns:m="http://schemas.openxmlformats.org/officeDocument/2006/math">
                    <m:r>
                      <a:rPr lang="en-US" sz="2400" b="0" i="1" smtClean="0">
                        <a:solidFill>
                          <a:schemeClr val="accent5">
                            <a:lumMod val="75000"/>
                          </a:schemeClr>
                        </a:solidFill>
                        <a:latin typeface="Cambria Math" panose="02040503050406030204" pitchFamily="18" charset="0"/>
                      </a:rPr>
                      <m:t>𝑓</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𝐺</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𝐶𝑂𝐿𝑂𝑅𝑆</m:t>
                    </m:r>
                  </m:oMath>
                </a14:m>
                <a:endParaRPr lang="en-US" sz="2400" dirty="0">
                  <a:solidFill>
                    <a:schemeClr val="accent5">
                      <a:lumMod val="75000"/>
                    </a:schemeClr>
                  </a:solidFill>
                </a:endParaRPr>
              </a:p>
              <a:p>
                <a:pPr marL="742950" lvl="1" indent="-285750">
                  <a:buFont typeface="Arial" panose="020B0604020202020204" pitchFamily="34" charset="0"/>
                  <a:buChar char="•"/>
                </a:pPr>
                <a14:m>
                  <m:oMath xmlns:m="http://schemas.openxmlformats.org/officeDocument/2006/math">
                    <m:r>
                      <a:rPr lang="en-US" sz="2400" b="0" i="1" smtClean="0">
                        <a:solidFill>
                          <a:schemeClr val="accent5">
                            <a:lumMod val="75000"/>
                          </a:schemeClr>
                        </a:solidFill>
                        <a:latin typeface="Cambria Math" panose="02040503050406030204" pitchFamily="18" charset="0"/>
                      </a:rPr>
                      <m:t>𝑓</m:t>
                    </m:r>
                    <m:d>
                      <m:dPr>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𝑔</m:t>
                            </m:r>
                          </m:e>
                          <m:sub>
                            <m:r>
                              <a:rPr lang="en-US" sz="2400" b="0" i="1" smtClean="0">
                                <a:solidFill>
                                  <a:schemeClr val="accent5">
                                    <a:lumMod val="75000"/>
                                  </a:schemeClr>
                                </a:solidFill>
                                <a:latin typeface="Cambria Math" panose="02040503050406030204" pitchFamily="18" charset="0"/>
                              </a:rPr>
                              <m:t>1</m:t>
                            </m:r>
                          </m:sub>
                        </m:sSub>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𝑓</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𝑔</m:t>
                        </m:r>
                      </m:e>
                      <m:sub>
                        <m:r>
                          <a:rPr lang="en-US" sz="2400" b="0" i="1" smtClean="0">
                            <a:solidFill>
                              <a:schemeClr val="accent5">
                                <a:lumMod val="75000"/>
                              </a:schemeClr>
                            </a:solidFill>
                            <a:latin typeface="Cambria Math" panose="02040503050406030204" pitchFamily="18" charset="0"/>
                          </a:rPr>
                          <m:t>2</m:t>
                        </m:r>
                      </m:sub>
                    </m:sSub>
                    <m:r>
                      <a:rPr lang="en-US" sz="2400" b="0" i="1" smtClean="0">
                        <a:solidFill>
                          <a:schemeClr val="accent5">
                            <a:lumMod val="75000"/>
                          </a:schemeClr>
                        </a:solidFill>
                        <a:latin typeface="Cambria Math" panose="02040503050406030204" pitchFamily="18" charset="0"/>
                      </a:rPr>
                      <m:t>)</m:t>
                    </m:r>
                  </m:oMath>
                </a14:m>
                <a:r>
                  <a:rPr lang="en-US" sz="2400" dirty="0">
                    <a:solidFill>
                      <a:schemeClr val="accent5">
                        <a:lumMod val="75000"/>
                      </a:schemeClr>
                    </a:solidFill>
                  </a:rPr>
                  <a:t> </a:t>
                </a:r>
                <a:r>
                  <a:rPr lang="en-US" sz="2400" dirty="0" err="1"/>
                  <a:t>iff</a:t>
                </a:r>
                <a:r>
                  <a:rPr lang="en-US" sz="2400" dirty="0"/>
                  <a:t> </a:t>
                </a:r>
                <a14:m>
                  <m:oMath xmlns:m="http://schemas.openxmlformats.org/officeDocument/2006/math">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𝑔</m:t>
                        </m:r>
                      </m:e>
                      <m:sub>
                        <m:r>
                          <a:rPr lang="en-US" sz="2400" b="0" i="1" smtClean="0">
                            <a:solidFill>
                              <a:schemeClr val="accent5">
                                <a:lumMod val="75000"/>
                              </a:schemeClr>
                            </a:solidFill>
                            <a:latin typeface="Cambria Math" panose="02040503050406030204" pitchFamily="18" charset="0"/>
                          </a:rPr>
                          <m:t>1</m:t>
                        </m:r>
                      </m:sub>
                    </m:sSub>
                    <m:r>
                      <a:rPr lang="en-US" sz="2400" b="0" i="1" smtClean="0">
                        <a:solidFill>
                          <a:schemeClr val="accent5">
                            <a:lumMod val="75000"/>
                          </a:schemeClr>
                        </a:solidFill>
                        <a:latin typeface="Cambria Math" panose="02040503050406030204" pitchFamily="18" charset="0"/>
                      </a:rPr>
                      <m:t>𝐻</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𝑔</m:t>
                        </m:r>
                      </m:e>
                      <m:sub>
                        <m:r>
                          <a:rPr lang="en-US" sz="2400" b="0" i="1" smtClean="0">
                            <a:solidFill>
                              <a:schemeClr val="accent5">
                                <a:lumMod val="75000"/>
                              </a:schemeClr>
                            </a:solidFill>
                            <a:latin typeface="Cambria Math" panose="02040503050406030204" pitchFamily="18" charset="0"/>
                          </a:rPr>
                          <m:t>2</m:t>
                        </m:r>
                      </m:sub>
                    </m:sSub>
                    <m:r>
                      <a:rPr lang="en-US" sz="2400" b="0" i="1" smtClean="0">
                        <a:solidFill>
                          <a:schemeClr val="accent5">
                            <a:lumMod val="75000"/>
                          </a:schemeClr>
                        </a:solidFill>
                        <a:latin typeface="Cambria Math" panose="02040503050406030204" pitchFamily="18" charset="0"/>
                      </a:rPr>
                      <m:t>𝐻</m:t>
                    </m:r>
                  </m:oMath>
                </a14:m>
                <a:endParaRPr lang="en-US" sz="2400" dirty="0">
                  <a:solidFill>
                    <a:schemeClr val="accent5">
                      <a:lumMod val="75000"/>
                    </a:schemeClr>
                  </a:solidFill>
                </a:endParaRPr>
              </a:p>
              <a:p>
                <a:pPr marL="742950" lvl="1" indent="-285750">
                  <a:buFont typeface="Arial" panose="020B0604020202020204" pitchFamily="34" charset="0"/>
                  <a:buChar char="•"/>
                </a:pPr>
                <a:r>
                  <a:rPr lang="en-US" sz="2400" dirty="0"/>
                  <a:t>Given as an oracle</a:t>
                </a:r>
              </a:p>
            </p:txBody>
          </p:sp>
        </mc:Choice>
        <mc:Fallback xmlns="">
          <p:sp>
            <p:nvSpPr>
              <p:cNvPr id="4" name="TextBox 3">
                <a:extLst>
                  <a:ext uri="{FF2B5EF4-FFF2-40B4-BE49-F238E27FC236}">
                    <a16:creationId xmlns:a16="http://schemas.microsoft.com/office/drawing/2014/main" id="{34FD8E60-3C4A-D1F6-DA19-F66292DAEE4F}"/>
                  </a:ext>
                </a:extLst>
              </p:cNvPr>
              <p:cNvSpPr txBox="1">
                <a:spLocks noRot="1" noChangeAspect="1" noMove="1" noResize="1" noEditPoints="1" noAdjustHandles="1" noChangeArrowheads="1" noChangeShapeType="1" noTextEdit="1"/>
              </p:cNvSpPr>
              <p:nvPr/>
            </p:nvSpPr>
            <p:spPr>
              <a:xfrm>
                <a:off x="838200" y="1506022"/>
                <a:ext cx="5257800" cy="1938992"/>
              </a:xfrm>
              <a:prstGeom prst="rect">
                <a:avLst/>
              </a:prstGeom>
              <a:blipFill>
                <a:blip r:embed="rId2"/>
                <a:stretch>
                  <a:fillRect l="-1928" t="-2597" b="-58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985634-2C9C-1D5E-3490-6693A55BEBD7}"/>
                  </a:ext>
                </a:extLst>
              </p:cNvPr>
              <p:cNvSpPr txBox="1"/>
              <p:nvPr/>
            </p:nvSpPr>
            <p:spPr>
              <a:xfrm>
                <a:off x="6312969" y="1772731"/>
                <a:ext cx="1586404" cy="461665"/>
              </a:xfrm>
              <a:prstGeom prst="rect">
                <a:avLst/>
              </a:prstGeom>
              <a:noFill/>
            </p:spPr>
            <p:txBody>
              <a:bodyPr wrap="square" rtlCol="0">
                <a:spAutoFit/>
              </a:bodyPr>
              <a:lstStyle/>
              <a:p>
                <a:r>
                  <a:rPr lang="en-US" sz="2400" dirty="0"/>
                  <a:t>Let </a:t>
                </a:r>
                <a14:m>
                  <m:oMath xmlns:m="http://schemas.openxmlformats.org/officeDocument/2006/math">
                    <m:r>
                      <a:rPr lang="en-US" sz="2400" b="0" i="1" smtClean="0">
                        <a:solidFill>
                          <a:schemeClr val="accent5">
                            <a:lumMod val="75000"/>
                          </a:schemeClr>
                        </a:solidFill>
                        <a:latin typeface="Cambria Math" panose="02040503050406030204" pitchFamily="18" charset="0"/>
                      </a:rPr>
                      <m:t>𝐻</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𝐺</m:t>
                    </m:r>
                  </m:oMath>
                </a14:m>
                <a:endParaRPr lang="en-US" sz="2400" dirty="0"/>
              </a:p>
            </p:txBody>
          </p:sp>
        </mc:Choice>
        <mc:Fallback xmlns="">
          <p:sp>
            <p:nvSpPr>
              <p:cNvPr id="5" name="TextBox 4">
                <a:extLst>
                  <a:ext uri="{FF2B5EF4-FFF2-40B4-BE49-F238E27FC236}">
                    <a16:creationId xmlns:a16="http://schemas.microsoft.com/office/drawing/2014/main" id="{2A985634-2C9C-1D5E-3490-6693A55BEBD7}"/>
                  </a:ext>
                </a:extLst>
              </p:cNvPr>
              <p:cNvSpPr txBox="1">
                <a:spLocks noRot="1" noChangeAspect="1" noMove="1" noResize="1" noEditPoints="1" noAdjustHandles="1" noChangeArrowheads="1" noChangeShapeType="1" noTextEdit="1"/>
              </p:cNvSpPr>
              <p:nvPr/>
            </p:nvSpPr>
            <p:spPr>
              <a:xfrm>
                <a:off x="6312969" y="1772731"/>
                <a:ext cx="1586404" cy="461665"/>
              </a:xfrm>
              <a:prstGeom prst="rect">
                <a:avLst/>
              </a:prstGeom>
              <a:blipFill>
                <a:blip r:embed="rId3"/>
                <a:stretch>
                  <a:fillRect l="-6349" t="-10526"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F1DB8E1-4A2A-125C-A556-072DF1953BD9}"/>
                  </a:ext>
                </a:extLst>
              </p:cNvPr>
              <p:cNvSpPr txBox="1"/>
              <p:nvPr/>
            </p:nvSpPr>
            <p:spPr>
              <a:xfrm>
                <a:off x="6312969" y="2945654"/>
                <a:ext cx="4072930" cy="461665"/>
              </a:xfrm>
              <a:prstGeom prst="rect">
                <a:avLst/>
              </a:prstGeom>
              <a:noFill/>
            </p:spPr>
            <p:txBody>
              <a:bodyPr wrap="square" rtlCol="0">
                <a:spAutoFit/>
              </a:bodyPr>
              <a:lstStyle/>
              <a:p>
                <a:r>
                  <a:rPr lang="en-US" sz="2400" dirty="0"/>
                  <a:t>Task: Find </a:t>
                </a:r>
                <a14:m>
                  <m:oMath xmlns:m="http://schemas.openxmlformats.org/officeDocument/2006/math">
                    <m:r>
                      <a:rPr lang="en-US" sz="2400" b="0" i="1" smtClean="0">
                        <a:solidFill>
                          <a:schemeClr val="accent5">
                            <a:lumMod val="75000"/>
                          </a:schemeClr>
                        </a:solidFill>
                        <a:latin typeface="Cambria Math" panose="02040503050406030204" pitchFamily="18" charset="0"/>
                      </a:rPr>
                      <m:t>𝐻</m:t>
                    </m:r>
                  </m:oMath>
                </a14:m>
                <a:r>
                  <a:rPr lang="en-US" sz="2400" dirty="0"/>
                  <a:t> (its generators) </a:t>
                </a:r>
              </a:p>
            </p:txBody>
          </p:sp>
        </mc:Choice>
        <mc:Fallback xmlns="">
          <p:sp>
            <p:nvSpPr>
              <p:cNvPr id="6" name="TextBox 5">
                <a:extLst>
                  <a:ext uri="{FF2B5EF4-FFF2-40B4-BE49-F238E27FC236}">
                    <a16:creationId xmlns:a16="http://schemas.microsoft.com/office/drawing/2014/main" id="{6F1DB8E1-4A2A-125C-A556-072DF1953BD9}"/>
                  </a:ext>
                </a:extLst>
              </p:cNvPr>
              <p:cNvSpPr txBox="1">
                <a:spLocks noRot="1" noChangeAspect="1" noMove="1" noResize="1" noEditPoints="1" noAdjustHandles="1" noChangeArrowheads="1" noChangeShapeType="1" noTextEdit="1"/>
              </p:cNvSpPr>
              <p:nvPr/>
            </p:nvSpPr>
            <p:spPr>
              <a:xfrm>
                <a:off x="6312969" y="2945654"/>
                <a:ext cx="4072930" cy="461665"/>
              </a:xfrm>
              <a:prstGeom prst="rect">
                <a:avLst/>
              </a:prstGeom>
              <a:blipFill>
                <a:blip r:embed="rId4"/>
                <a:stretch>
                  <a:fillRect l="-2492" t="-7895"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EBC6013-1AAC-6E6F-5F70-5079A25E5190}"/>
                  </a:ext>
                </a:extLst>
              </p:cNvPr>
              <p:cNvSpPr txBox="1"/>
              <p:nvPr/>
            </p:nvSpPr>
            <p:spPr>
              <a:xfrm>
                <a:off x="838200" y="3481779"/>
                <a:ext cx="899561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If </a:t>
                </a:r>
                <a14:m>
                  <m:oMath xmlns:m="http://schemas.openxmlformats.org/officeDocument/2006/math">
                    <m:r>
                      <a:rPr lang="en-US" sz="2400" b="0" i="1" smtClean="0">
                        <a:solidFill>
                          <a:schemeClr val="accent5">
                            <a:lumMod val="75000"/>
                          </a:schemeClr>
                        </a:solidFill>
                        <a:latin typeface="Cambria Math" panose="02040503050406030204" pitchFamily="18" charset="0"/>
                      </a:rPr>
                      <m:t>𝐺</m:t>
                    </m:r>
                  </m:oMath>
                </a14:m>
                <a:r>
                  <a:rPr lang="en-US" sz="2400" dirty="0"/>
                  <a:t> is finite and abelian, we have efficient quantum algorithms.</a:t>
                </a:r>
              </a:p>
              <a:p>
                <a:pPr marL="742950" lvl="1" indent="-285750">
                  <a:buFont typeface="Arial" panose="020B0604020202020204" pitchFamily="34" charset="0"/>
                  <a:buChar char="•"/>
                </a:pPr>
                <a:endParaRPr lang="en-US" sz="2400" dirty="0"/>
              </a:p>
              <a:p>
                <a:endParaRPr lang="en-US" sz="2400" dirty="0"/>
              </a:p>
            </p:txBody>
          </p:sp>
        </mc:Choice>
        <mc:Fallback xmlns="">
          <p:sp>
            <p:nvSpPr>
              <p:cNvPr id="7" name="TextBox 6">
                <a:extLst>
                  <a:ext uri="{FF2B5EF4-FFF2-40B4-BE49-F238E27FC236}">
                    <a16:creationId xmlns:a16="http://schemas.microsoft.com/office/drawing/2014/main" id="{4EBC6013-1AAC-6E6F-5F70-5079A25E5190}"/>
                  </a:ext>
                </a:extLst>
              </p:cNvPr>
              <p:cNvSpPr txBox="1">
                <a:spLocks noRot="1" noChangeAspect="1" noMove="1" noResize="1" noEditPoints="1" noAdjustHandles="1" noChangeArrowheads="1" noChangeShapeType="1" noTextEdit="1"/>
              </p:cNvSpPr>
              <p:nvPr/>
            </p:nvSpPr>
            <p:spPr>
              <a:xfrm>
                <a:off x="838200" y="3481779"/>
                <a:ext cx="8995611" cy="1200329"/>
              </a:xfrm>
              <a:prstGeom prst="rect">
                <a:avLst/>
              </a:prstGeom>
              <a:blipFill>
                <a:blip r:embed="rId5"/>
                <a:stretch>
                  <a:fillRect l="-987" t="-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D02B1F5-8FED-B11F-3C3C-813B4676847A}"/>
                  </a:ext>
                </a:extLst>
              </p:cNvPr>
              <p:cNvGraphicFramePr>
                <a:graphicFrameLocks noGrp="1"/>
              </p:cNvGraphicFramePr>
              <p:nvPr>
                <p:extLst>
                  <p:ext uri="{D42A27DB-BD31-4B8C-83A1-F6EECF244321}">
                    <p14:modId xmlns:p14="http://schemas.microsoft.com/office/powerpoint/2010/main" val="3080550544"/>
                  </p:ext>
                </p:extLst>
              </p:nvPr>
            </p:nvGraphicFramePr>
            <p:xfrm>
              <a:off x="838200" y="4124247"/>
              <a:ext cx="10515600" cy="2602200"/>
            </p:xfrm>
            <a:graphic>
              <a:graphicData uri="http://schemas.openxmlformats.org/drawingml/2006/table">
                <a:tbl>
                  <a:tblPr/>
                  <a:tblGrid>
                    <a:gridCol w="2257478">
                      <a:extLst>
                        <a:ext uri="{9D8B030D-6E8A-4147-A177-3AD203B41FA5}">
                          <a16:colId xmlns:a16="http://schemas.microsoft.com/office/drawing/2014/main" val="3248931897"/>
                        </a:ext>
                      </a:extLst>
                    </a:gridCol>
                    <a:gridCol w="1620753">
                      <a:extLst>
                        <a:ext uri="{9D8B030D-6E8A-4147-A177-3AD203B41FA5}">
                          <a16:colId xmlns:a16="http://schemas.microsoft.com/office/drawing/2014/main" val="1443508891"/>
                        </a:ext>
                      </a:extLst>
                    </a:gridCol>
                    <a:gridCol w="6637369">
                      <a:extLst>
                        <a:ext uri="{9D8B030D-6E8A-4147-A177-3AD203B41FA5}">
                          <a16:colId xmlns:a16="http://schemas.microsoft.com/office/drawing/2014/main" val="1022075852"/>
                        </a:ext>
                      </a:extLst>
                    </a:gridCol>
                  </a:tblGrid>
                  <a:tr h="555993">
                    <a:tc>
                      <a:txBody>
                        <a:bodyPr/>
                        <a:lstStyle/>
                        <a:p>
                          <a:pPr rtl="0">
                            <a:buNone/>
                          </a:pPr>
                          <a:r>
                            <a:rPr lang="en-IN" sz="2400" b="1" dirty="0">
                              <a:solidFill>
                                <a:srgbClr val="1F1F1F"/>
                              </a:solidFill>
                              <a:effectLst/>
                              <a:latin typeface="Google Sans Text"/>
                            </a:rPr>
                            <a:t>Problem</a:t>
                          </a:r>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Group (G)</a:t>
                          </a:r>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Hidden Subgroup (H)</a:t>
                          </a:r>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4475435"/>
                      </a:ext>
                    </a:extLst>
                  </a:tr>
                  <a:tr h="555993">
                    <a:tc>
                      <a:txBody>
                        <a:bodyPr/>
                        <a:lstStyle/>
                        <a:p>
                          <a:pPr rtl="0">
                            <a:buNone/>
                          </a:pPr>
                          <a:r>
                            <a:rPr lang="en-IN" sz="2400" b="0" dirty="0">
                              <a:solidFill>
                                <a:srgbClr val="1F1F1F"/>
                              </a:solidFill>
                              <a:effectLst/>
                              <a:latin typeface="Google Sans Text"/>
                            </a:rPr>
                            <a:t>Deutsch-Jozsa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14:m>
                            <m:oMathPara xmlns:m="http://schemas.openxmlformats.org/officeDocument/2006/math">
                              <m:oMathParaPr>
                                <m:jc m:val="centerGroup"/>
                              </m:oMathParaPr>
                              <m:oMath xmlns:m="http://schemas.openxmlformats.org/officeDocument/2006/math">
                                <m:sSubSup>
                                  <m:sSubSupPr>
                                    <m:ctrlPr>
                                      <a:rPr lang="en-US" sz="2400" b="0" i="1" smtClean="0">
                                        <a:solidFill>
                                          <a:schemeClr val="accent5">
                                            <a:lumMod val="75000"/>
                                          </a:schemeClr>
                                        </a:solidFill>
                                        <a:effectLst/>
                                        <a:latin typeface="Cambria Math" panose="02040503050406030204" pitchFamily="18" charset="0"/>
                                      </a:rPr>
                                    </m:ctrlPr>
                                  </m:sSubSupPr>
                                  <m:e>
                                    <m:r>
                                      <a:rPr lang="en-US" sz="2400" b="0" i="1" smtClean="0">
                                        <a:solidFill>
                                          <a:schemeClr val="accent5">
                                            <a:lumMod val="75000"/>
                                          </a:schemeClr>
                                        </a:solidFill>
                                        <a:effectLst/>
                                        <a:latin typeface="Cambria Math" panose="02040503050406030204" pitchFamily="18" charset="0"/>
                                      </a:rPr>
                                      <m:t>ℤ</m:t>
                                    </m:r>
                                  </m:e>
                                  <m:sub>
                                    <m:r>
                                      <a:rPr lang="en-US" sz="2400" b="0" i="1" smtClean="0">
                                        <a:solidFill>
                                          <a:schemeClr val="accent5">
                                            <a:lumMod val="75000"/>
                                          </a:schemeClr>
                                        </a:solidFill>
                                        <a:effectLst/>
                                        <a:latin typeface="Cambria Math" panose="02040503050406030204" pitchFamily="18" charset="0"/>
                                      </a:rPr>
                                      <m:t>2</m:t>
                                    </m:r>
                                  </m:sub>
                                  <m:sup>
                                    <m:r>
                                      <a:rPr lang="en-US" sz="2400" b="0" i="1" smtClean="0">
                                        <a:solidFill>
                                          <a:schemeClr val="accent5">
                                            <a:lumMod val="75000"/>
                                          </a:schemeClr>
                                        </a:solidFill>
                                        <a:effectLst/>
                                        <a:latin typeface="Cambria Math" panose="02040503050406030204" pitchFamily="18" charset="0"/>
                                      </a:rPr>
                                      <m:t>𝑛</m:t>
                                    </m:r>
                                  </m:sup>
                                </m:sSubSup>
                              </m:oMath>
                            </m:oMathPara>
                          </a14:m>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14:m>
                            <m:oMath xmlns:m="http://schemas.openxmlformats.org/officeDocument/2006/math">
                              <m:r>
                                <a:rPr lang="en-US" sz="2400" b="0" i="1" smtClean="0">
                                  <a:solidFill>
                                    <a:schemeClr val="accent5">
                                      <a:lumMod val="75000"/>
                                    </a:schemeClr>
                                  </a:solidFill>
                                  <a:effectLst/>
                                  <a:latin typeface="Cambria Math" panose="02040503050406030204" pitchFamily="18" charset="0"/>
                                </a:rPr>
                                <m:t>𝐻</m:t>
                              </m:r>
                              <m:r>
                                <a:rPr lang="en-US" sz="2400" b="0" i="1" smtClean="0">
                                  <a:solidFill>
                                    <a:schemeClr val="accent5">
                                      <a:lumMod val="75000"/>
                                    </a:schemeClr>
                                  </a:solidFill>
                                  <a:effectLst/>
                                  <a:latin typeface="Cambria Math" panose="02040503050406030204" pitchFamily="18" charset="0"/>
                                </a:rPr>
                                <m:t>=</m:t>
                              </m:r>
                              <m:sSubSup>
                                <m:sSubSupPr>
                                  <m:ctrlPr>
                                    <a:rPr lang="en-US" sz="2400" b="0" i="1" smtClean="0">
                                      <a:solidFill>
                                        <a:schemeClr val="accent5">
                                          <a:lumMod val="75000"/>
                                        </a:schemeClr>
                                      </a:solidFill>
                                      <a:effectLst/>
                                      <a:latin typeface="Cambria Math" panose="02040503050406030204" pitchFamily="18" charset="0"/>
                                    </a:rPr>
                                  </m:ctrlPr>
                                </m:sSubSupPr>
                                <m:e>
                                  <m:r>
                                    <a:rPr lang="en-US" sz="2400" b="0" i="1" smtClean="0">
                                      <a:solidFill>
                                        <a:schemeClr val="accent5">
                                          <a:lumMod val="75000"/>
                                        </a:schemeClr>
                                      </a:solidFill>
                                      <a:effectLst/>
                                      <a:latin typeface="Cambria Math" panose="02040503050406030204" pitchFamily="18" charset="0"/>
                                    </a:rPr>
                                    <m:t>ℤ</m:t>
                                  </m:r>
                                </m:e>
                                <m:sub>
                                  <m:r>
                                    <a:rPr lang="en-US" sz="2400" b="0" i="1" smtClean="0">
                                      <a:solidFill>
                                        <a:schemeClr val="accent5">
                                          <a:lumMod val="75000"/>
                                        </a:schemeClr>
                                      </a:solidFill>
                                      <a:effectLst/>
                                      <a:latin typeface="Cambria Math" panose="02040503050406030204" pitchFamily="18" charset="0"/>
                                    </a:rPr>
                                    <m:t>2</m:t>
                                  </m:r>
                                </m:sub>
                                <m:sup>
                                  <m:r>
                                    <a:rPr lang="en-US" sz="2400" b="0" i="1" smtClean="0">
                                      <a:solidFill>
                                        <a:schemeClr val="accent5">
                                          <a:lumMod val="75000"/>
                                        </a:schemeClr>
                                      </a:solidFill>
                                      <a:effectLst/>
                                      <a:latin typeface="Cambria Math" panose="02040503050406030204" pitchFamily="18" charset="0"/>
                                    </a:rPr>
                                    <m:t>𝑛</m:t>
                                  </m:r>
                                </m:sup>
                              </m:sSubSup>
                            </m:oMath>
                          </a14:m>
                          <a:r>
                            <a:rPr lang="en-IN" sz="2400" dirty="0">
                              <a:solidFill>
                                <a:srgbClr val="1F1F1F"/>
                              </a:solidFill>
                              <a:effectLst/>
                              <a:latin typeface="Google Sans Text"/>
                            </a:rPr>
                            <a:t> (Constant) or</a:t>
                          </a:r>
                          <a:r>
                            <a:rPr lang="en-IN" sz="2400" baseline="0" dirty="0">
                              <a:solidFill>
                                <a:srgbClr val="1F1F1F"/>
                              </a:solidFill>
                              <a:effectLst/>
                              <a:latin typeface="Google Sans Text"/>
                            </a:rPr>
                            <a:t> </a:t>
                          </a:r>
                          <a14:m>
                            <m:oMath xmlns:m="http://schemas.openxmlformats.org/officeDocument/2006/math">
                              <m:r>
                                <a:rPr lang="en-US" sz="2400" b="0" i="1" smtClean="0">
                                  <a:solidFill>
                                    <a:schemeClr val="accent5">
                                      <a:lumMod val="75000"/>
                                    </a:schemeClr>
                                  </a:solidFill>
                                  <a:effectLst/>
                                  <a:latin typeface="Cambria Math" panose="02040503050406030204" pitchFamily="18" charset="0"/>
                                </a:rPr>
                                <m:t>𝐻</m:t>
                              </m:r>
                              <m:r>
                                <a:rPr lang="en-US" sz="2400" b="0" i="1" smtClean="0">
                                  <a:solidFill>
                                    <a:schemeClr val="accent5">
                                      <a:lumMod val="75000"/>
                                    </a:schemeClr>
                                  </a:solidFill>
                                  <a:effectLst/>
                                  <a:latin typeface="Cambria Math" panose="02040503050406030204" pitchFamily="18" charset="0"/>
                                </a:rPr>
                                <m:t>=</m:t>
                              </m:r>
                              <m:r>
                                <m:rPr>
                                  <m:lit/>
                                </m:rPr>
                                <a:rPr lang="en-US" sz="2400" b="0" i="1" smtClean="0">
                                  <a:solidFill>
                                    <a:schemeClr val="accent5">
                                      <a:lumMod val="75000"/>
                                    </a:schemeClr>
                                  </a:solidFill>
                                  <a:effectLst/>
                                  <a:latin typeface="Cambria Math" panose="02040503050406030204" pitchFamily="18" charset="0"/>
                                </a:rPr>
                                <m:t>{</m:t>
                              </m:r>
                              <m:r>
                                <a:rPr lang="en-US" sz="2400" b="0" i="1" smtClean="0">
                                  <a:solidFill>
                                    <a:schemeClr val="accent5">
                                      <a:lumMod val="75000"/>
                                    </a:schemeClr>
                                  </a:solidFill>
                                  <a:effectLst/>
                                  <a:latin typeface="Cambria Math" panose="02040503050406030204" pitchFamily="18" charset="0"/>
                                </a:rPr>
                                <m:t>0</m:t>
                              </m:r>
                              <m:r>
                                <m:rPr>
                                  <m:lit/>
                                </m:rPr>
                                <a:rPr lang="en-US" sz="2400" b="0" i="1" smtClean="0">
                                  <a:solidFill>
                                    <a:schemeClr val="accent5">
                                      <a:lumMod val="75000"/>
                                    </a:schemeClr>
                                  </a:solidFill>
                                  <a:effectLst/>
                                  <a:latin typeface="Cambria Math" panose="02040503050406030204" pitchFamily="18" charset="0"/>
                                </a:rPr>
                                <m:t>}</m:t>
                              </m:r>
                            </m:oMath>
                          </a14:m>
                          <a:r>
                            <a:rPr lang="en-IN" sz="2400" dirty="0">
                              <a:solidFill>
                                <a:srgbClr val="1F1F1F"/>
                              </a:solidFill>
                              <a:effectLst/>
                              <a:latin typeface="Google Sans Text"/>
                            </a:rPr>
                            <a:t> (Balanced)</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00204935"/>
                      </a:ext>
                    </a:extLst>
                  </a:tr>
                  <a:tr h="555993">
                    <a:tc>
                      <a:txBody>
                        <a:bodyPr/>
                        <a:lstStyle/>
                        <a:p>
                          <a:pPr rtl="0">
                            <a:buNone/>
                          </a:pPr>
                          <a:r>
                            <a:rPr lang="en-IN" sz="2400" b="0" dirty="0">
                              <a:solidFill>
                                <a:srgbClr val="1F1F1F"/>
                              </a:solidFill>
                              <a:effectLst/>
                              <a:latin typeface="Google Sans Text"/>
                            </a:rPr>
                            <a:t>Simon's Problem</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14:m>
                            <m:oMathPara xmlns:m="http://schemas.openxmlformats.org/officeDocument/2006/math">
                              <m:oMathParaPr>
                                <m:jc m:val="centerGroup"/>
                              </m:oMathParaPr>
                              <m:oMath xmlns:m="http://schemas.openxmlformats.org/officeDocument/2006/math">
                                <m:sSubSup>
                                  <m:sSubSupPr>
                                    <m:ctrlPr>
                                      <a:rPr lang="en-US" sz="2400" b="0" i="1" smtClean="0">
                                        <a:solidFill>
                                          <a:schemeClr val="accent5">
                                            <a:lumMod val="75000"/>
                                          </a:schemeClr>
                                        </a:solidFill>
                                        <a:effectLst/>
                                        <a:latin typeface="Cambria Math" panose="02040503050406030204" pitchFamily="18" charset="0"/>
                                      </a:rPr>
                                    </m:ctrlPr>
                                  </m:sSubSupPr>
                                  <m:e>
                                    <m:r>
                                      <a:rPr lang="en-US" sz="2400" b="0" i="1" smtClean="0">
                                        <a:solidFill>
                                          <a:schemeClr val="accent5">
                                            <a:lumMod val="75000"/>
                                          </a:schemeClr>
                                        </a:solidFill>
                                        <a:effectLst/>
                                        <a:latin typeface="Cambria Math" panose="02040503050406030204" pitchFamily="18" charset="0"/>
                                      </a:rPr>
                                      <m:t>ℤ</m:t>
                                    </m:r>
                                  </m:e>
                                  <m:sub>
                                    <m:r>
                                      <a:rPr lang="en-US" sz="2400" b="0" i="1" smtClean="0">
                                        <a:solidFill>
                                          <a:schemeClr val="accent5">
                                            <a:lumMod val="75000"/>
                                          </a:schemeClr>
                                        </a:solidFill>
                                        <a:effectLst/>
                                        <a:latin typeface="Cambria Math" panose="02040503050406030204" pitchFamily="18" charset="0"/>
                                      </a:rPr>
                                      <m:t>2</m:t>
                                    </m:r>
                                  </m:sub>
                                  <m:sup>
                                    <m:r>
                                      <a:rPr lang="en-US" sz="2400" b="0" i="1" smtClean="0">
                                        <a:solidFill>
                                          <a:schemeClr val="accent5">
                                            <a:lumMod val="75000"/>
                                          </a:schemeClr>
                                        </a:solidFill>
                                        <a:effectLst/>
                                        <a:latin typeface="Cambria Math" panose="02040503050406030204" pitchFamily="18" charset="0"/>
                                      </a:rPr>
                                      <m:t>𝑛</m:t>
                                    </m:r>
                                  </m:sup>
                                </m:sSubSup>
                              </m:oMath>
                            </m:oMathPara>
                          </a14:m>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14:m>
                            <m:oMath xmlns:m="http://schemas.openxmlformats.org/officeDocument/2006/math">
                              <m:r>
                                <a:rPr lang="en-US" sz="2400" b="0" i="1" smtClean="0">
                                  <a:solidFill>
                                    <a:schemeClr val="accent5">
                                      <a:lumMod val="75000"/>
                                    </a:schemeClr>
                                  </a:solidFill>
                                  <a:effectLst/>
                                  <a:latin typeface="Cambria Math" panose="02040503050406030204" pitchFamily="18" charset="0"/>
                                </a:rPr>
                                <m:t>𝐻</m:t>
                              </m:r>
                              <m:r>
                                <a:rPr lang="en-US" sz="2400" b="0" i="1" smtClean="0">
                                  <a:solidFill>
                                    <a:schemeClr val="accent5">
                                      <a:lumMod val="75000"/>
                                    </a:schemeClr>
                                  </a:solidFill>
                                  <a:effectLst/>
                                  <a:latin typeface="Cambria Math" panose="02040503050406030204" pitchFamily="18" charset="0"/>
                                </a:rPr>
                                <m:t>=</m:t>
                              </m:r>
                              <m:r>
                                <m:rPr>
                                  <m:lit/>
                                </m:rPr>
                                <a:rPr lang="en-US" sz="2400" b="0" i="1" smtClean="0">
                                  <a:solidFill>
                                    <a:schemeClr val="accent5">
                                      <a:lumMod val="75000"/>
                                    </a:schemeClr>
                                  </a:solidFill>
                                  <a:effectLst/>
                                  <a:latin typeface="Cambria Math" panose="02040503050406030204" pitchFamily="18" charset="0"/>
                                </a:rPr>
                                <m:t>{</m:t>
                              </m:r>
                              <m:r>
                                <a:rPr lang="en-US" sz="2400" b="0" i="1" smtClean="0">
                                  <a:solidFill>
                                    <a:schemeClr val="accent5">
                                      <a:lumMod val="75000"/>
                                    </a:schemeClr>
                                  </a:solidFill>
                                  <a:effectLst/>
                                  <a:latin typeface="Cambria Math" panose="02040503050406030204" pitchFamily="18" charset="0"/>
                                </a:rPr>
                                <m:t>0,</m:t>
                              </m:r>
                              <m:r>
                                <a:rPr lang="en-US" sz="2400" b="0" i="1" smtClean="0">
                                  <a:solidFill>
                                    <a:schemeClr val="accent5">
                                      <a:lumMod val="75000"/>
                                    </a:schemeClr>
                                  </a:solidFill>
                                  <a:effectLst/>
                                  <a:latin typeface="Cambria Math" panose="02040503050406030204" pitchFamily="18" charset="0"/>
                                </a:rPr>
                                <m:t>𝑠</m:t>
                              </m:r>
                              <m:r>
                                <m:rPr>
                                  <m:lit/>
                                </m:rPr>
                                <a:rPr lang="en-US" sz="2400" b="0" i="1" smtClean="0">
                                  <a:solidFill>
                                    <a:schemeClr val="accent5">
                                      <a:lumMod val="75000"/>
                                    </a:schemeClr>
                                  </a:solidFill>
                                  <a:effectLst/>
                                  <a:latin typeface="Cambria Math" panose="02040503050406030204" pitchFamily="18" charset="0"/>
                                </a:rPr>
                                <m:t>}</m:t>
                              </m:r>
                            </m:oMath>
                          </a14:m>
                          <a:r>
                            <a:rPr lang="en-IN" sz="2400" dirty="0">
                              <a:solidFill>
                                <a:srgbClr val="1F1F1F"/>
                              </a:solidFill>
                              <a:effectLst/>
                              <a:latin typeface="Google Sans Text"/>
                            </a:rPr>
                            <a:t> for a secret string</a:t>
                          </a:r>
                          <a:r>
                            <a:rPr lang="en-IN" sz="2400" baseline="0" dirty="0">
                              <a:solidFill>
                                <a:srgbClr val="1F1F1F"/>
                              </a:solidFill>
                              <a:effectLst/>
                              <a:latin typeface="Google Sans Text"/>
                            </a:rPr>
                            <a:t> </a:t>
                          </a:r>
                          <a14:m>
                            <m:oMath xmlns:m="http://schemas.openxmlformats.org/officeDocument/2006/math">
                              <m:r>
                                <a:rPr lang="en-US" sz="2400" b="0" i="1" baseline="0" smtClean="0">
                                  <a:solidFill>
                                    <a:schemeClr val="accent5">
                                      <a:lumMod val="75000"/>
                                    </a:schemeClr>
                                  </a:solidFill>
                                  <a:effectLst/>
                                  <a:latin typeface="Cambria Math" panose="02040503050406030204" pitchFamily="18" charset="0"/>
                                </a:rPr>
                                <m:t>𝑠</m:t>
                              </m:r>
                            </m:oMath>
                          </a14:m>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92302772"/>
                      </a:ext>
                    </a:extLst>
                  </a:tr>
                  <a:tr h="606294">
                    <a:tc>
                      <a:txBody>
                        <a:bodyPr/>
                        <a:lstStyle/>
                        <a:p>
                          <a:pPr rtl="0">
                            <a:buNone/>
                          </a:pPr>
                          <a:r>
                            <a:rPr lang="en-IN" sz="2400" b="0" dirty="0">
                              <a:solidFill>
                                <a:srgbClr val="1F1F1F"/>
                              </a:solidFill>
                              <a:effectLst/>
                              <a:latin typeface="Google Sans Text"/>
                            </a:rPr>
                            <a:t>Period Finding</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effectLst/>
                                    <a:latin typeface="Cambria Math" panose="02040503050406030204" pitchFamily="18" charset="0"/>
                                  </a:rPr>
                                  <m:t>ℤ</m:t>
                                </m:r>
                              </m:oMath>
                            </m:oMathPara>
                          </a14:m>
                          <a:endParaRPr lang="en-IN" sz="2400" dirty="0">
                            <a:solidFill>
                              <a:schemeClr val="accent5">
                                <a:lumMod val="75000"/>
                              </a:schemeClr>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14:m>
                            <m:oMath xmlns:m="http://schemas.openxmlformats.org/officeDocument/2006/math">
                              <m:r>
                                <a:rPr lang="en-US" sz="2400" b="0" i="1" smtClean="0">
                                  <a:solidFill>
                                    <a:schemeClr val="accent5">
                                      <a:lumMod val="75000"/>
                                    </a:schemeClr>
                                  </a:solidFill>
                                  <a:effectLst/>
                                  <a:latin typeface="Cambria Math" panose="02040503050406030204" pitchFamily="18" charset="0"/>
                                </a:rPr>
                                <m:t>𝐻</m:t>
                              </m:r>
                              <m:r>
                                <a:rPr lang="en-US" sz="2400" b="0" i="1" smtClean="0">
                                  <a:solidFill>
                                    <a:schemeClr val="accent5">
                                      <a:lumMod val="75000"/>
                                    </a:schemeClr>
                                  </a:solidFill>
                                  <a:effectLst/>
                                  <a:latin typeface="Cambria Math" panose="02040503050406030204" pitchFamily="18" charset="0"/>
                                </a:rPr>
                                <m:t>=</m:t>
                              </m:r>
                              <m:r>
                                <a:rPr lang="en-US" sz="2400" b="0" i="1" smtClean="0">
                                  <a:solidFill>
                                    <a:schemeClr val="accent5">
                                      <a:lumMod val="75000"/>
                                    </a:schemeClr>
                                  </a:solidFill>
                                  <a:effectLst/>
                                  <a:latin typeface="Cambria Math" panose="02040503050406030204" pitchFamily="18" charset="0"/>
                                </a:rPr>
                                <m:t>𝑟</m:t>
                              </m:r>
                              <m:r>
                                <a:rPr lang="en-US" sz="2400" b="0" i="1" smtClean="0">
                                  <a:solidFill>
                                    <a:schemeClr val="accent5">
                                      <a:lumMod val="75000"/>
                                    </a:schemeClr>
                                  </a:solidFill>
                                  <a:effectLst/>
                                  <a:latin typeface="Cambria Math" panose="02040503050406030204" pitchFamily="18" charset="0"/>
                                </a:rPr>
                                <m:t>ℤ</m:t>
                              </m:r>
                            </m:oMath>
                          </a14:m>
                          <a:r>
                            <a:rPr lang="en-IN" sz="2400" dirty="0">
                              <a:solidFill>
                                <a:srgbClr val="1F1F1F"/>
                              </a:solidFill>
                              <a:effectLst/>
                              <a:latin typeface="Google Sans Text"/>
                            </a:rPr>
                            <a:t> (Multiples of order</a:t>
                          </a:r>
                          <a:r>
                            <a:rPr lang="en-IN" sz="2400" baseline="0" dirty="0">
                              <a:solidFill>
                                <a:srgbClr val="1F1F1F"/>
                              </a:solidFill>
                              <a:effectLst/>
                              <a:latin typeface="Google Sans Text"/>
                            </a:rPr>
                            <a:t> </a:t>
                          </a:r>
                          <a14:m>
                            <m:oMath xmlns:m="http://schemas.openxmlformats.org/officeDocument/2006/math">
                              <m:r>
                                <a:rPr lang="en-US" sz="2400" b="0" i="1" baseline="0" smtClean="0">
                                  <a:solidFill>
                                    <a:srgbClr val="1F1F1F"/>
                                  </a:solidFill>
                                  <a:effectLst/>
                                  <a:latin typeface="Cambria Math" panose="02040503050406030204" pitchFamily="18" charset="0"/>
                                </a:rPr>
                                <m:t>𝑟</m:t>
                              </m:r>
                            </m:oMath>
                          </a14:m>
                          <a:r>
                            <a:rPr lang="en-IN" sz="2400" dirty="0">
                              <a:solidFill>
                                <a:srgbClr val="1F1F1F"/>
                              </a:solidFill>
                              <a:effectLst/>
                              <a:latin typeface="Google Sans Text"/>
                            </a:rPr>
                            <a: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74483555"/>
                      </a:ext>
                    </a:extLst>
                  </a:tr>
                </a:tbl>
              </a:graphicData>
            </a:graphic>
          </p:graphicFrame>
        </mc:Choice>
        <mc:Fallback xmlns="">
          <p:graphicFrame>
            <p:nvGraphicFramePr>
              <p:cNvPr id="8" name="Table 7">
                <a:extLst>
                  <a:ext uri="{FF2B5EF4-FFF2-40B4-BE49-F238E27FC236}">
                    <a16:creationId xmlns:a16="http://schemas.microsoft.com/office/drawing/2014/main" id="{CD02B1F5-8FED-B11F-3C3C-813B4676847A}"/>
                  </a:ext>
                </a:extLst>
              </p:cNvPr>
              <p:cNvGraphicFramePr>
                <a:graphicFrameLocks noGrp="1"/>
              </p:cNvGraphicFramePr>
              <p:nvPr>
                <p:extLst>
                  <p:ext uri="{D42A27DB-BD31-4B8C-83A1-F6EECF244321}">
                    <p14:modId xmlns:p14="http://schemas.microsoft.com/office/powerpoint/2010/main" val="3080550544"/>
                  </p:ext>
                </p:extLst>
              </p:nvPr>
            </p:nvGraphicFramePr>
            <p:xfrm>
              <a:off x="838200" y="4124247"/>
              <a:ext cx="10515600" cy="2602200"/>
            </p:xfrm>
            <a:graphic>
              <a:graphicData uri="http://schemas.openxmlformats.org/drawingml/2006/table">
                <a:tbl>
                  <a:tblPr/>
                  <a:tblGrid>
                    <a:gridCol w="2257478">
                      <a:extLst>
                        <a:ext uri="{9D8B030D-6E8A-4147-A177-3AD203B41FA5}">
                          <a16:colId xmlns:a16="http://schemas.microsoft.com/office/drawing/2014/main" val="3248931897"/>
                        </a:ext>
                      </a:extLst>
                    </a:gridCol>
                    <a:gridCol w="1620753">
                      <a:extLst>
                        <a:ext uri="{9D8B030D-6E8A-4147-A177-3AD203B41FA5}">
                          <a16:colId xmlns:a16="http://schemas.microsoft.com/office/drawing/2014/main" val="1443508891"/>
                        </a:ext>
                      </a:extLst>
                    </a:gridCol>
                    <a:gridCol w="6637369">
                      <a:extLst>
                        <a:ext uri="{9D8B030D-6E8A-4147-A177-3AD203B41FA5}">
                          <a16:colId xmlns:a16="http://schemas.microsoft.com/office/drawing/2014/main" val="1022075852"/>
                        </a:ext>
                      </a:extLst>
                    </a:gridCol>
                  </a:tblGrid>
                  <a:tr h="555993">
                    <a:tc>
                      <a:txBody>
                        <a:bodyPr/>
                        <a:lstStyle/>
                        <a:p>
                          <a:pPr rtl="0">
                            <a:buNone/>
                          </a:pPr>
                          <a:r>
                            <a:rPr lang="en-IN" sz="2400" b="1" dirty="0">
                              <a:solidFill>
                                <a:srgbClr val="1F1F1F"/>
                              </a:solidFill>
                              <a:effectLst/>
                              <a:latin typeface="Google Sans Text"/>
                            </a:rPr>
                            <a:t>Problem</a:t>
                          </a:r>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Group (G)</a:t>
                          </a:r>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Hidden Subgroup (H)</a:t>
                          </a:r>
                          <a:endParaRPr lang="en-IN" sz="24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4475435"/>
                      </a:ext>
                    </a:extLst>
                  </a:tr>
                  <a:tr h="555993">
                    <a:tc>
                      <a:txBody>
                        <a:bodyPr/>
                        <a:lstStyle/>
                        <a:p>
                          <a:pPr rtl="0">
                            <a:buNone/>
                          </a:pPr>
                          <a:r>
                            <a:rPr lang="en-IN" sz="2400" b="0" dirty="0">
                              <a:solidFill>
                                <a:srgbClr val="1F1F1F"/>
                              </a:solidFill>
                              <a:effectLst/>
                              <a:latin typeface="Google Sans Text"/>
                            </a:rPr>
                            <a:t>Deutsch-Jozsa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6"/>
                          <a:stretch>
                            <a:fillRect l="-140945" t="-100000" r="-413386" b="-281818"/>
                          </a:stretch>
                        </a:blipFill>
                      </a:tcPr>
                    </a:tc>
                    <a:tc>
                      <a:txBody>
                        <a:bodyPr/>
                        <a:lstStyle/>
                        <a:p>
                          <a:endParaRPr lang="en-US"/>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6"/>
                          <a:stretch>
                            <a:fillRect l="-58509" t="-100000" r="-382" b="-281818"/>
                          </a:stretch>
                        </a:blipFill>
                      </a:tcPr>
                    </a:tc>
                    <a:extLst>
                      <a:ext uri="{0D108BD9-81ED-4DB2-BD59-A6C34878D82A}">
                        <a16:rowId xmlns:a16="http://schemas.microsoft.com/office/drawing/2014/main" val="1600204935"/>
                      </a:ext>
                    </a:extLst>
                  </a:tr>
                  <a:tr h="883920">
                    <a:tc>
                      <a:txBody>
                        <a:bodyPr/>
                        <a:lstStyle/>
                        <a:p>
                          <a:pPr rtl="0">
                            <a:buNone/>
                          </a:pPr>
                          <a:r>
                            <a:rPr lang="en-IN" sz="2400" b="0" dirty="0">
                              <a:solidFill>
                                <a:srgbClr val="1F1F1F"/>
                              </a:solidFill>
                              <a:effectLst/>
                              <a:latin typeface="Google Sans Text"/>
                            </a:rPr>
                            <a:t>Simon's Problem</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6"/>
                          <a:stretch>
                            <a:fillRect l="-140945" t="-125714" r="-413386" b="-77143"/>
                          </a:stretch>
                        </a:blipFill>
                      </a:tcPr>
                    </a:tc>
                    <a:tc>
                      <a:txBody>
                        <a:bodyPr/>
                        <a:lstStyle/>
                        <a:p>
                          <a:endParaRPr lang="en-US"/>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6"/>
                          <a:stretch>
                            <a:fillRect l="-58509" t="-125714" r="-382" b="-77143"/>
                          </a:stretch>
                        </a:blipFill>
                      </a:tcPr>
                    </a:tc>
                    <a:extLst>
                      <a:ext uri="{0D108BD9-81ED-4DB2-BD59-A6C34878D82A}">
                        <a16:rowId xmlns:a16="http://schemas.microsoft.com/office/drawing/2014/main" val="892302772"/>
                      </a:ext>
                    </a:extLst>
                  </a:tr>
                  <a:tr h="606294">
                    <a:tc>
                      <a:txBody>
                        <a:bodyPr/>
                        <a:lstStyle/>
                        <a:p>
                          <a:pPr rtl="0">
                            <a:buNone/>
                          </a:pPr>
                          <a:r>
                            <a:rPr lang="en-IN" sz="2400" b="0" dirty="0">
                              <a:solidFill>
                                <a:srgbClr val="1F1F1F"/>
                              </a:solidFill>
                              <a:effectLst/>
                              <a:latin typeface="Google Sans Text"/>
                            </a:rPr>
                            <a:t>Period Finding</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endParaRPr lang="en-US"/>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6"/>
                          <a:stretch>
                            <a:fillRect l="-140945" t="-329167" r="-413386" b="-12500"/>
                          </a:stretch>
                        </a:blipFill>
                      </a:tcPr>
                    </a:tc>
                    <a:tc>
                      <a:txBody>
                        <a:bodyPr/>
                        <a:lstStyle/>
                        <a:p>
                          <a:endParaRPr lang="en-US"/>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blipFill>
                          <a:blip r:embed="rId6"/>
                          <a:stretch>
                            <a:fillRect l="-58509" t="-329167" r="-382" b="-12500"/>
                          </a:stretch>
                        </a:blipFill>
                      </a:tcPr>
                    </a:tc>
                    <a:extLst>
                      <a:ext uri="{0D108BD9-81ED-4DB2-BD59-A6C34878D82A}">
                        <a16:rowId xmlns:a16="http://schemas.microsoft.com/office/drawing/2014/main" val="3074483555"/>
                      </a:ext>
                    </a:extLst>
                  </a:tr>
                </a:tbl>
              </a:graphicData>
            </a:graphic>
          </p:graphicFrame>
        </mc:Fallback>
      </mc:AlternateContent>
      <p:cxnSp>
        <p:nvCxnSpPr>
          <p:cNvPr id="9" name="Straight Arrow Connector 8">
            <a:extLst>
              <a:ext uri="{FF2B5EF4-FFF2-40B4-BE49-F238E27FC236}">
                <a16:creationId xmlns:a16="http://schemas.microsoft.com/office/drawing/2014/main" id="{4DF87D0A-3390-4EE0-9EF9-465B641AC911}"/>
              </a:ext>
            </a:extLst>
          </p:cNvPr>
          <p:cNvCxnSpPr/>
          <p:nvPr/>
        </p:nvCxnSpPr>
        <p:spPr>
          <a:xfrm>
            <a:off x="6336391" y="2422358"/>
            <a:ext cx="5374346"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49E1DCD8-A31E-BF97-9EB4-23BA06BC7AE1}"/>
              </a:ext>
            </a:extLst>
          </p:cNvPr>
          <p:cNvSpPr/>
          <p:nvPr/>
        </p:nvSpPr>
        <p:spPr>
          <a:xfrm>
            <a:off x="8835867" y="2310321"/>
            <a:ext cx="215205" cy="2196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4A2E29B-6221-EE9D-ED15-AC1BB81A0210}"/>
              </a:ext>
            </a:extLst>
          </p:cNvPr>
          <p:cNvSpPr/>
          <p:nvPr/>
        </p:nvSpPr>
        <p:spPr>
          <a:xfrm>
            <a:off x="8143205" y="2321026"/>
            <a:ext cx="215205" cy="21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53A55FC-B5F5-7BF5-914A-E46B7EEA564F}"/>
              </a:ext>
            </a:extLst>
          </p:cNvPr>
          <p:cNvSpPr/>
          <p:nvPr/>
        </p:nvSpPr>
        <p:spPr>
          <a:xfrm>
            <a:off x="10219501" y="2310321"/>
            <a:ext cx="215205" cy="2196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587EC92-87F0-0769-0456-6CCC2BCD617B}"/>
              </a:ext>
            </a:extLst>
          </p:cNvPr>
          <p:cNvSpPr/>
          <p:nvPr/>
        </p:nvSpPr>
        <p:spPr>
          <a:xfrm>
            <a:off x="10910473" y="2310321"/>
            <a:ext cx="215205" cy="21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00636F2-4102-AE86-A8D6-57A14F3BB70F}"/>
              </a:ext>
            </a:extLst>
          </p:cNvPr>
          <p:cNvSpPr/>
          <p:nvPr/>
        </p:nvSpPr>
        <p:spPr>
          <a:xfrm>
            <a:off x="9528529" y="2311402"/>
            <a:ext cx="215205" cy="21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06F3862-DEBD-51EA-8E77-36F703DC71DB}"/>
              </a:ext>
            </a:extLst>
          </p:cNvPr>
          <p:cNvSpPr/>
          <p:nvPr/>
        </p:nvSpPr>
        <p:spPr>
          <a:xfrm>
            <a:off x="6811340" y="2312789"/>
            <a:ext cx="215205" cy="21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119C5BD-CC84-A84F-2751-186A32D67599}"/>
              </a:ext>
            </a:extLst>
          </p:cNvPr>
          <p:cNvSpPr/>
          <p:nvPr/>
        </p:nvSpPr>
        <p:spPr>
          <a:xfrm>
            <a:off x="7446496" y="2305207"/>
            <a:ext cx="215205" cy="2196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E77C951-D273-42F7-7082-F1D84D4C8BAE}"/>
              </a:ext>
            </a:extLst>
          </p:cNvPr>
          <p:cNvSpPr txBox="1"/>
          <p:nvPr/>
        </p:nvSpPr>
        <p:spPr>
          <a:xfrm>
            <a:off x="8787058" y="2573854"/>
            <a:ext cx="312821" cy="369332"/>
          </a:xfrm>
          <a:prstGeom prst="rect">
            <a:avLst/>
          </a:prstGeom>
          <a:noFill/>
        </p:spPr>
        <p:txBody>
          <a:bodyPr wrap="square" rtlCol="0">
            <a:spAutoFit/>
          </a:bodyPr>
          <a:lstStyle/>
          <a:p>
            <a:r>
              <a:rPr lang="en-US" dirty="0"/>
              <a:t>0</a:t>
            </a:r>
          </a:p>
        </p:txBody>
      </p:sp>
      <p:sp>
        <p:nvSpPr>
          <p:cNvPr id="19" name="TextBox 18">
            <a:extLst>
              <a:ext uri="{FF2B5EF4-FFF2-40B4-BE49-F238E27FC236}">
                <a16:creationId xmlns:a16="http://schemas.microsoft.com/office/drawing/2014/main" id="{D15B2AB8-5F37-D028-C8E5-6C299F23D3B1}"/>
              </a:ext>
            </a:extLst>
          </p:cNvPr>
          <p:cNvSpPr txBox="1"/>
          <p:nvPr/>
        </p:nvSpPr>
        <p:spPr>
          <a:xfrm>
            <a:off x="9479720" y="2581927"/>
            <a:ext cx="312821" cy="369332"/>
          </a:xfrm>
          <a:prstGeom prst="rect">
            <a:avLst/>
          </a:prstGeom>
          <a:noFill/>
        </p:spPr>
        <p:txBody>
          <a:bodyPr wrap="square" rtlCol="0">
            <a:spAutoFit/>
          </a:bodyPr>
          <a:lstStyle/>
          <a:p>
            <a:r>
              <a:rPr lang="en-US" dirty="0"/>
              <a:t>1</a:t>
            </a:r>
          </a:p>
        </p:txBody>
      </p:sp>
      <p:sp>
        <p:nvSpPr>
          <p:cNvPr id="20" name="TextBox 19">
            <a:extLst>
              <a:ext uri="{FF2B5EF4-FFF2-40B4-BE49-F238E27FC236}">
                <a16:creationId xmlns:a16="http://schemas.microsoft.com/office/drawing/2014/main" id="{D4E5E464-C093-1939-2912-2CFC53CE9440}"/>
              </a:ext>
            </a:extLst>
          </p:cNvPr>
          <p:cNvSpPr txBox="1"/>
          <p:nvPr/>
        </p:nvSpPr>
        <p:spPr>
          <a:xfrm>
            <a:off x="8094396" y="2573854"/>
            <a:ext cx="440004" cy="369332"/>
          </a:xfrm>
          <a:prstGeom prst="rect">
            <a:avLst/>
          </a:prstGeom>
          <a:noFill/>
        </p:spPr>
        <p:txBody>
          <a:bodyPr wrap="square" rtlCol="0">
            <a:spAutoFit/>
          </a:bodyPr>
          <a:lstStyle/>
          <a:p>
            <a:r>
              <a:rPr lang="en-US" dirty="0"/>
              <a:t>-1</a:t>
            </a:r>
          </a:p>
        </p:txBody>
      </p:sp>
      <p:sp>
        <p:nvSpPr>
          <p:cNvPr id="21" name="TextBox 20">
            <a:extLst>
              <a:ext uri="{FF2B5EF4-FFF2-40B4-BE49-F238E27FC236}">
                <a16:creationId xmlns:a16="http://schemas.microsoft.com/office/drawing/2014/main" id="{05674627-77A2-ACB1-AB8E-EE64803D3C9F}"/>
              </a:ext>
            </a:extLst>
          </p:cNvPr>
          <p:cNvSpPr txBox="1"/>
          <p:nvPr/>
        </p:nvSpPr>
        <p:spPr>
          <a:xfrm>
            <a:off x="10861664" y="2581927"/>
            <a:ext cx="312821" cy="369332"/>
          </a:xfrm>
          <a:prstGeom prst="rect">
            <a:avLst/>
          </a:prstGeom>
          <a:noFill/>
        </p:spPr>
        <p:txBody>
          <a:bodyPr wrap="square" rtlCol="0">
            <a:spAutoFit/>
          </a:bodyPr>
          <a:lstStyle/>
          <a:p>
            <a:r>
              <a:rPr lang="en-US" dirty="0"/>
              <a:t>3</a:t>
            </a:r>
          </a:p>
        </p:txBody>
      </p:sp>
      <p:sp>
        <p:nvSpPr>
          <p:cNvPr id="22" name="TextBox 21">
            <a:extLst>
              <a:ext uri="{FF2B5EF4-FFF2-40B4-BE49-F238E27FC236}">
                <a16:creationId xmlns:a16="http://schemas.microsoft.com/office/drawing/2014/main" id="{849F35F2-98E8-5CA2-0E44-8C70FA419E04}"/>
              </a:ext>
            </a:extLst>
          </p:cNvPr>
          <p:cNvSpPr txBox="1"/>
          <p:nvPr/>
        </p:nvSpPr>
        <p:spPr>
          <a:xfrm>
            <a:off x="10172382" y="2573854"/>
            <a:ext cx="312821" cy="369332"/>
          </a:xfrm>
          <a:prstGeom prst="rect">
            <a:avLst/>
          </a:prstGeom>
          <a:noFill/>
        </p:spPr>
        <p:txBody>
          <a:bodyPr wrap="square" rtlCol="0">
            <a:spAutoFit/>
          </a:bodyPr>
          <a:lstStyle/>
          <a:p>
            <a:r>
              <a:rPr lang="en-US" dirty="0"/>
              <a:t>2</a:t>
            </a:r>
          </a:p>
        </p:txBody>
      </p:sp>
      <p:sp>
        <p:nvSpPr>
          <p:cNvPr id="23" name="TextBox 22">
            <a:extLst>
              <a:ext uri="{FF2B5EF4-FFF2-40B4-BE49-F238E27FC236}">
                <a16:creationId xmlns:a16="http://schemas.microsoft.com/office/drawing/2014/main" id="{87F81CE9-9F1F-BF93-D9EE-C34280BED423}"/>
              </a:ext>
            </a:extLst>
          </p:cNvPr>
          <p:cNvSpPr txBox="1"/>
          <p:nvPr/>
        </p:nvSpPr>
        <p:spPr>
          <a:xfrm>
            <a:off x="7397687" y="2581927"/>
            <a:ext cx="440004" cy="369332"/>
          </a:xfrm>
          <a:prstGeom prst="rect">
            <a:avLst/>
          </a:prstGeom>
          <a:noFill/>
        </p:spPr>
        <p:txBody>
          <a:bodyPr wrap="square" rtlCol="0">
            <a:spAutoFit/>
          </a:bodyPr>
          <a:lstStyle/>
          <a:p>
            <a:r>
              <a:rPr lang="en-US" dirty="0"/>
              <a:t>-2</a:t>
            </a:r>
          </a:p>
        </p:txBody>
      </p:sp>
      <p:sp>
        <p:nvSpPr>
          <p:cNvPr id="24" name="TextBox 23">
            <a:extLst>
              <a:ext uri="{FF2B5EF4-FFF2-40B4-BE49-F238E27FC236}">
                <a16:creationId xmlns:a16="http://schemas.microsoft.com/office/drawing/2014/main" id="{6436244D-5687-FB85-3D1B-0AD64215EAE1}"/>
              </a:ext>
            </a:extLst>
          </p:cNvPr>
          <p:cNvSpPr txBox="1"/>
          <p:nvPr/>
        </p:nvSpPr>
        <p:spPr>
          <a:xfrm>
            <a:off x="6782376" y="2573025"/>
            <a:ext cx="44000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374624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p"/>
      <p:bldP spid="5" grpId="0"/>
      <p:bldP spid="6" grpId="0"/>
      <p:bldP spid="7" grpId="0"/>
      <p:bldP spid="10" grpId="0" animBg="1"/>
      <p:bldP spid="11" grpId="0" animBg="1"/>
      <p:bldP spid="12" grpId="0" animBg="1"/>
      <p:bldP spid="13" grpId="0" animBg="1"/>
      <p:bldP spid="14" grpId="0" animBg="1"/>
      <p:bldP spid="16" grpId="0" animBg="1"/>
      <p:bldP spid="17" grpId="0" animBg="1"/>
      <p:bldP spid="18" grpId="0"/>
      <p:bldP spid="19" grpId="0"/>
      <p:bldP spid="20" grpId="0"/>
      <p:bldP spid="21" grpId="0"/>
      <p:bldP spid="22"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8699-D29E-DCA8-72D2-29F4E49361DB}"/>
              </a:ext>
            </a:extLst>
          </p:cNvPr>
          <p:cNvSpPr>
            <a:spLocks noGrp="1"/>
          </p:cNvSpPr>
          <p:nvPr>
            <p:ph type="title"/>
          </p:nvPr>
        </p:nvSpPr>
        <p:spPr/>
        <p:txBody>
          <a:bodyPr/>
          <a:lstStyle/>
          <a:p>
            <a:r>
              <a:rPr lang="en-US" dirty="0"/>
              <a:t>Dihedral Hidden Subgroup Problem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BAA9FA-0754-7F57-5368-F435B68C67A9}"/>
                  </a:ext>
                </a:extLst>
              </p:cNvPr>
              <p:cNvSpPr txBox="1"/>
              <p:nvPr/>
            </p:nvSpPr>
            <p:spPr>
              <a:xfrm>
                <a:off x="838201" y="1506022"/>
                <a:ext cx="9043736" cy="497637"/>
              </a:xfrm>
              <a:prstGeom prst="rect">
                <a:avLst/>
              </a:prstGeom>
              <a:noFill/>
            </p:spPr>
            <p:txBody>
              <a:bodyPr wrap="square" rtlCol="0">
                <a:spAutoFit/>
              </a:bodyPr>
              <a:lstStyle/>
              <a:p>
                <a:r>
                  <a:rPr lang="en-US" sz="2400" dirty="0"/>
                  <a:t>Dihedral Group of order </a:t>
                </a:r>
                <a14:m>
                  <m:oMath xmlns:m="http://schemas.openxmlformats.org/officeDocument/2006/math">
                    <m:r>
                      <a:rPr lang="en-US" sz="2400" b="0" i="1" smtClean="0">
                        <a:solidFill>
                          <a:schemeClr val="accent5">
                            <a:lumMod val="75000"/>
                          </a:schemeClr>
                        </a:solidFill>
                        <a:latin typeface="Cambria Math" panose="02040503050406030204" pitchFamily="18" charset="0"/>
                      </a:rPr>
                      <m:t>2</m:t>
                    </m:r>
                    <m:r>
                      <a:rPr lang="en-US" sz="2400" b="0" i="1" smtClean="0">
                        <a:solidFill>
                          <a:schemeClr val="accent5">
                            <a:lumMod val="75000"/>
                          </a:schemeClr>
                        </a:solidFill>
                        <a:latin typeface="Cambria Math" panose="02040503050406030204" pitchFamily="18" charset="0"/>
                      </a:rPr>
                      <m:t>𝑞</m:t>
                    </m:r>
                  </m:oMath>
                </a14:m>
                <a:r>
                  <a:rPr lang="en-US" sz="2400" dirty="0"/>
                  <a:t>:    </a:t>
                </a:r>
                <a14:m>
                  <m:oMath xmlns:m="http://schemas.openxmlformats.org/officeDocument/2006/math">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𝐷</m:t>
                        </m:r>
                      </m:e>
                      <m:sub>
                        <m:r>
                          <a:rPr lang="en-US" sz="2400" b="0" i="1" smtClean="0">
                            <a:solidFill>
                              <a:schemeClr val="accent5">
                                <a:lumMod val="75000"/>
                              </a:schemeClr>
                            </a:solidFill>
                            <a:latin typeface="Cambria Math" panose="02040503050406030204" pitchFamily="18" charset="0"/>
                          </a:rPr>
                          <m:t>𝑞</m:t>
                        </m:r>
                      </m:sub>
                    </m:sSub>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𝑟</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𝑡</m:t>
                        </m:r>
                        <m:r>
                          <a:rPr lang="en-US" sz="2400" b="0" i="1" smtClean="0">
                            <a:solidFill>
                              <a:schemeClr val="accent5">
                                <a:lumMod val="75000"/>
                              </a:schemeClr>
                            </a:solidFill>
                            <a:latin typeface="Cambria Math" panose="02040503050406030204" pitchFamily="18" charset="0"/>
                          </a:rPr>
                          <m:t> </m:t>
                        </m:r>
                      </m:e>
                    </m:d>
                    <m:r>
                      <a:rPr lang="en-US" sz="2400" b="0" i="1" smtClean="0">
                        <a:solidFill>
                          <a:schemeClr val="accent5">
                            <a:lumMod val="75000"/>
                          </a:schemeClr>
                        </a:solidFill>
                        <a:latin typeface="Cambria Math" panose="02040503050406030204" pitchFamily="18" charset="0"/>
                      </a:rPr>
                      <m:t> </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𝑟</m:t>
                        </m:r>
                      </m:e>
                      <m:sup>
                        <m:r>
                          <a:rPr lang="en-US" sz="2400" b="0" i="1" smtClean="0">
                            <a:solidFill>
                              <a:schemeClr val="accent5">
                                <a:lumMod val="75000"/>
                              </a:schemeClr>
                            </a:solidFill>
                            <a:latin typeface="Cambria Math" panose="02040503050406030204" pitchFamily="18" charset="0"/>
                          </a:rPr>
                          <m:t>2</m:t>
                        </m:r>
                      </m:sup>
                    </m:sSup>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𝑡</m:t>
                        </m:r>
                      </m:e>
                      <m:sup>
                        <m:r>
                          <a:rPr lang="en-US" sz="2400" b="0" i="1" smtClean="0">
                            <a:solidFill>
                              <a:schemeClr val="accent5">
                                <a:lumMod val="75000"/>
                              </a:schemeClr>
                            </a:solidFill>
                            <a:latin typeface="Cambria Math" panose="02040503050406030204" pitchFamily="18" charset="0"/>
                          </a:rPr>
                          <m:t>𝑞</m:t>
                        </m:r>
                      </m:sup>
                    </m:sSup>
                    <m:r>
                      <a:rPr lang="en-US" sz="2400" b="0" i="1" smtClean="0">
                        <a:solidFill>
                          <a:schemeClr val="accent5">
                            <a:lumMod val="75000"/>
                          </a:schemeClr>
                        </a:solidFill>
                        <a:latin typeface="Cambria Math" panose="02040503050406030204" pitchFamily="18" charset="0"/>
                      </a:rPr>
                      <m:t>=1,  </m:t>
                    </m:r>
                    <m:r>
                      <a:rPr lang="en-US" sz="2400" b="0" i="1" smtClean="0">
                        <a:solidFill>
                          <a:schemeClr val="accent5">
                            <a:lumMod val="75000"/>
                          </a:schemeClr>
                        </a:solidFill>
                        <a:latin typeface="Cambria Math" panose="02040503050406030204" pitchFamily="18" charset="0"/>
                      </a:rPr>
                      <m:t>𝑟𝑡𝑟</m:t>
                    </m:r>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𝑡</m:t>
                        </m:r>
                      </m:e>
                      <m:sup>
                        <m:r>
                          <a:rPr lang="en-US" sz="2400" b="0" i="1" smtClean="0">
                            <a:solidFill>
                              <a:schemeClr val="accent5">
                                <a:lumMod val="75000"/>
                              </a:schemeClr>
                            </a:solidFill>
                            <a:latin typeface="Cambria Math" panose="02040503050406030204" pitchFamily="18" charset="0"/>
                          </a:rPr>
                          <m:t>−1</m:t>
                        </m:r>
                      </m:sup>
                    </m:sSup>
                    <m:r>
                      <a:rPr lang="en-US" sz="2400" b="0" i="1" smtClean="0">
                        <a:solidFill>
                          <a:schemeClr val="accent5">
                            <a:lumMod val="75000"/>
                          </a:schemeClr>
                        </a:solidFill>
                        <a:latin typeface="Cambria Math" panose="02040503050406030204" pitchFamily="18" charset="0"/>
                      </a:rPr>
                      <m:t>⟩</m:t>
                    </m:r>
                  </m:oMath>
                </a14:m>
                <a:endParaRPr lang="en-US" sz="2400" dirty="0"/>
              </a:p>
            </p:txBody>
          </p:sp>
        </mc:Choice>
        <mc:Fallback xmlns="">
          <p:sp>
            <p:nvSpPr>
              <p:cNvPr id="5" name="TextBox 4">
                <a:extLst>
                  <a:ext uri="{FF2B5EF4-FFF2-40B4-BE49-F238E27FC236}">
                    <a16:creationId xmlns:a16="http://schemas.microsoft.com/office/drawing/2014/main" id="{16BAA9FA-0754-7F57-5368-F435B68C67A9}"/>
                  </a:ext>
                </a:extLst>
              </p:cNvPr>
              <p:cNvSpPr txBox="1">
                <a:spLocks noRot="1" noChangeAspect="1" noMove="1" noResize="1" noEditPoints="1" noAdjustHandles="1" noChangeArrowheads="1" noChangeShapeType="1" noTextEdit="1"/>
              </p:cNvSpPr>
              <p:nvPr/>
            </p:nvSpPr>
            <p:spPr>
              <a:xfrm>
                <a:off x="838201" y="1506022"/>
                <a:ext cx="9043736" cy="497637"/>
              </a:xfrm>
              <a:prstGeom prst="rect">
                <a:avLst/>
              </a:prstGeom>
              <a:blipFill>
                <a:blip r:embed="rId2"/>
                <a:stretch>
                  <a:fillRect l="-1122" t="-7500" b="-2500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A2F9FF1E-ED9B-BE83-9C79-2F68568E39A4}"/>
              </a:ext>
            </a:extLst>
          </p:cNvPr>
          <p:cNvPicPr>
            <a:picLocks noChangeAspect="1"/>
          </p:cNvPicPr>
          <p:nvPr/>
        </p:nvPicPr>
        <p:blipFill>
          <a:blip r:embed="rId3"/>
          <a:stretch>
            <a:fillRect/>
          </a:stretch>
        </p:blipFill>
        <p:spPr>
          <a:xfrm>
            <a:off x="8944131" y="2012102"/>
            <a:ext cx="2668843" cy="235715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B7955D5-5E4C-6C11-01C2-6B12BD3F3F96}"/>
                  </a:ext>
                </a:extLst>
              </p:cNvPr>
              <p:cNvSpPr txBox="1"/>
              <p:nvPr/>
            </p:nvSpPr>
            <p:spPr>
              <a:xfrm>
                <a:off x="5284386" y="1945665"/>
                <a:ext cx="1415196" cy="3978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2</m:t>
                          </m:r>
                        </m:sub>
                      </m:sSub>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m:oMathPara>
                </a14:m>
                <a:endParaRPr lang="en-US" sz="2400" dirty="0">
                  <a:solidFill>
                    <a:schemeClr val="accent5">
                      <a:lumMod val="75000"/>
                    </a:schemeClr>
                  </a:solidFill>
                </a:endParaRPr>
              </a:p>
            </p:txBody>
          </p:sp>
        </mc:Choice>
        <mc:Fallback xmlns="">
          <p:sp>
            <p:nvSpPr>
              <p:cNvPr id="8" name="TextBox 7">
                <a:extLst>
                  <a:ext uri="{FF2B5EF4-FFF2-40B4-BE49-F238E27FC236}">
                    <a16:creationId xmlns:a16="http://schemas.microsoft.com/office/drawing/2014/main" id="{BB7955D5-5E4C-6C11-01C2-6B12BD3F3F96}"/>
                  </a:ext>
                </a:extLst>
              </p:cNvPr>
              <p:cNvSpPr txBox="1">
                <a:spLocks noRot="1" noChangeAspect="1" noMove="1" noResize="1" noEditPoints="1" noAdjustHandles="1" noChangeArrowheads="1" noChangeShapeType="1" noTextEdit="1"/>
              </p:cNvSpPr>
              <p:nvPr/>
            </p:nvSpPr>
            <p:spPr>
              <a:xfrm>
                <a:off x="5284386" y="1945665"/>
                <a:ext cx="1415196" cy="397866"/>
              </a:xfrm>
              <a:prstGeom prst="rect">
                <a:avLst/>
              </a:prstGeom>
              <a:blipFill>
                <a:blip r:embed="rId4"/>
                <a:stretch>
                  <a:fillRect l="-3571" r="-1786"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7189CAC-5425-193D-5E92-CF0A0B9EBAA0}"/>
                  </a:ext>
                </a:extLst>
              </p:cNvPr>
              <p:cNvSpPr txBox="1"/>
              <p:nvPr/>
            </p:nvSpPr>
            <p:spPr>
              <a:xfrm>
                <a:off x="3982453" y="2395178"/>
                <a:ext cx="48716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𝑎</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𝑥</m:t>
                          </m:r>
                        </m:e>
                      </m:d>
                      <m:r>
                        <a:rPr lang="en-US" sz="2400" b="0" i="1" smtClean="0">
                          <a:solidFill>
                            <a:schemeClr val="accent5">
                              <a:lumMod val="75000"/>
                            </a:schemeClr>
                          </a:solidFill>
                          <a:latin typeface="Cambria Math" panose="02040503050406030204" pitchFamily="18" charset="0"/>
                        </a:rPr>
                        <m:t>⋅</m:t>
                      </m:r>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𝑦</m:t>
                          </m:r>
                        </m:e>
                      </m:d>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𝑎</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𝑥</m:t>
                      </m:r>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e>
                          </m:d>
                        </m:e>
                        <m:sup>
                          <m:r>
                            <a:rPr lang="en-US" sz="2400" b="0" i="1" smtClean="0">
                              <a:solidFill>
                                <a:schemeClr val="accent5">
                                  <a:lumMod val="75000"/>
                                </a:schemeClr>
                              </a:solidFill>
                              <a:latin typeface="Cambria Math" panose="02040503050406030204" pitchFamily="18" charset="0"/>
                            </a:rPr>
                            <m:t>𝑎</m:t>
                          </m:r>
                        </m:sup>
                      </m:sSup>
                      <m:r>
                        <a:rPr lang="en-US" sz="2400" b="0" i="1" smtClean="0">
                          <a:solidFill>
                            <a:schemeClr val="accent5">
                              <a:lumMod val="75000"/>
                            </a:schemeClr>
                          </a:solidFill>
                          <a:latin typeface="Cambria Math" panose="02040503050406030204" pitchFamily="18" charset="0"/>
                        </a:rPr>
                        <m:t>𝑦</m:t>
                      </m:r>
                      <m:r>
                        <a:rPr lang="en-US" sz="2400" b="0" i="1" smtClean="0">
                          <a:solidFill>
                            <a:schemeClr val="accent5">
                              <a:lumMod val="75000"/>
                            </a:schemeClr>
                          </a:solidFill>
                          <a:latin typeface="Cambria Math" panose="02040503050406030204" pitchFamily="18" charset="0"/>
                        </a:rPr>
                        <m:t>)</m:t>
                      </m:r>
                    </m:oMath>
                  </m:oMathPara>
                </a14:m>
                <a:endParaRPr lang="en-US" sz="2400" dirty="0">
                  <a:solidFill>
                    <a:schemeClr val="accent5">
                      <a:lumMod val="75000"/>
                    </a:schemeClr>
                  </a:solidFill>
                </a:endParaRPr>
              </a:p>
            </p:txBody>
          </p:sp>
        </mc:Choice>
        <mc:Fallback xmlns="">
          <p:sp>
            <p:nvSpPr>
              <p:cNvPr id="9" name="TextBox 8">
                <a:extLst>
                  <a:ext uri="{FF2B5EF4-FFF2-40B4-BE49-F238E27FC236}">
                    <a16:creationId xmlns:a16="http://schemas.microsoft.com/office/drawing/2014/main" id="{E7189CAC-5425-193D-5E92-CF0A0B9EBAA0}"/>
                  </a:ext>
                </a:extLst>
              </p:cNvPr>
              <p:cNvSpPr txBox="1">
                <a:spLocks noRot="1" noChangeAspect="1" noMove="1" noResize="1" noEditPoints="1" noAdjustHandles="1" noChangeArrowheads="1" noChangeShapeType="1" noTextEdit="1"/>
              </p:cNvSpPr>
              <p:nvPr/>
            </p:nvSpPr>
            <p:spPr>
              <a:xfrm>
                <a:off x="3982453" y="2395178"/>
                <a:ext cx="4871654" cy="369332"/>
              </a:xfrm>
              <a:prstGeom prst="rect">
                <a:avLst/>
              </a:prstGeom>
              <a:blipFill>
                <a:blip r:embed="rId5"/>
                <a:stretch>
                  <a:fillRect t="-10000" r="-2083" b="-3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B362E7C-8BDB-D518-EC92-737468DD0608}"/>
                  </a:ext>
                </a:extLst>
              </p:cNvPr>
              <p:cNvSpPr txBox="1"/>
              <p:nvPr/>
            </p:nvSpPr>
            <p:spPr>
              <a:xfrm>
                <a:off x="838200" y="2974697"/>
                <a:ext cx="6669505" cy="490199"/>
              </a:xfrm>
              <a:prstGeom prst="rect">
                <a:avLst/>
              </a:prstGeom>
              <a:noFill/>
            </p:spPr>
            <p:txBody>
              <a:bodyPr wrap="square" rtlCol="0">
                <a:spAutoFit/>
              </a:bodyPr>
              <a:lstStyle/>
              <a:p>
                <a:r>
                  <a:rPr lang="en-US" sz="2400" dirty="0"/>
                  <a:t>Hidden Subgroup: </a:t>
                </a:r>
                <a14:m>
                  <m:oMath xmlns:m="http://schemas.openxmlformats.org/officeDocument/2006/math">
                    <m:r>
                      <m:rPr>
                        <m:sty m:val="p"/>
                      </m:rPr>
                      <a:rPr lang="en-US" sz="2400" b="0" i="0" smtClean="0">
                        <a:solidFill>
                          <a:schemeClr val="accent5">
                            <a:lumMod val="75000"/>
                          </a:schemeClr>
                        </a:solidFill>
                        <a:latin typeface="Cambria Math" panose="02040503050406030204" pitchFamily="18" charset="0"/>
                      </a:rPr>
                      <m:t>H</m:t>
                    </m:r>
                    <m:r>
                      <a:rPr lang="en-US" sz="2400" b="0" i="0" smtClean="0">
                        <a:solidFill>
                          <a:schemeClr val="accent5">
                            <a:lumMod val="75000"/>
                          </a:schemeClr>
                        </a:solidFill>
                        <a:latin typeface="Cambria Math" panose="02040503050406030204" pitchFamily="18" charset="0"/>
                      </a:rPr>
                      <m:t>=</m:t>
                    </m:r>
                    <m:r>
                      <m:rPr>
                        <m:lit/>
                      </m:rPr>
                      <a:rPr lang="en-US" sz="2400" b="0" i="0" smtClean="0">
                        <a:solidFill>
                          <a:schemeClr val="accent5">
                            <a:lumMod val="75000"/>
                          </a:schemeClr>
                        </a:solidFill>
                        <a:latin typeface="Cambria Math" panose="02040503050406030204" pitchFamily="18" charset="0"/>
                      </a:rPr>
                      <m:t>{</m:t>
                    </m:r>
                    <m:d>
                      <m:dPr>
                        <m:ctrlPr>
                          <a:rPr lang="en-US" sz="2400" b="0" i="1" smtClean="0">
                            <a:solidFill>
                              <a:schemeClr val="accent5">
                                <a:lumMod val="75000"/>
                              </a:schemeClr>
                            </a:solidFill>
                            <a:latin typeface="Cambria Math" panose="02040503050406030204" pitchFamily="18" charset="0"/>
                          </a:rPr>
                        </m:ctrlPr>
                      </m:dPr>
                      <m:e>
                        <m:r>
                          <a:rPr lang="en-US" sz="2400" b="0" i="0" smtClean="0">
                            <a:solidFill>
                              <a:schemeClr val="accent5">
                                <a:lumMod val="75000"/>
                              </a:schemeClr>
                            </a:solidFill>
                            <a:latin typeface="Cambria Math" panose="02040503050406030204" pitchFamily="18" charset="0"/>
                          </a:rPr>
                          <m:t>0,0</m:t>
                        </m:r>
                      </m:e>
                    </m:d>
                    <m:r>
                      <a:rPr lang="en-US" sz="2400" b="0" i="0"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𝑠</m:t>
                    </m:r>
                    <m:r>
                      <a:rPr lang="en-US" sz="2400" b="0" i="1" smtClean="0">
                        <a:solidFill>
                          <a:schemeClr val="accent5">
                            <a:lumMod val="75000"/>
                          </a:schemeClr>
                        </a:solidFill>
                        <a:latin typeface="Cambria Math" panose="02040503050406030204" pitchFamily="18" charset="0"/>
                      </a:rPr>
                      <m:t>)</m:t>
                    </m:r>
                    <m:r>
                      <m:rPr>
                        <m:lit/>
                      </m:rPr>
                      <a:rPr lang="en-US" sz="2400" b="0" i="1" smtClean="0">
                        <a:solidFill>
                          <a:schemeClr val="accent5">
                            <a:lumMod val="75000"/>
                          </a:schemeClr>
                        </a:solidFill>
                        <a:latin typeface="Cambria Math" panose="02040503050406030204" pitchFamily="18" charset="0"/>
                      </a:rPr>
                      <m:t>}</m:t>
                    </m:r>
                  </m:oMath>
                </a14:m>
                <a:r>
                  <a:rPr lang="en-US" sz="2400" dirty="0">
                    <a:solidFill>
                      <a:schemeClr val="accent5">
                        <a:lumMod val="75000"/>
                      </a:schemeClr>
                    </a:solidFill>
                  </a:rPr>
                  <a:t> for </a:t>
                </a:r>
                <a14:m>
                  <m:oMath xmlns:m="http://schemas.openxmlformats.org/officeDocument/2006/math">
                    <m:r>
                      <a:rPr lang="en-US" sz="2400" b="0" i="1" smtClean="0">
                        <a:solidFill>
                          <a:schemeClr val="accent5">
                            <a:lumMod val="75000"/>
                          </a:schemeClr>
                        </a:solidFill>
                        <a:latin typeface="Cambria Math" panose="02040503050406030204" pitchFamily="18" charset="0"/>
                      </a:rPr>
                      <m:t>𝑠</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endParaRPr lang="en-US" sz="2400" dirty="0"/>
              </a:p>
            </p:txBody>
          </p:sp>
        </mc:Choice>
        <mc:Fallback xmlns="">
          <p:sp>
            <p:nvSpPr>
              <p:cNvPr id="10" name="TextBox 9">
                <a:extLst>
                  <a:ext uri="{FF2B5EF4-FFF2-40B4-BE49-F238E27FC236}">
                    <a16:creationId xmlns:a16="http://schemas.microsoft.com/office/drawing/2014/main" id="{AB362E7C-8BDB-D518-EC92-737468DD0608}"/>
                  </a:ext>
                </a:extLst>
              </p:cNvPr>
              <p:cNvSpPr txBox="1">
                <a:spLocks noRot="1" noChangeAspect="1" noMove="1" noResize="1" noEditPoints="1" noAdjustHandles="1" noChangeArrowheads="1" noChangeShapeType="1" noTextEdit="1"/>
              </p:cNvSpPr>
              <p:nvPr/>
            </p:nvSpPr>
            <p:spPr>
              <a:xfrm>
                <a:off x="838200" y="2974697"/>
                <a:ext cx="6669505" cy="490199"/>
              </a:xfrm>
              <a:prstGeom prst="rect">
                <a:avLst/>
              </a:prstGeom>
              <a:blipFill>
                <a:blip r:embed="rId6"/>
                <a:stretch>
                  <a:fillRect l="-1521" t="-7692" b="-256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D8F9829-6221-E473-96D3-881C15202072}"/>
                  </a:ext>
                </a:extLst>
              </p:cNvPr>
              <p:cNvSpPr txBox="1"/>
              <p:nvPr/>
            </p:nvSpPr>
            <p:spPr>
              <a:xfrm>
                <a:off x="838200" y="3712013"/>
                <a:ext cx="7551821" cy="830997"/>
              </a:xfrm>
              <a:prstGeom prst="rect">
                <a:avLst/>
              </a:prstGeom>
              <a:noFill/>
            </p:spPr>
            <p:txBody>
              <a:bodyPr wrap="square" rtlCol="0">
                <a:spAutoFit/>
              </a:bodyPr>
              <a:lstStyle/>
              <a:p>
                <a:r>
                  <a:rPr lang="en-US" sz="2400" dirty="0"/>
                  <a:t>Oracle: </a:t>
                </a:r>
                <a14:m>
                  <m:oMath xmlns:m="http://schemas.openxmlformats.org/officeDocument/2006/math">
                    <m:r>
                      <a:rPr lang="en-US" sz="2400" i="1" smtClean="0">
                        <a:solidFill>
                          <a:schemeClr val="accent5">
                            <a:lumMod val="75000"/>
                          </a:schemeClr>
                        </a:solidFill>
                        <a:latin typeface="Cambria Math" panose="02040503050406030204" pitchFamily="18" charset="0"/>
                      </a:rPr>
                      <m:t>𝑓</m:t>
                    </m:r>
                    <m:r>
                      <a:rPr lang="en-US" sz="2400" i="1" smtClean="0">
                        <a:solidFill>
                          <a:schemeClr val="accent5">
                            <a:lumMod val="75000"/>
                          </a:schemeClr>
                        </a:solidFill>
                        <a:latin typeface="Cambria Math" panose="02040503050406030204" pitchFamily="18" charset="0"/>
                      </a:rPr>
                      <m:t>:</m:t>
                    </m:r>
                    <m:r>
                      <a:rPr lang="en-US" sz="2400" i="1" smtClean="0">
                        <a:solidFill>
                          <a:schemeClr val="accent5">
                            <a:lumMod val="75000"/>
                          </a:schemeClr>
                        </a:solidFill>
                        <a:latin typeface="Cambria Math" panose="02040503050406030204" pitchFamily="18" charset="0"/>
                      </a:rPr>
                      <m:t>𝐺</m:t>
                    </m:r>
                    <m:r>
                      <a:rPr lang="en-US" sz="2400" i="1" smtClean="0">
                        <a:solidFill>
                          <a:schemeClr val="accent5">
                            <a:lumMod val="75000"/>
                          </a:schemeClr>
                        </a:solidFill>
                        <a:latin typeface="Cambria Math" panose="02040503050406030204" pitchFamily="18" charset="0"/>
                      </a:rPr>
                      <m:t>→</m:t>
                    </m:r>
                    <m:r>
                      <a:rPr lang="en-US" sz="2400" i="1" smtClean="0">
                        <a:solidFill>
                          <a:schemeClr val="accent5">
                            <a:lumMod val="75000"/>
                          </a:schemeClr>
                        </a:solidFill>
                        <a:latin typeface="Cambria Math" panose="02040503050406030204" pitchFamily="18" charset="0"/>
                      </a:rPr>
                      <m:t>𝐶𝑂𝐿𝑂𝑅𝑆</m:t>
                    </m:r>
                    <m:r>
                      <a:rPr lang="en-US" sz="2400" b="0" i="1" smtClean="0">
                        <a:solidFill>
                          <a:schemeClr val="accent5">
                            <a:lumMod val="75000"/>
                          </a:schemeClr>
                        </a:solidFill>
                        <a:latin typeface="Cambria Math" panose="02040503050406030204" pitchFamily="18" charset="0"/>
                      </a:rPr>
                      <m:t>  ; </m:t>
                    </m:r>
                    <m:r>
                      <a:rPr lang="en-US" sz="2400" b="0" i="0" smtClean="0">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𝑓</m:t>
                    </m:r>
                    <m:d>
                      <m:dPr>
                        <m:ctrlPr>
                          <a:rPr lang="en-US" sz="2400" i="1">
                            <a:solidFill>
                              <a:schemeClr val="accent5">
                                <a:lumMod val="75000"/>
                              </a:schemeClr>
                            </a:solidFill>
                            <a:latin typeface="Cambria Math" panose="02040503050406030204" pitchFamily="18" charset="0"/>
                          </a:rPr>
                        </m:ctrlPr>
                      </m:dPr>
                      <m:e>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𝑔</m:t>
                            </m:r>
                          </m:e>
                          <m:sub>
                            <m:r>
                              <a:rPr lang="en-US" sz="2400" i="1">
                                <a:solidFill>
                                  <a:schemeClr val="accent5">
                                    <a:lumMod val="75000"/>
                                  </a:schemeClr>
                                </a:solidFill>
                                <a:latin typeface="Cambria Math" panose="02040503050406030204" pitchFamily="18" charset="0"/>
                              </a:rPr>
                              <m:t>1</m:t>
                            </m:r>
                          </m:sub>
                        </m:sSub>
                      </m:e>
                    </m:d>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𝑓</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𝑔</m:t>
                        </m:r>
                      </m:e>
                      <m:sub>
                        <m:r>
                          <a:rPr lang="en-US" sz="2400" i="1">
                            <a:solidFill>
                              <a:schemeClr val="accent5">
                                <a:lumMod val="75000"/>
                              </a:schemeClr>
                            </a:solidFill>
                            <a:latin typeface="Cambria Math" panose="02040503050406030204" pitchFamily="18" charset="0"/>
                          </a:rPr>
                          <m:t>2</m:t>
                        </m:r>
                      </m:sub>
                    </m:sSub>
                    <m:r>
                      <a:rPr lang="en-US" sz="2400" i="1">
                        <a:solidFill>
                          <a:schemeClr val="accent5">
                            <a:lumMod val="75000"/>
                          </a:schemeClr>
                        </a:solidFill>
                        <a:latin typeface="Cambria Math" panose="02040503050406030204" pitchFamily="18" charset="0"/>
                      </a:rPr>
                      <m:t>)</m:t>
                    </m:r>
                  </m:oMath>
                </a14:m>
                <a:r>
                  <a:rPr lang="en-US" sz="2400" dirty="0">
                    <a:solidFill>
                      <a:schemeClr val="accent5">
                        <a:lumMod val="75000"/>
                      </a:schemeClr>
                    </a:solidFill>
                  </a:rPr>
                  <a:t> </a:t>
                </a:r>
                <a:r>
                  <a:rPr lang="en-US" sz="2400" dirty="0" err="1"/>
                  <a:t>iff</a:t>
                </a:r>
                <a:r>
                  <a:rPr lang="en-US" sz="2400" dirty="0"/>
                  <a:t> </a:t>
                </a:r>
                <a14:m>
                  <m:oMath xmlns:m="http://schemas.openxmlformats.org/officeDocument/2006/math">
                    <m:sSub>
                      <m:sSubPr>
                        <m:ctrlPr>
                          <a:rPr lang="en-US" sz="2400" i="1" smtClean="0">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𝑔</m:t>
                        </m:r>
                      </m:e>
                      <m:sub>
                        <m:r>
                          <a:rPr lang="en-US" sz="2400" i="1">
                            <a:solidFill>
                              <a:schemeClr val="accent5">
                                <a:lumMod val="75000"/>
                              </a:schemeClr>
                            </a:solidFill>
                            <a:latin typeface="Cambria Math" panose="02040503050406030204" pitchFamily="18" charset="0"/>
                          </a:rPr>
                          <m:t>1</m:t>
                        </m:r>
                      </m:sub>
                    </m:sSub>
                    <m:r>
                      <a:rPr lang="en-US" sz="2400" i="1">
                        <a:solidFill>
                          <a:schemeClr val="accent5">
                            <a:lumMod val="75000"/>
                          </a:schemeClr>
                        </a:solidFill>
                        <a:latin typeface="Cambria Math" panose="02040503050406030204" pitchFamily="18" charset="0"/>
                      </a:rPr>
                      <m:t>𝐻</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𝑔</m:t>
                        </m:r>
                      </m:e>
                      <m:sub>
                        <m:r>
                          <a:rPr lang="en-US" sz="2400" i="1">
                            <a:solidFill>
                              <a:schemeClr val="accent5">
                                <a:lumMod val="75000"/>
                              </a:schemeClr>
                            </a:solidFill>
                            <a:latin typeface="Cambria Math" panose="02040503050406030204" pitchFamily="18" charset="0"/>
                          </a:rPr>
                          <m:t>2</m:t>
                        </m:r>
                      </m:sub>
                    </m:sSub>
                    <m:r>
                      <a:rPr lang="en-US" sz="2400" i="1">
                        <a:solidFill>
                          <a:schemeClr val="accent5">
                            <a:lumMod val="75000"/>
                          </a:schemeClr>
                        </a:solidFill>
                        <a:latin typeface="Cambria Math" panose="02040503050406030204" pitchFamily="18" charset="0"/>
                      </a:rPr>
                      <m:t>𝐻</m:t>
                    </m:r>
                  </m:oMath>
                </a14:m>
                <a:endParaRPr lang="en-US" sz="2400" dirty="0">
                  <a:solidFill>
                    <a:schemeClr val="accent5">
                      <a:lumMod val="75000"/>
                    </a:schemeClr>
                  </a:solidFill>
                </a:endParaRPr>
              </a:p>
              <a:p>
                <a:endParaRPr lang="en-US" sz="2400" dirty="0"/>
              </a:p>
            </p:txBody>
          </p:sp>
        </mc:Choice>
        <mc:Fallback xmlns="">
          <p:sp>
            <p:nvSpPr>
              <p:cNvPr id="4" name="TextBox 3">
                <a:extLst>
                  <a:ext uri="{FF2B5EF4-FFF2-40B4-BE49-F238E27FC236}">
                    <a16:creationId xmlns:a16="http://schemas.microsoft.com/office/drawing/2014/main" id="{7D8F9829-6221-E473-96D3-881C15202072}"/>
                  </a:ext>
                </a:extLst>
              </p:cNvPr>
              <p:cNvSpPr txBox="1">
                <a:spLocks noRot="1" noChangeAspect="1" noMove="1" noResize="1" noEditPoints="1" noAdjustHandles="1" noChangeArrowheads="1" noChangeShapeType="1" noTextEdit="1"/>
              </p:cNvSpPr>
              <p:nvPr/>
            </p:nvSpPr>
            <p:spPr>
              <a:xfrm>
                <a:off x="838200" y="3712013"/>
                <a:ext cx="7551821" cy="830997"/>
              </a:xfrm>
              <a:prstGeom prst="rect">
                <a:avLst/>
              </a:prstGeom>
              <a:blipFill>
                <a:blip r:embed="rId7"/>
                <a:stretch>
                  <a:fillRect l="-1345" t="-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6FDF5D-6BBC-0B99-41C8-62BFC8F9BE16}"/>
                  </a:ext>
                </a:extLst>
              </p:cNvPr>
              <p:cNvSpPr txBox="1"/>
              <p:nvPr/>
            </p:nvSpPr>
            <p:spPr>
              <a:xfrm>
                <a:off x="579026" y="4164284"/>
                <a:ext cx="452994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𝑧</m:t>
                          </m:r>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𝐻</m:t>
                      </m:r>
                      <m:r>
                        <a:rPr lang="en-US" sz="2400" b="0" i="1" smtClean="0">
                          <a:solidFill>
                            <a:schemeClr val="accent5">
                              <a:lumMod val="75000"/>
                            </a:schemeClr>
                          </a:solidFill>
                          <a:latin typeface="Cambria Math" panose="02040503050406030204" pitchFamily="18" charset="0"/>
                        </a:rPr>
                        <m:t>= </m:t>
                      </m:r>
                      <m:r>
                        <m:rPr>
                          <m:lit/>
                        </m:rPr>
                        <a:rPr lang="en-US" sz="2400" b="0" i="1" smtClean="0">
                          <a:solidFill>
                            <a:schemeClr val="accent5">
                              <a:lumMod val="75000"/>
                            </a:schemeClr>
                          </a:solidFill>
                          <a:latin typeface="Cambria Math" panose="02040503050406030204" pitchFamily="18" charset="0"/>
                        </a:rPr>
                        <m:t>{</m:t>
                      </m:r>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𝑧</m:t>
                          </m:r>
                        </m:e>
                      </m:d>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r>
                        <a:rPr lang="en-US" sz="2400" b="0" i="1" smtClean="0">
                          <a:solidFill>
                            <a:schemeClr val="accent5">
                              <a:lumMod val="75000"/>
                            </a:schemeClr>
                          </a:solidFill>
                          <a:latin typeface="Cambria Math" panose="02040503050406030204" pitchFamily="18" charset="0"/>
                        </a:rPr>
                        <m:t>)</m:t>
                      </m:r>
                      <m:r>
                        <m:rPr>
                          <m:lit/>
                        </m:rPr>
                        <a:rPr lang="en-US" sz="2400" b="0" i="1" smtClean="0">
                          <a:solidFill>
                            <a:schemeClr val="accent5">
                              <a:lumMod val="75000"/>
                            </a:schemeClr>
                          </a:solidFill>
                          <a:latin typeface="Cambria Math" panose="02040503050406030204" pitchFamily="18" charset="0"/>
                        </a:rPr>
                        <m:t>}</m:t>
                      </m:r>
                    </m:oMath>
                  </m:oMathPara>
                </a14:m>
                <a:endParaRPr lang="en-US" sz="2400" dirty="0">
                  <a:solidFill>
                    <a:schemeClr val="accent5">
                      <a:lumMod val="75000"/>
                    </a:schemeClr>
                  </a:solidFill>
                </a:endParaRPr>
              </a:p>
            </p:txBody>
          </p:sp>
        </mc:Choice>
        <mc:Fallback xmlns="">
          <p:sp>
            <p:nvSpPr>
              <p:cNvPr id="7" name="TextBox 6">
                <a:extLst>
                  <a:ext uri="{FF2B5EF4-FFF2-40B4-BE49-F238E27FC236}">
                    <a16:creationId xmlns:a16="http://schemas.microsoft.com/office/drawing/2014/main" id="{F06FDF5D-6BBC-0B99-41C8-62BFC8F9BE16}"/>
                  </a:ext>
                </a:extLst>
              </p:cNvPr>
              <p:cNvSpPr txBox="1">
                <a:spLocks noRot="1" noChangeAspect="1" noMove="1" noResize="1" noEditPoints="1" noAdjustHandles="1" noChangeArrowheads="1" noChangeShapeType="1" noTextEdit="1"/>
              </p:cNvSpPr>
              <p:nvPr/>
            </p:nvSpPr>
            <p:spPr>
              <a:xfrm>
                <a:off x="579026" y="4164284"/>
                <a:ext cx="4529944" cy="461665"/>
              </a:xfrm>
              <a:prstGeom prst="rect">
                <a:avLst/>
              </a:prstGeom>
              <a:blipFill>
                <a:blip r:embed="rId8"/>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5BAE7FB-5FCC-5CE2-38EF-47A94AB0743F}"/>
                  </a:ext>
                </a:extLst>
              </p:cNvPr>
              <p:cNvSpPr txBox="1"/>
              <p:nvPr/>
            </p:nvSpPr>
            <p:spPr>
              <a:xfrm>
                <a:off x="5199800" y="4543010"/>
                <a:ext cx="4951207" cy="5166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𝑓</m:t>
                      </m:r>
                      <m:d>
                        <m:dPr>
                          <m:ctrlPr>
                            <a:rPr lang="en-US" sz="2400" b="0" i="1" smtClean="0">
                              <a:solidFill>
                                <a:schemeClr val="accent2"/>
                              </a:solidFill>
                              <a:latin typeface="Cambria Math" panose="02040503050406030204" pitchFamily="18" charset="0"/>
                            </a:rPr>
                          </m:ctrlPr>
                        </m:dPr>
                        <m:e>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0,</m:t>
                              </m:r>
                              <m:r>
                                <a:rPr lang="en-US" sz="2400" b="0" i="1" smtClean="0">
                                  <a:solidFill>
                                    <a:schemeClr val="accent2"/>
                                  </a:solidFill>
                                  <a:latin typeface="Cambria Math" panose="02040503050406030204" pitchFamily="18" charset="0"/>
                                </a:rPr>
                                <m:t>𝑧</m:t>
                              </m:r>
                            </m:e>
                          </m:d>
                        </m:e>
                      </m:d>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𝑓</m:t>
                      </m:r>
                      <m:d>
                        <m:dPr>
                          <m:ctrlPr>
                            <a:rPr lang="en-US" sz="2400" b="0" i="1" smtClean="0">
                              <a:solidFill>
                                <a:schemeClr val="accent2"/>
                              </a:solidFill>
                              <a:latin typeface="Cambria Math" panose="02040503050406030204" pitchFamily="18" charset="0"/>
                            </a:rPr>
                          </m:ctrlPr>
                        </m:dPr>
                        <m:e>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1,</m:t>
                              </m:r>
                              <m:r>
                                <a:rPr lang="en-US" sz="2400" b="0" i="1" smtClean="0">
                                  <a:solidFill>
                                    <a:schemeClr val="accent2"/>
                                  </a:solidFill>
                                  <a:latin typeface="Cambria Math" panose="02040503050406030204" pitchFamily="18" charset="0"/>
                                </a:rPr>
                                <m:t>𝑧</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𝑠</m:t>
                              </m:r>
                            </m:e>
                          </m:d>
                        </m:e>
                      </m:d>
                      <m:r>
                        <m:rPr>
                          <m:lit/>
                        </m:rPr>
                        <a:rPr lang="en-US" sz="2400" b="0" i="1" smtClean="0">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𝑧</m:t>
                      </m:r>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ℤ</m:t>
                          </m:r>
                        </m:e>
                        <m:sub>
                          <m:r>
                            <a:rPr lang="en-US" sz="2400" b="0" i="1" smtClean="0">
                              <a:solidFill>
                                <a:schemeClr val="accent2"/>
                              </a:solidFill>
                              <a:latin typeface="Cambria Math" panose="02040503050406030204" pitchFamily="18" charset="0"/>
                            </a:rPr>
                            <m:t>𝑞</m:t>
                          </m:r>
                        </m:sub>
                      </m:sSub>
                    </m:oMath>
                  </m:oMathPara>
                </a14:m>
                <a:endParaRPr lang="en-US" sz="2400" dirty="0">
                  <a:solidFill>
                    <a:schemeClr val="accent2"/>
                  </a:solidFill>
                </a:endParaRPr>
              </a:p>
            </p:txBody>
          </p:sp>
        </mc:Choice>
        <mc:Fallback xmlns="">
          <p:sp>
            <p:nvSpPr>
              <p:cNvPr id="11" name="TextBox 10">
                <a:extLst>
                  <a:ext uri="{FF2B5EF4-FFF2-40B4-BE49-F238E27FC236}">
                    <a16:creationId xmlns:a16="http://schemas.microsoft.com/office/drawing/2014/main" id="{A5BAE7FB-5FCC-5CE2-38EF-47A94AB0743F}"/>
                  </a:ext>
                </a:extLst>
              </p:cNvPr>
              <p:cNvSpPr txBox="1">
                <a:spLocks noRot="1" noChangeAspect="1" noMove="1" noResize="1" noEditPoints="1" noAdjustHandles="1" noChangeArrowheads="1" noChangeShapeType="1" noTextEdit="1"/>
              </p:cNvSpPr>
              <p:nvPr/>
            </p:nvSpPr>
            <p:spPr>
              <a:xfrm>
                <a:off x="5199800" y="4543010"/>
                <a:ext cx="4951207" cy="516616"/>
              </a:xfrm>
              <a:prstGeom prst="rect">
                <a:avLst/>
              </a:prstGeom>
              <a:blipFill>
                <a:blip r:embed="rId9"/>
                <a:stretch>
                  <a:fillRect b="-11905"/>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584E7F88-54CF-EFC0-850E-3746C34FA03B}"/>
              </a:ext>
            </a:extLst>
          </p:cNvPr>
          <p:cNvSpPr txBox="1"/>
          <p:nvPr/>
        </p:nvSpPr>
        <p:spPr>
          <a:xfrm>
            <a:off x="838200" y="5167312"/>
            <a:ext cx="7327232" cy="461665"/>
          </a:xfrm>
          <a:prstGeom prst="rect">
            <a:avLst/>
          </a:prstGeom>
          <a:noFill/>
        </p:spPr>
        <p:txBody>
          <a:bodyPr wrap="square" rtlCol="0">
            <a:spAutoFit/>
          </a:bodyPr>
          <a:lstStyle/>
          <a:p>
            <a:r>
              <a:rPr lang="en-US" sz="2400" dirty="0"/>
              <a:t>A preprocessing : Get a superposition state of a coset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E5CD9D-344F-1B15-26F9-F6FD62C1D04D}"/>
                  </a:ext>
                </a:extLst>
              </p:cNvPr>
              <p:cNvSpPr txBox="1"/>
              <p:nvPr/>
            </p:nvSpPr>
            <p:spPr>
              <a:xfrm>
                <a:off x="790025" y="4579340"/>
                <a:ext cx="411817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40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𝑧</m:t>
                          </m:r>
                        </m:e>
                      </m:d>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𝐻</m:t>
                      </m:r>
                      <m:r>
                        <a:rPr lang="en-US" sz="2400" i="1">
                          <a:solidFill>
                            <a:schemeClr val="accent5">
                              <a:lumMod val="75000"/>
                            </a:schemeClr>
                          </a:solidFill>
                          <a:latin typeface="Cambria Math" panose="02040503050406030204" pitchFamily="18" charset="0"/>
                        </a:rPr>
                        <m:t>= </m:t>
                      </m:r>
                      <m:r>
                        <m:rPr>
                          <m:lit/>
                        </m:rPr>
                        <a:rPr lang="en-US" sz="2400" i="1">
                          <a:solidFill>
                            <a:schemeClr val="accent5">
                              <a:lumMod val="75000"/>
                            </a:schemeClr>
                          </a:solidFill>
                          <a:latin typeface="Cambria Math" panose="02040503050406030204" pitchFamily="18" charset="0"/>
                        </a:rPr>
                        <m:t>{</m:t>
                      </m:r>
                      <m:d>
                        <m:dPr>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𝑧</m:t>
                          </m:r>
                        </m:e>
                      </m:d>
                      <m:r>
                        <a:rPr lang="en-US" sz="2400" i="1">
                          <a:solidFill>
                            <a:schemeClr val="accent5">
                              <a:lumMod val="75000"/>
                            </a:schemeClr>
                          </a:solidFill>
                          <a:latin typeface="Cambria Math" panose="02040503050406030204" pitchFamily="18" charset="0"/>
                        </a:rPr>
                        <m:t>,</m:t>
                      </m:r>
                      <m:d>
                        <m:dPr>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i="1">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𝑠</m:t>
                          </m:r>
                        </m:e>
                      </m:d>
                      <m:r>
                        <m:rPr>
                          <m:lit/>
                        </m:rPr>
                        <a:rPr lang="en-US" sz="2400" i="1">
                          <a:solidFill>
                            <a:schemeClr val="accent5">
                              <a:lumMod val="75000"/>
                            </a:schemeClr>
                          </a:solidFill>
                          <a:latin typeface="Cambria Math" panose="02040503050406030204" pitchFamily="18" charset="0"/>
                        </a:rPr>
                        <m:t>}</m:t>
                      </m:r>
                    </m:oMath>
                  </m:oMathPara>
                </a14:m>
                <a:endParaRPr lang="en-US" sz="2400" dirty="0"/>
              </a:p>
            </p:txBody>
          </p:sp>
        </mc:Choice>
        <mc:Fallback xmlns="">
          <p:sp>
            <p:nvSpPr>
              <p:cNvPr id="14" name="TextBox 13">
                <a:extLst>
                  <a:ext uri="{FF2B5EF4-FFF2-40B4-BE49-F238E27FC236}">
                    <a16:creationId xmlns:a16="http://schemas.microsoft.com/office/drawing/2014/main" id="{06E5CD9D-344F-1B15-26F9-F6FD62C1D04D}"/>
                  </a:ext>
                </a:extLst>
              </p:cNvPr>
              <p:cNvSpPr txBox="1">
                <a:spLocks noRot="1" noChangeAspect="1" noMove="1" noResize="1" noEditPoints="1" noAdjustHandles="1" noChangeArrowheads="1" noChangeShapeType="1" noTextEdit="1"/>
              </p:cNvSpPr>
              <p:nvPr/>
            </p:nvSpPr>
            <p:spPr>
              <a:xfrm>
                <a:off x="790025" y="4579340"/>
                <a:ext cx="4118179" cy="461665"/>
              </a:xfrm>
              <a:prstGeom prst="rect">
                <a:avLst/>
              </a:prstGeom>
              <a:blipFill>
                <a:blip r:embed="rId10"/>
                <a:stretch>
                  <a:fillRect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9CEC303-8382-3DCC-C244-CFDA8395703A}"/>
                  </a:ext>
                </a:extLst>
              </p:cNvPr>
              <p:cNvSpPr txBox="1"/>
              <p:nvPr/>
            </p:nvSpPr>
            <p:spPr>
              <a:xfrm>
                <a:off x="235034" y="5641523"/>
                <a:ext cx="1726045" cy="978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𝑥</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r>
                            <a:rPr lang="en-US" sz="2400" i="1">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𝑎</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2</m:t>
                              </m:r>
                            </m:sub>
                          </m:sSub>
                        </m:sub>
                        <m:sup/>
                        <m:e>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𝑎</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𝑥</m:t>
                              </m:r>
                            </m:e>
                          </m:d>
                          <m:r>
                            <a:rPr lang="en-US" sz="2400" i="1">
                              <a:solidFill>
                                <a:schemeClr val="accent5">
                                  <a:lumMod val="75000"/>
                                </a:schemeClr>
                              </a:solidFill>
                              <a:latin typeface="Cambria Math" panose="02040503050406030204" pitchFamily="18" charset="0"/>
                            </a:rPr>
                            <m:t> </m:t>
                          </m:r>
                        </m:e>
                      </m:nary>
                    </m:oMath>
                  </m:oMathPara>
                </a14:m>
                <a:endParaRPr lang="en-US" sz="2400" dirty="0">
                  <a:solidFill>
                    <a:schemeClr val="accent5">
                      <a:lumMod val="75000"/>
                    </a:schemeClr>
                  </a:solidFill>
                </a:endParaRPr>
              </a:p>
            </p:txBody>
          </p:sp>
        </mc:Choice>
        <mc:Fallback xmlns="">
          <p:sp>
            <p:nvSpPr>
              <p:cNvPr id="15" name="TextBox 14">
                <a:extLst>
                  <a:ext uri="{FF2B5EF4-FFF2-40B4-BE49-F238E27FC236}">
                    <a16:creationId xmlns:a16="http://schemas.microsoft.com/office/drawing/2014/main" id="{09CEC303-8382-3DCC-C244-CFDA8395703A}"/>
                  </a:ext>
                </a:extLst>
              </p:cNvPr>
              <p:cNvSpPr txBox="1">
                <a:spLocks noRot="1" noChangeAspect="1" noMove="1" noResize="1" noEditPoints="1" noAdjustHandles="1" noChangeArrowheads="1" noChangeShapeType="1" noTextEdit="1"/>
              </p:cNvSpPr>
              <p:nvPr/>
            </p:nvSpPr>
            <p:spPr>
              <a:xfrm>
                <a:off x="235034" y="5641523"/>
                <a:ext cx="1726045" cy="978345"/>
              </a:xfrm>
              <a:prstGeom prst="rect">
                <a:avLst/>
              </a:prstGeom>
              <a:blipFill>
                <a:blip r:embed="rId11"/>
                <a:stretch>
                  <a:fillRect l="-46715" t="-137179" r="-16058" b="-17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E5797EE-3519-0309-BB98-E9F153C86A1B}"/>
                  </a:ext>
                </a:extLst>
              </p:cNvPr>
              <p:cNvSpPr txBox="1"/>
              <p:nvPr/>
            </p:nvSpPr>
            <p:spPr>
              <a:xfrm>
                <a:off x="2090969" y="5862484"/>
                <a:ext cx="4404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e>
                      </m:d>
                    </m:oMath>
                  </m:oMathPara>
                </a14:m>
                <a:endParaRPr lang="en-US" sz="2400" dirty="0">
                  <a:solidFill>
                    <a:schemeClr val="accent5">
                      <a:lumMod val="75000"/>
                    </a:schemeClr>
                  </a:solidFill>
                </a:endParaRPr>
              </a:p>
            </p:txBody>
          </p:sp>
        </mc:Choice>
        <mc:Fallback xmlns="">
          <p:sp>
            <p:nvSpPr>
              <p:cNvPr id="16" name="TextBox 15">
                <a:extLst>
                  <a:ext uri="{FF2B5EF4-FFF2-40B4-BE49-F238E27FC236}">
                    <a16:creationId xmlns:a16="http://schemas.microsoft.com/office/drawing/2014/main" id="{8E5797EE-3519-0309-BB98-E9F153C86A1B}"/>
                  </a:ext>
                </a:extLst>
              </p:cNvPr>
              <p:cNvSpPr txBox="1">
                <a:spLocks noRot="1" noChangeAspect="1" noMove="1" noResize="1" noEditPoints="1" noAdjustHandles="1" noChangeArrowheads="1" noChangeShapeType="1" noTextEdit="1"/>
              </p:cNvSpPr>
              <p:nvPr/>
            </p:nvSpPr>
            <p:spPr>
              <a:xfrm>
                <a:off x="2090969" y="5862484"/>
                <a:ext cx="440442" cy="369332"/>
              </a:xfrm>
              <a:prstGeom prst="rect">
                <a:avLst/>
              </a:prstGeom>
              <a:blipFill>
                <a:blip r:embed="rId1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AF804C9-7300-A778-8C26-2A13AA389F36}"/>
                  </a:ext>
                </a:extLst>
              </p:cNvPr>
              <p:cNvSpPr txBox="1"/>
              <p:nvPr/>
            </p:nvSpPr>
            <p:spPr>
              <a:xfrm>
                <a:off x="2531411" y="5753142"/>
                <a:ext cx="4470583" cy="978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brk m:alnAt="2"/>
                            </m:rPr>
                            <a:rPr lang="en-US" sz="2400" i="0">
                              <a:latin typeface="Cambria Math" panose="02040503050406030204" pitchFamily="18" charset="0"/>
                            </a:rPr>
                            <m:t>O</m:t>
                          </m:r>
                          <m:r>
                            <m:rPr>
                              <m:nor/>
                            </m:rPr>
                            <a:rPr lang="en-US" sz="2400" i="0">
                              <a:latin typeface="Cambria Math" panose="02040503050406030204" pitchFamily="18" charset="0"/>
                            </a:rPr>
                            <m:t>racle</m:t>
                          </m:r>
                          <m:r>
                            <a:rPr lang="en-US" sz="2400" i="1">
                              <a:latin typeface="Cambria Math" panose="02040503050406030204" pitchFamily="18" charset="0"/>
                            </a:rPr>
                            <m:t> </m:t>
                          </m:r>
                          <m:r>
                            <a:rPr lang="en-US" sz="2400" i="1">
                              <a:latin typeface="Cambria Math" panose="02040503050406030204" pitchFamily="18" charset="0"/>
                            </a:rPr>
                            <m:t>𝑓</m:t>
                          </m:r>
                        </m:e>
                      </m:groupChr>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𝑥</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r>
                            <a:rPr lang="en-US" sz="2400" i="1">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𝑎</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2</m:t>
                              </m:r>
                            </m:sub>
                          </m:sSub>
                        </m:sub>
                        <m:sup/>
                        <m:e>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𝑎</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𝑥</m:t>
                              </m:r>
                            </m:e>
                          </m:d>
                          <m:r>
                            <a:rPr lang="en-US" sz="2400" i="1">
                              <a:solidFill>
                                <a:schemeClr val="accent5">
                                  <a:lumMod val="75000"/>
                                </a:schemeClr>
                              </a:solidFill>
                              <a:latin typeface="Cambria Math" panose="02040503050406030204" pitchFamily="18" charset="0"/>
                            </a:rPr>
                            <m:t> </m:t>
                          </m:r>
                        </m:e>
                      </m:nary>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𝑓</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𝑎</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𝑥</m:t>
                      </m:r>
                      <m:r>
                        <a:rPr lang="en-US" sz="2400" i="1">
                          <a:solidFill>
                            <a:schemeClr val="accent5">
                              <a:lumMod val="75000"/>
                            </a:schemeClr>
                          </a:solidFill>
                          <a:latin typeface="Cambria Math" panose="02040503050406030204" pitchFamily="18" charset="0"/>
                        </a:rPr>
                        <m:t>))⟩</m:t>
                      </m:r>
                    </m:oMath>
                  </m:oMathPara>
                </a14:m>
                <a:endParaRPr lang="en-US" sz="2400" dirty="0"/>
              </a:p>
            </p:txBody>
          </p:sp>
        </mc:Choice>
        <mc:Fallback xmlns="">
          <p:sp>
            <p:nvSpPr>
              <p:cNvPr id="17" name="TextBox 16">
                <a:extLst>
                  <a:ext uri="{FF2B5EF4-FFF2-40B4-BE49-F238E27FC236}">
                    <a16:creationId xmlns:a16="http://schemas.microsoft.com/office/drawing/2014/main" id="{3AF804C9-7300-A778-8C26-2A13AA389F36}"/>
                  </a:ext>
                </a:extLst>
              </p:cNvPr>
              <p:cNvSpPr txBox="1">
                <a:spLocks noRot="1" noChangeAspect="1" noMove="1" noResize="1" noEditPoints="1" noAdjustHandles="1" noChangeArrowheads="1" noChangeShapeType="1" noTextEdit="1"/>
              </p:cNvSpPr>
              <p:nvPr/>
            </p:nvSpPr>
            <p:spPr>
              <a:xfrm>
                <a:off x="2531411" y="5753142"/>
                <a:ext cx="4470583" cy="978345"/>
              </a:xfrm>
              <a:prstGeom prst="rect">
                <a:avLst/>
              </a:prstGeom>
              <a:blipFill>
                <a:blip r:embed="rId13"/>
                <a:stretch>
                  <a:fillRect l="-850" t="-138961" r="-1416" b="-18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240915-C440-4841-BC46-42FA6E0CA63F}"/>
                  </a:ext>
                </a:extLst>
              </p:cNvPr>
              <p:cNvSpPr txBox="1"/>
              <p:nvPr/>
            </p:nvSpPr>
            <p:spPr>
              <a:xfrm>
                <a:off x="7008401" y="5790090"/>
                <a:ext cx="2885405" cy="5689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rPr>
                            <a:rPr lang="en-US" sz="2400" b="0" i="0" smtClean="0">
                              <a:latin typeface="Cambria Math" panose="02040503050406030204" pitchFamily="18" charset="0"/>
                            </a:rPr>
                            <m:t>Measure</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last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register</m:t>
                          </m:r>
                          <m:r>
                            <m:rPr>
                              <m:nor/>
                            </m:rPr>
                            <a:rPr lang="en-US" sz="2400" b="0" i="0" smtClean="0">
                              <a:latin typeface="Cambria Math" panose="02040503050406030204" pitchFamily="18" charset="0"/>
                            </a:rPr>
                            <m:t> </m:t>
                          </m:r>
                        </m:e>
                      </m:groupChr>
                    </m:oMath>
                  </m:oMathPara>
                </a14:m>
                <a:endParaRPr lang="en-US" sz="2400" dirty="0"/>
              </a:p>
            </p:txBody>
          </p:sp>
        </mc:Choice>
        <mc:Fallback xmlns="">
          <p:sp>
            <p:nvSpPr>
              <p:cNvPr id="18" name="TextBox 17">
                <a:extLst>
                  <a:ext uri="{FF2B5EF4-FFF2-40B4-BE49-F238E27FC236}">
                    <a16:creationId xmlns:a16="http://schemas.microsoft.com/office/drawing/2014/main" id="{42240915-C440-4841-BC46-42FA6E0CA63F}"/>
                  </a:ext>
                </a:extLst>
              </p:cNvPr>
              <p:cNvSpPr txBox="1">
                <a:spLocks noRot="1" noChangeAspect="1" noMove="1" noResize="1" noEditPoints="1" noAdjustHandles="1" noChangeArrowheads="1" noChangeShapeType="1" noTextEdit="1"/>
              </p:cNvSpPr>
              <p:nvPr/>
            </p:nvSpPr>
            <p:spPr>
              <a:xfrm>
                <a:off x="7008401" y="5790090"/>
                <a:ext cx="2885405" cy="568938"/>
              </a:xfrm>
              <a:prstGeom prst="rect">
                <a:avLst/>
              </a:prstGeom>
              <a:blipFill>
                <a:blip r:embed="rId14"/>
                <a:stretch>
                  <a:fillRect l="-2193" t="-13333" r="-35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3FFF410-484E-1CD4-BFDA-7C6B09B8DD77}"/>
                  </a:ext>
                </a:extLst>
              </p:cNvPr>
              <p:cNvSpPr txBox="1"/>
              <p:nvPr/>
            </p:nvSpPr>
            <p:spPr>
              <a:xfrm>
                <a:off x="9893806" y="5926857"/>
                <a:ext cx="223574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𝑧</m:t>
                          </m:r>
                        </m:e>
                      </m:d>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e>
                      </m:d>
                    </m:oMath>
                  </m:oMathPara>
                </a14:m>
                <a:endParaRPr lang="en-US" sz="2400" dirty="0"/>
              </a:p>
            </p:txBody>
          </p:sp>
        </mc:Choice>
        <mc:Fallback xmlns="">
          <p:sp>
            <p:nvSpPr>
              <p:cNvPr id="19" name="TextBox 18">
                <a:extLst>
                  <a:ext uri="{FF2B5EF4-FFF2-40B4-BE49-F238E27FC236}">
                    <a16:creationId xmlns:a16="http://schemas.microsoft.com/office/drawing/2014/main" id="{03FFF410-484E-1CD4-BFDA-7C6B09B8DD77}"/>
                  </a:ext>
                </a:extLst>
              </p:cNvPr>
              <p:cNvSpPr txBox="1">
                <a:spLocks noRot="1" noChangeAspect="1" noMove="1" noResize="1" noEditPoints="1" noAdjustHandles="1" noChangeArrowheads="1" noChangeShapeType="1" noTextEdit="1"/>
              </p:cNvSpPr>
              <p:nvPr/>
            </p:nvSpPr>
            <p:spPr>
              <a:xfrm>
                <a:off x="9893806" y="5926857"/>
                <a:ext cx="2235740" cy="369332"/>
              </a:xfrm>
              <a:prstGeom prst="rect">
                <a:avLst/>
              </a:prstGeom>
              <a:blipFill>
                <a:blip r:embed="rId15"/>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11B6333-5146-8EC2-017E-4DBE0F6BDF45}"/>
                  </a:ext>
                </a:extLst>
              </p:cNvPr>
              <p:cNvSpPr txBox="1"/>
              <p:nvPr/>
            </p:nvSpPr>
            <p:spPr>
              <a:xfrm>
                <a:off x="9386182" y="6296189"/>
                <a:ext cx="2743364" cy="490199"/>
              </a:xfrm>
              <a:prstGeom prst="rect">
                <a:avLst/>
              </a:prstGeom>
              <a:noFill/>
            </p:spPr>
            <p:txBody>
              <a:bodyPr wrap="square" rtlCol="0">
                <a:spAutoFit/>
              </a:bodyPr>
              <a:lstStyle/>
              <a:p>
                <a:r>
                  <a:rPr lang="en-US" sz="2400" dirty="0"/>
                  <a:t>(</a:t>
                </a:r>
                <a:r>
                  <a:rPr lang="en-US" sz="2400" dirty="0" err="1"/>
                  <a:t>Unif</a:t>
                </a:r>
                <a:r>
                  <a:rPr lang="en-US" sz="2400" dirty="0"/>
                  <a:t>. rand. </a:t>
                </a:r>
                <a14:m>
                  <m:oMath xmlns:m="http://schemas.openxmlformats.org/officeDocument/2006/math">
                    <m:r>
                      <a:rPr lang="en-US" sz="2400" b="0" i="1" smtClean="0">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r>
                  <a:rPr lang="en-US" sz="2400" dirty="0"/>
                  <a:t>)</a:t>
                </a:r>
              </a:p>
            </p:txBody>
          </p:sp>
        </mc:Choice>
        <mc:Fallback xmlns="">
          <p:sp>
            <p:nvSpPr>
              <p:cNvPr id="20" name="TextBox 19">
                <a:extLst>
                  <a:ext uri="{FF2B5EF4-FFF2-40B4-BE49-F238E27FC236}">
                    <a16:creationId xmlns:a16="http://schemas.microsoft.com/office/drawing/2014/main" id="{811B6333-5146-8EC2-017E-4DBE0F6BDF45}"/>
                  </a:ext>
                </a:extLst>
              </p:cNvPr>
              <p:cNvSpPr txBox="1">
                <a:spLocks noRot="1" noChangeAspect="1" noMove="1" noResize="1" noEditPoints="1" noAdjustHandles="1" noChangeArrowheads="1" noChangeShapeType="1" noTextEdit="1"/>
              </p:cNvSpPr>
              <p:nvPr/>
            </p:nvSpPr>
            <p:spPr>
              <a:xfrm>
                <a:off x="9386182" y="6296189"/>
                <a:ext cx="2743364" cy="490199"/>
              </a:xfrm>
              <a:prstGeom prst="rect">
                <a:avLst/>
              </a:prstGeom>
              <a:blipFill>
                <a:blip r:embed="rId16"/>
                <a:stretch>
                  <a:fillRect l="-3687" t="-7500" b="-25000"/>
                </a:stretch>
              </a:blipFill>
            </p:spPr>
            <p:txBody>
              <a:bodyPr/>
              <a:lstStyle/>
              <a:p>
                <a:r>
                  <a:rPr lang="en-US">
                    <a:noFill/>
                  </a:rPr>
                  <a:t> </a:t>
                </a:r>
              </a:p>
            </p:txBody>
          </p:sp>
        </mc:Fallback>
      </mc:AlternateContent>
    </p:spTree>
    <p:extLst>
      <p:ext uri="{BB962C8B-B14F-4D97-AF65-F5344CB8AC3E}">
        <p14:creationId xmlns:p14="http://schemas.microsoft.com/office/powerpoint/2010/main" val="236114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4" grpId="0"/>
      <p:bldP spid="7" grpId="0"/>
      <p:bldP spid="11" grpId="0"/>
      <p:bldP spid="12" grpId="0"/>
      <p:bldP spid="14" grpId="0"/>
      <p:bldP spid="15" grpId="0"/>
      <p:bldP spid="16" grpId="0"/>
      <p:bldP spid="17" grpId="0"/>
      <p:bldP spid="18"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A226-7DB1-B338-20B8-41013014CE12}"/>
              </a:ext>
            </a:extLst>
          </p:cNvPr>
          <p:cNvSpPr>
            <a:spLocks noGrp="1"/>
          </p:cNvSpPr>
          <p:nvPr>
            <p:ph type="title"/>
          </p:nvPr>
        </p:nvSpPr>
        <p:spPr/>
        <p:txBody>
          <a:bodyPr/>
          <a:lstStyle/>
          <a:p>
            <a:r>
              <a:rPr lang="en-US" dirty="0"/>
              <a:t>Dihedral Coset states</a:t>
            </a:r>
          </a:p>
        </p:txBody>
      </p:sp>
      <p:sp>
        <p:nvSpPr>
          <p:cNvPr id="3" name="TextBox 2">
            <a:extLst>
              <a:ext uri="{FF2B5EF4-FFF2-40B4-BE49-F238E27FC236}">
                <a16:creationId xmlns:a16="http://schemas.microsoft.com/office/drawing/2014/main" id="{6CCBEE3D-2EA7-5020-A65C-D5E5C57B43E9}"/>
              </a:ext>
            </a:extLst>
          </p:cNvPr>
          <p:cNvSpPr txBox="1"/>
          <p:nvPr/>
        </p:nvSpPr>
        <p:spPr>
          <a:xfrm>
            <a:off x="838196" y="1497499"/>
            <a:ext cx="6601691" cy="461665"/>
          </a:xfrm>
          <a:prstGeom prst="rect">
            <a:avLst/>
          </a:prstGeom>
          <a:noFill/>
        </p:spPr>
        <p:txBody>
          <a:bodyPr wrap="square" rtlCol="0">
            <a:spAutoFit/>
          </a:bodyPr>
          <a:lstStyle/>
          <a:p>
            <a:r>
              <a:rPr lang="en-US" sz="2400" dirty="0"/>
              <a:t>We can create random Dihedral Coset states: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6F4564A-6426-AAF7-B6C7-4D1D8C24D79F}"/>
                  </a:ext>
                </a:extLst>
              </p:cNvPr>
              <p:cNvSpPr txBox="1"/>
              <p:nvPr/>
            </p:nvSpPr>
            <p:spPr>
              <a:xfrm>
                <a:off x="7078485" y="1513496"/>
                <a:ext cx="22357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𝑧</m:t>
                          </m:r>
                        </m:e>
                      </m:d>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e>
                      </m:d>
                    </m:oMath>
                  </m:oMathPara>
                </a14:m>
                <a:endParaRPr lang="en-US" sz="2400" dirty="0">
                  <a:solidFill>
                    <a:schemeClr val="accent5">
                      <a:lumMod val="75000"/>
                    </a:schemeClr>
                  </a:solidFill>
                </a:endParaRPr>
              </a:p>
            </p:txBody>
          </p:sp>
        </mc:Choice>
        <mc:Fallback xmlns="">
          <p:sp>
            <p:nvSpPr>
              <p:cNvPr id="4" name="TextBox 3">
                <a:extLst>
                  <a:ext uri="{FF2B5EF4-FFF2-40B4-BE49-F238E27FC236}">
                    <a16:creationId xmlns:a16="http://schemas.microsoft.com/office/drawing/2014/main" id="{F6F4564A-6426-AAF7-B6C7-4D1D8C24D79F}"/>
                  </a:ext>
                </a:extLst>
              </p:cNvPr>
              <p:cNvSpPr txBox="1">
                <a:spLocks noRot="1" noChangeAspect="1" noMove="1" noResize="1" noEditPoints="1" noAdjustHandles="1" noChangeArrowheads="1" noChangeShapeType="1" noTextEdit="1"/>
              </p:cNvSpPr>
              <p:nvPr/>
            </p:nvSpPr>
            <p:spPr>
              <a:xfrm>
                <a:off x="7078485" y="1513496"/>
                <a:ext cx="2235740" cy="369332"/>
              </a:xfrm>
              <a:prstGeom prst="rect">
                <a:avLst/>
              </a:prstGeom>
              <a:blipFill>
                <a:blip r:embed="rId2"/>
                <a:stretch>
                  <a:fillRect b="-333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38C9B47-E73A-FF02-DC45-EF9C3704A2A8}"/>
              </a:ext>
            </a:extLst>
          </p:cNvPr>
          <p:cNvSpPr txBox="1"/>
          <p:nvPr/>
        </p:nvSpPr>
        <p:spPr>
          <a:xfrm>
            <a:off x="838196" y="2134593"/>
            <a:ext cx="6263689" cy="461665"/>
          </a:xfrm>
          <a:prstGeom prst="rect">
            <a:avLst/>
          </a:prstGeom>
          <a:noFill/>
        </p:spPr>
        <p:txBody>
          <a:bodyPr wrap="square" rtlCol="0">
            <a:spAutoFit/>
          </a:bodyPr>
          <a:lstStyle/>
          <a:p>
            <a:r>
              <a:rPr lang="en-US" sz="2400" dirty="0"/>
              <a:t>Now we’ll apply QFT on first register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61FE4CD-EB14-DB67-4869-ED4A42853C9C}"/>
                  </a:ext>
                </a:extLst>
              </p:cNvPr>
              <p:cNvSpPr txBox="1"/>
              <p:nvPr/>
            </p:nvSpPr>
            <p:spPr>
              <a:xfrm>
                <a:off x="838196" y="2694210"/>
                <a:ext cx="22357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𝑧</m:t>
                          </m:r>
                        </m:e>
                      </m:d>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e>
                      </m:d>
                    </m:oMath>
                  </m:oMathPara>
                </a14:m>
                <a:endParaRPr lang="en-US" sz="2400" dirty="0">
                  <a:solidFill>
                    <a:schemeClr val="accent5">
                      <a:lumMod val="75000"/>
                    </a:schemeClr>
                  </a:solidFill>
                </a:endParaRPr>
              </a:p>
            </p:txBody>
          </p:sp>
        </mc:Choice>
        <mc:Fallback xmlns="">
          <p:sp>
            <p:nvSpPr>
              <p:cNvPr id="8" name="TextBox 7">
                <a:extLst>
                  <a:ext uri="{FF2B5EF4-FFF2-40B4-BE49-F238E27FC236}">
                    <a16:creationId xmlns:a16="http://schemas.microsoft.com/office/drawing/2014/main" id="{C61FE4CD-EB14-DB67-4869-ED4A42853C9C}"/>
                  </a:ext>
                </a:extLst>
              </p:cNvPr>
              <p:cNvSpPr txBox="1">
                <a:spLocks noRot="1" noChangeAspect="1" noMove="1" noResize="1" noEditPoints="1" noAdjustHandles="1" noChangeArrowheads="1" noChangeShapeType="1" noTextEdit="1"/>
              </p:cNvSpPr>
              <p:nvPr/>
            </p:nvSpPr>
            <p:spPr>
              <a:xfrm>
                <a:off x="838196" y="2694210"/>
                <a:ext cx="2235740" cy="369332"/>
              </a:xfrm>
              <a:prstGeom prst="rect">
                <a:avLst/>
              </a:prstGeom>
              <a:blipFill>
                <a:blip r:embed="rId3"/>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96F63A-A509-273D-AEAE-EFFA873A6280}"/>
                  </a:ext>
                </a:extLst>
              </p:cNvPr>
              <p:cNvSpPr txBox="1"/>
              <p:nvPr/>
            </p:nvSpPr>
            <p:spPr>
              <a:xfrm>
                <a:off x="3362952" y="2684524"/>
                <a:ext cx="2510687" cy="56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brk m:alnAt="2"/>
                            </m:rPr>
                            <a:rPr lang="en-US" sz="2400" b="0" i="1" smtClean="0">
                              <a:latin typeface="Cambria Math" panose="02040503050406030204" pitchFamily="18" charset="0"/>
                            </a:rPr>
                            <m:t>𝑄</m:t>
                          </m:r>
                          <m:r>
                            <a:rPr lang="en-US" sz="2400" b="0" i="1" smtClean="0">
                              <a:latin typeface="Cambria Math" panose="02040503050406030204" pitchFamily="18" charset="0"/>
                            </a:rPr>
                            <m:t>𝐹𝑇</m:t>
                          </m:r>
                          <m:r>
                            <a:rPr lang="en-US" sz="2400" b="0" i="1" smtClean="0">
                              <a:latin typeface="Cambria Math" panose="02040503050406030204" pitchFamily="18" charset="0"/>
                            </a:rPr>
                            <m:t> </m:t>
                          </m:r>
                          <m:r>
                            <m:rPr>
                              <m:nor/>
                              <m:brk m:alnAt="2"/>
                            </m:rPr>
                            <a:rPr lang="en-US" sz="2400" b="0" i="0" smtClean="0">
                              <a:latin typeface="Cambria Math" panose="02040503050406030204" pitchFamily="18" charset="0"/>
                            </a:rPr>
                            <m:t>o</m:t>
                          </m:r>
                          <m:r>
                            <m:rPr>
                              <m:nor/>
                            </m:rPr>
                            <a:rPr lang="en-US" sz="2400" b="0" i="0" smtClean="0">
                              <a:latin typeface="Cambria Math" panose="02040503050406030204" pitchFamily="18" charset="0"/>
                            </a:rPr>
                            <m:t>n</m:t>
                          </m:r>
                          <m:r>
                            <m:rPr>
                              <m:nor/>
                            </m:rPr>
                            <a:rPr lang="en-US" sz="2400" b="0" i="0" smtClean="0">
                              <a:latin typeface="Cambria Math" panose="02040503050406030204" pitchFamily="18" charset="0"/>
                            </a:rPr>
                            <m:t> 2</m:t>
                          </m:r>
                          <m:r>
                            <m:rPr>
                              <m:nor/>
                            </m:rPr>
                            <a:rPr lang="en-US" sz="2400" b="0" i="0" baseline="30000" smtClean="0">
                              <a:latin typeface="Cambria Math" panose="02040503050406030204" pitchFamily="18" charset="0"/>
                            </a:rPr>
                            <m:t>nd</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register</m:t>
                          </m:r>
                        </m:e>
                      </m:groupChr>
                    </m:oMath>
                  </m:oMathPara>
                </a14:m>
                <a:endParaRPr lang="en-US" sz="2400" dirty="0"/>
              </a:p>
            </p:txBody>
          </p:sp>
        </mc:Choice>
        <mc:Fallback xmlns="">
          <p:sp>
            <p:nvSpPr>
              <p:cNvPr id="9" name="TextBox 8">
                <a:extLst>
                  <a:ext uri="{FF2B5EF4-FFF2-40B4-BE49-F238E27FC236}">
                    <a16:creationId xmlns:a16="http://schemas.microsoft.com/office/drawing/2014/main" id="{B896F63A-A509-273D-AEAE-EFFA873A6280}"/>
                  </a:ext>
                </a:extLst>
              </p:cNvPr>
              <p:cNvSpPr txBox="1">
                <a:spLocks noRot="1" noChangeAspect="1" noMove="1" noResize="1" noEditPoints="1" noAdjustHandles="1" noChangeArrowheads="1" noChangeShapeType="1" noTextEdit="1"/>
              </p:cNvSpPr>
              <p:nvPr/>
            </p:nvSpPr>
            <p:spPr>
              <a:xfrm>
                <a:off x="3362952" y="2684524"/>
                <a:ext cx="2510687" cy="561436"/>
              </a:xfrm>
              <a:prstGeom prst="rect">
                <a:avLst/>
              </a:prstGeom>
              <a:blipFill>
                <a:blip r:embed="rId4"/>
                <a:stretch>
                  <a:fillRect l="-2010" t="-15556" r="-35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6A82EB2-57AF-262B-A369-5FD0D7C0032B}"/>
                  </a:ext>
                </a:extLst>
              </p:cNvPr>
              <p:cNvSpPr txBox="1"/>
              <p:nvPr/>
            </p:nvSpPr>
            <p:spPr>
              <a:xfrm>
                <a:off x="6095999" y="2557816"/>
                <a:ext cx="4142352"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a:rPr lang="en-US" sz="2400" b="0" i="1" smtClean="0">
                              <a:solidFill>
                                <a:schemeClr val="accent5">
                                  <a:lumMod val="75000"/>
                                </a:schemeClr>
                              </a:solidFill>
                              <a:latin typeface="Cambria Math" panose="02040503050406030204" pitchFamily="18" charset="0"/>
                            </a:rPr>
                            <m:t>𝑘</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d>
                            <m:dPr>
                              <m:ctrlPr>
                                <a:rPr lang="en-US" sz="2400" b="0" i="1" smtClean="0">
                                  <a:solidFill>
                                    <a:schemeClr val="accent5">
                                      <a:lumMod val="75000"/>
                                    </a:schemeClr>
                                  </a:solidFill>
                                  <a:latin typeface="Cambria Math" panose="02040503050406030204" pitchFamily="18" charset="0"/>
                                </a:rPr>
                              </m:ctrlPr>
                            </m:dPr>
                            <m:e>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𝜔</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𝑘𝑧</m:t>
                                  </m:r>
                                </m:sup>
                              </m:sSubSup>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𝑘</m:t>
                                  </m:r>
                                </m:e>
                              </m:d>
                              <m:r>
                                <a:rPr lang="en-US" sz="2400" b="0" i="1" smtClean="0">
                                  <a:solidFill>
                                    <a:schemeClr val="accent5">
                                      <a:lumMod val="75000"/>
                                    </a:schemeClr>
                                  </a:solidFill>
                                  <a:latin typeface="Cambria Math" panose="02040503050406030204" pitchFamily="18" charset="0"/>
                                </a:rPr>
                                <m:t>+</m:t>
                              </m:r>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𝜔</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𝑘</m:t>
                                  </m:r>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𝑧</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e>
                                  </m:d>
                                </m:sup>
                              </m:sSubSup>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r>
                                    <a:rPr lang="en-US" sz="2400" i="1">
                                      <a:solidFill>
                                        <a:schemeClr val="accent5">
                                          <a:lumMod val="75000"/>
                                        </a:schemeClr>
                                      </a:solidFill>
                                      <a:latin typeface="Cambria Math" panose="02040503050406030204" pitchFamily="18" charset="0"/>
                                    </a:rPr>
                                    <m:t>𝑘</m:t>
                                  </m:r>
                                </m:e>
                              </m:d>
                            </m:e>
                          </m:d>
                        </m:e>
                      </m:nary>
                    </m:oMath>
                  </m:oMathPara>
                </a14:m>
                <a:endParaRPr lang="en-US" sz="2400" dirty="0"/>
              </a:p>
            </p:txBody>
          </p:sp>
        </mc:Choice>
        <mc:Fallback xmlns="">
          <p:sp>
            <p:nvSpPr>
              <p:cNvPr id="10" name="TextBox 9">
                <a:extLst>
                  <a:ext uri="{FF2B5EF4-FFF2-40B4-BE49-F238E27FC236}">
                    <a16:creationId xmlns:a16="http://schemas.microsoft.com/office/drawing/2014/main" id="{36A82EB2-57AF-262B-A369-5FD0D7C0032B}"/>
                  </a:ext>
                </a:extLst>
              </p:cNvPr>
              <p:cNvSpPr txBox="1">
                <a:spLocks noRot="1" noChangeAspect="1" noMove="1" noResize="1" noEditPoints="1" noAdjustHandles="1" noChangeArrowheads="1" noChangeShapeType="1" noTextEdit="1"/>
              </p:cNvSpPr>
              <p:nvPr/>
            </p:nvSpPr>
            <p:spPr>
              <a:xfrm>
                <a:off x="6095999" y="2557816"/>
                <a:ext cx="4142352" cy="978345"/>
              </a:xfrm>
              <a:prstGeom prst="rect">
                <a:avLst/>
              </a:prstGeom>
              <a:blipFill>
                <a:blip r:embed="rId5"/>
                <a:stretch>
                  <a:fillRect l="-25688" t="-135897" b="-17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E4D87BC-DBCE-74F2-DC6F-482E64BE56FF}"/>
                  </a:ext>
                </a:extLst>
              </p:cNvPr>
              <p:cNvSpPr txBox="1"/>
              <p:nvPr/>
            </p:nvSpPr>
            <p:spPr>
              <a:xfrm>
                <a:off x="3362952" y="3728477"/>
                <a:ext cx="2813270" cy="56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rPr>
                            <a:rPr lang="en-US" sz="2400" b="0" i="0" smtClean="0">
                              <a:latin typeface="Cambria Math" panose="02040503050406030204" pitchFamily="18" charset="0"/>
                            </a:rPr>
                            <m:t>Measure</m:t>
                          </m:r>
                          <m:r>
                            <m:rPr>
                              <m:nor/>
                            </m:rPr>
                            <a:rPr lang="en-US" sz="2400" b="0" i="0" smtClean="0">
                              <a:latin typeface="Cambria Math" panose="02040503050406030204" pitchFamily="18" charset="0"/>
                            </a:rPr>
                            <m:t> 2</m:t>
                          </m:r>
                          <m:r>
                            <m:rPr>
                              <m:nor/>
                            </m:rPr>
                            <a:rPr lang="en-US" sz="2400" b="0" i="0" baseline="30000" smtClean="0">
                              <a:latin typeface="Cambria Math" panose="02040503050406030204" pitchFamily="18" charset="0"/>
                            </a:rPr>
                            <m:t>nd</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register</m:t>
                          </m:r>
                        </m:e>
                      </m:groupChr>
                    </m:oMath>
                  </m:oMathPara>
                </a14:m>
                <a:endParaRPr lang="en-US" sz="2400" dirty="0"/>
              </a:p>
            </p:txBody>
          </p:sp>
        </mc:Choice>
        <mc:Fallback xmlns="">
          <p:sp>
            <p:nvSpPr>
              <p:cNvPr id="11" name="TextBox 10">
                <a:extLst>
                  <a:ext uri="{FF2B5EF4-FFF2-40B4-BE49-F238E27FC236}">
                    <a16:creationId xmlns:a16="http://schemas.microsoft.com/office/drawing/2014/main" id="{AE4D87BC-DBCE-74F2-DC6F-482E64BE56FF}"/>
                  </a:ext>
                </a:extLst>
              </p:cNvPr>
              <p:cNvSpPr txBox="1">
                <a:spLocks noRot="1" noChangeAspect="1" noMove="1" noResize="1" noEditPoints="1" noAdjustHandles="1" noChangeArrowheads="1" noChangeShapeType="1" noTextEdit="1"/>
              </p:cNvSpPr>
              <p:nvPr/>
            </p:nvSpPr>
            <p:spPr>
              <a:xfrm>
                <a:off x="3362952" y="3728477"/>
                <a:ext cx="2813270" cy="561436"/>
              </a:xfrm>
              <a:prstGeom prst="rect">
                <a:avLst/>
              </a:prstGeom>
              <a:blipFill>
                <a:blip r:embed="rId6"/>
                <a:stretch>
                  <a:fillRect l="-1794" t="-13333" r="-31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63135F0-76EE-C237-6E32-7616AFE703B3}"/>
                  </a:ext>
                </a:extLst>
              </p:cNvPr>
              <p:cNvSpPr txBox="1"/>
              <p:nvPr/>
            </p:nvSpPr>
            <p:spPr>
              <a:xfrm>
                <a:off x="6282728" y="3856216"/>
                <a:ext cx="3076227" cy="4166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𝑘</m:t>
                      </m:r>
                      <m:r>
                        <a:rPr lang="en-US" sz="2400" b="0" i="1" smtClean="0">
                          <a:solidFill>
                            <a:schemeClr val="accent5">
                              <a:lumMod val="75000"/>
                            </a:schemeClr>
                          </a:solidFill>
                          <a:latin typeface="Cambria Math" panose="02040503050406030204" pitchFamily="18" charset="0"/>
                        </a:rPr>
                        <m:t>,</m:t>
                      </m:r>
                      <m:r>
                        <m:rPr>
                          <m:lit/>
                        </m:rPr>
                        <a:rPr lang="en-US" sz="2400" b="0" i="1" smtClean="0">
                          <a:solidFill>
                            <a:schemeClr val="accent5">
                              <a:lumMod val="75000"/>
                            </a:schemeClr>
                          </a:solidFill>
                          <a:latin typeface="Cambria Math" panose="02040503050406030204" pitchFamily="18" charset="0"/>
                        </a:rPr>
                        <m:t> </m:t>
                      </m:r>
                      <m:d>
                        <m:dPr>
                          <m:begChr m:val="|"/>
                          <m:endChr m:val="⟩"/>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𝜓</m:t>
                              </m:r>
                            </m:e>
                            <m:sub>
                              <m:r>
                                <a:rPr lang="en-US" sz="2400" b="0" i="1" smtClean="0">
                                  <a:solidFill>
                                    <a:schemeClr val="accent5">
                                      <a:lumMod val="75000"/>
                                    </a:schemeClr>
                                  </a:solidFill>
                                  <a:latin typeface="Cambria Math" panose="02040503050406030204" pitchFamily="18" charset="0"/>
                                </a:rPr>
                                <m:t>𝑘</m:t>
                              </m:r>
                            </m:sub>
                          </m:sSub>
                        </m:e>
                      </m:d>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e>
                      </m:d>
                      <m:r>
                        <a:rPr lang="en-US" sz="2400" b="0" i="1" smtClean="0">
                          <a:solidFill>
                            <a:schemeClr val="accent5">
                              <a:lumMod val="75000"/>
                            </a:schemeClr>
                          </a:solidFill>
                          <a:latin typeface="Cambria Math" panose="02040503050406030204" pitchFamily="18" charset="0"/>
                        </a:rPr>
                        <m:t>+</m:t>
                      </m:r>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𝜔</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𝑘𝑠</m:t>
                          </m:r>
                        </m:sup>
                      </m:sSubSup>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e>
                      </m:d>
                    </m:oMath>
                  </m:oMathPara>
                </a14:m>
                <a:endParaRPr lang="en-US" sz="2400" dirty="0">
                  <a:solidFill>
                    <a:schemeClr val="accent5">
                      <a:lumMod val="75000"/>
                    </a:schemeClr>
                  </a:solidFill>
                </a:endParaRPr>
              </a:p>
            </p:txBody>
          </p:sp>
        </mc:Choice>
        <mc:Fallback xmlns="">
          <p:sp>
            <p:nvSpPr>
              <p:cNvPr id="12" name="TextBox 11">
                <a:extLst>
                  <a:ext uri="{FF2B5EF4-FFF2-40B4-BE49-F238E27FC236}">
                    <a16:creationId xmlns:a16="http://schemas.microsoft.com/office/drawing/2014/main" id="{B63135F0-76EE-C237-6E32-7616AFE703B3}"/>
                  </a:ext>
                </a:extLst>
              </p:cNvPr>
              <p:cNvSpPr txBox="1">
                <a:spLocks noRot="1" noChangeAspect="1" noMove="1" noResize="1" noEditPoints="1" noAdjustHandles="1" noChangeArrowheads="1" noChangeShapeType="1" noTextEdit="1"/>
              </p:cNvSpPr>
              <p:nvPr/>
            </p:nvSpPr>
            <p:spPr>
              <a:xfrm>
                <a:off x="6282728" y="3856216"/>
                <a:ext cx="3076227" cy="416653"/>
              </a:xfrm>
              <a:prstGeom prst="rect">
                <a:avLst/>
              </a:prstGeom>
              <a:blipFill>
                <a:blip r:embed="rId7"/>
                <a:stretch>
                  <a:fillRect l="-2058" t="-2941" b="-26471"/>
                </a:stretch>
              </a:blipFill>
            </p:spPr>
            <p:txBody>
              <a:bodyPr/>
              <a:lstStyle/>
              <a:p>
                <a:r>
                  <a:rPr lang="en-US">
                    <a:noFill/>
                  </a:rPr>
                  <a:t> </a:t>
                </a:r>
              </a:p>
            </p:txBody>
          </p:sp>
        </mc:Fallback>
      </mc:AlternateContent>
      <p:sp>
        <p:nvSpPr>
          <p:cNvPr id="24" name="Bent Up Arrow 23">
            <a:extLst>
              <a:ext uri="{FF2B5EF4-FFF2-40B4-BE49-F238E27FC236}">
                <a16:creationId xmlns:a16="http://schemas.microsoft.com/office/drawing/2014/main" id="{EB3E4C6E-1187-3530-93B6-6BD4C04142E3}"/>
              </a:ext>
            </a:extLst>
          </p:cNvPr>
          <p:cNvSpPr/>
          <p:nvPr/>
        </p:nvSpPr>
        <p:spPr>
          <a:xfrm rot="10800000">
            <a:off x="6350518" y="3626295"/>
            <a:ext cx="2521526" cy="214162"/>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2C150EA-3EA6-C82E-A47E-B34473046E6F}"/>
                  </a:ext>
                </a:extLst>
              </p:cNvPr>
              <p:cNvSpPr txBox="1"/>
              <p:nvPr/>
            </p:nvSpPr>
            <p:spPr>
              <a:xfrm>
                <a:off x="8872044" y="3372067"/>
                <a:ext cx="2521527" cy="490199"/>
              </a:xfrm>
              <a:prstGeom prst="rect">
                <a:avLst/>
              </a:prstGeom>
              <a:noFill/>
            </p:spPr>
            <p:txBody>
              <a:bodyPr wrap="square" rtlCol="0">
                <a:spAutoFit/>
              </a:bodyPr>
              <a:lstStyle/>
              <a:p>
                <a:r>
                  <a:rPr lang="en-US" sz="2400" dirty="0"/>
                  <a:t>(</a:t>
                </a:r>
                <a:r>
                  <a:rPr lang="en-US" sz="2400" dirty="0" err="1"/>
                  <a:t>Unif</a:t>
                </a:r>
                <a:r>
                  <a:rPr lang="en-US" sz="2400" dirty="0"/>
                  <a:t>. rand. in </a:t>
                </a:r>
                <a14:m>
                  <m:oMath xmlns:m="http://schemas.openxmlformats.org/officeDocument/2006/math">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r>
                  <a:rPr lang="en-US" sz="2400" dirty="0"/>
                  <a:t>)</a:t>
                </a:r>
              </a:p>
            </p:txBody>
          </p:sp>
        </mc:Choice>
        <mc:Fallback xmlns="">
          <p:sp>
            <p:nvSpPr>
              <p:cNvPr id="25" name="TextBox 24">
                <a:extLst>
                  <a:ext uri="{FF2B5EF4-FFF2-40B4-BE49-F238E27FC236}">
                    <a16:creationId xmlns:a16="http://schemas.microsoft.com/office/drawing/2014/main" id="{22C150EA-3EA6-C82E-A47E-B34473046E6F}"/>
                  </a:ext>
                </a:extLst>
              </p:cNvPr>
              <p:cNvSpPr txBox="1">
                <a:spLocks noRot="1" noChangeAspect="1" noMove="1" noResize="1" noEditPoints="1" noAdjustHandles="1" noChangeArrowheads="1" noChangeShapeType="1" noTextEdit="1"/>
              </p:cNvSpPr>
              <p:nvPr/>
            </p:nvSpPr>
            <p:spPr>
              <a:xfrm>
                <a:off x="8872044" y="3372067"/>
                <a:ext cx="2521527" cy="490199"/>
              </a:xfrm>
              <a:prstGeom prst="rect">
                <a:avLst/>
              </a:prstGeom>
              <a:blipFill>
                <a:blip r:embed="rId8"/>
                <a:stretch>
                  <a:fillRect l="-3500" t="-7500"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C45A034-5D84-8C15-E42C-61023BB9093E}"/>
                  </a:ext>
                </a:extLst>
              </p:cNvPr>
              <p:cNvSpPr txBox="1"/>
              <p:nvPr/>
            </p:nvSpPr>
            <p:spPr>
              <a:xfrm>
                <a:off x="838196" y="4427167"/>
                <a:ext cx="4664243" cy="521233"/>
              </a:xfrm>
              <a:prstGeom prst="rect">
                <a:avLst/>
              </a:prstGeom>
              <a:noFill/>
            </p:spPr>
            <p:txBody>
              <a:bodyPr wrap="square" rtlCol="0">
                <a:spAutoFit/>
              </a:bodyPr>
              <a:lstStyle/>
              <a:p>
                <a:r>
                  <a:rPr lang="en-US" sz="2400" dirty="0"/>
                  <a:t>If we had </a:t>
                </a:r>
                <a14:m>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𝜓</m:t>
                            </m:r>
                          </m:e>
                          <m:sub>
                            <m:r>
                              <a:rPr lang="en-US" sz="2400" b="0" i="1" smtClean="0">
                                <a:solidFill>
                                  <a:schemeClr val="accent5">
                                    <a:lumMod val="75000"/>
                                  </a:schemeClr>
                                </a:solidFill>
                                <a:latin typeface="Cambria Math" panose="02040503050406030204" pitchFamily="18" charset="0"/>
                              </a:rPr>
                              <m:t>𝑞</m:t>
                            </m:r>
                            <m:r>
                              <a:rPr lang="en-US" sz="2400" b="0" i="1" smtClean="0">
                                <a:solidFill>
                                  <a:schemeClr val="accent5">
                                    <a:lumMod val="75000"/>
                                  </a:schemeClr>
                                </a:solidFill>
                                <a:latin typeface="Cambria Math" panose="02040503050406030204" pitchFamily="18" charset="0"/>
                              </a:rPr>
                              <m:t>/2</m:t>
                            </m:r>
                          </m:sub>
                        </m:sSub>
                      </m:e>
                    </m:d>
                    <m:r>
                      <a:rPr lang="en-US" sz="2400" b="0" i="1" smtClean="0">
                        <a:solidFill>
                          <a:schemeClr val="accent5">
                            <a:lumMod val="75000"/>
                          </a:schemeClr>
                        </a:solidFill>
                        <a:latin typeface="Cambria Math" panose="02040503050406030204" pitchFamily="18" charset="0"/>
                      </a:rPr>
                      <m:t>=</m:t>
                    </m:r>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0</m:t>
                        </m:r>
                      </m:e>
                    </m:d>
                    <m:r>
                      <a:rPr lang="en-US" sz="2400" i="1">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e>
                        </m:d>
                      </m:e>
                      <m:sup>
                        <m:r>
                          <a:rPr lang="en-US" sz="2400" b="0" i="1" smtClean="0">
                            <a:solidFill>
                              <a:schemeClr val="accent5">
                                <a:lumMod val="75000"/>
                              </a:schemeClr>
                            </a:solidFill>
                            <a:latin typeface="Cambria Math" panose="02040503050406030204" pitchFamily="18" charset="0"/>
                          </a:rPr>
                          <m:t>𝑠</m:t>
                        </m:r>
                      </m:sup>
                    </m:sSup>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1</m:t>
                        </m:r>
                      </m:e>
                    </m:d>
                  </m:oMath>
                </a14:m>
                <a:r>
                  <a:rPr lang="en-US" sz="2400" dirty="0">
                    <a:solidFill>
                      <a:schemeClr val="accent5">
                        <a:lumMod val="75000"/>
                      </a:schemeClr>
                    </a:solidFill>
                  </a:rPr>
                  <a:t> </a:t>
                </a:r>
                <a:endParaRPr lang="en-US" sz="2400" dirty="0"/>
              </a:p>
            </p:txBody>
          </p:sp>
        </mc:Choice>
        <mc:Fallback xmlns="">
          <p:sp>
            <p:nvSpPr>
              <p:cNvPr id="26" name="TextBox 25">
                <a:extLst>
                  <a:ext uri="{FF2B5EF4-FFF2-40B4-BE49-F238E27FC236}">
                    <a16:creationId xmlns:a16="http://schemas.microsoft.com/office/drawing/2014/main" id="{4C45A034-5D84-8C15-E42C-61023BB9093E}"/>
                  </a:ext>
                </a:extLst>
              </p:cNvPr>
              <p:cNvSpPr txBox="1">
                <a:spLocks noRot="1" noChangeAspect="1" noMove="1" noResize="1" noEditPoints="1" noAdjustHandles="1" noChangeArrowheads="1" noChangeShapeType="1" noTextEdit="1"/>
              </p:cNvSpPr>
              <p:nvPr/>
            </p:nvSpPr>
            <p:spPr>
              <a:xfrm>
                <a:off x="838196" y="4427167"/>
                <a:ext cx="4664243" cy="521233"/>
              </a:xfrm>
              <a:prstGeom prst="rect">
                <a:avLst/>
              </a:prstGeom>
              <a:blipFill>
                <a:blip r:embed="rId9"/>
                <a:stretch>
                  <a:fillRect l="-1897" t="-238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189A2AA-2365-E199-71E5-CE20551F2F9C}"/>
                  </a:ext>
                </a:extLst>
              </p:cNvPr>
              <p:cNvSpPr txBox="1"/>
              <p:nvPr/>
            </p:nvSpPr>
            <p:spPr>
              <a:xfrm>
                <a:off x="5502439" y="4431579"/>
                <a:ext cx="2623667"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brk m:alnAt="2"/>
                            </m:rPr>
                            <a:rPr lang="en-US" sz="2400" b="0" i="0" smtClean="0">
                              <a:latin typeface="Cambria Math" panose="02040503050406030204" pitchFamily="18" charset="0"/>
                            </a:rPr>
                            <m:t>M</m:t>
                          </m:r>
                          <m:r>
                            <m:rPr>
                              <m:nor/>
                            </m:rPr>
                            <a:rPr lang="en-US" sz="2400" b="0" i="0" smtClean="0">
                              <a:latin typeface="Cambria Math" panose="02040503050406030204" pitchFamily="18" charset="0"/>
                            </a:rPr>
                            <m:t>easure</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in</m:t>
                          </m:r>
                          <m:r>
                            <m:rPr>
                              <m:nor/>
                            </m:rPr>
                            <a:rPr lang="en-US" sz="2400" b="0" i="0" smtClean="0">
                              <a:latin typeface="Cambria Math" panose="02040503050406030204" pitchFamily="18" charset="0"/>
                            </a:rPr>
                            <m:t> </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m:t>
                              </m:r>
                            </m:e>
                          </m:d>
                          <m:r>
                            <a:rPr lang="en-US" sz="2400" b="0" i="1" smtClean="0">
                              <a:latin typeface="Cambria Math" panose="02040503050406030204" pitchFamily="18" charset="0"/>
                            </a:rPr>
                            <m:t> </m:t>
                          </m:r>
                          <m:r>
                            <m:rPr>
                              <m:nor/>
                            </m:rPr>
                            <a:rPr lang="en-US" sz="2400" b="0" i="0" smtClean="0">
                              <a:latin typeface="Cambria Math" panose="02040503050406030204" pitchFamily="18" charset="0"/>
                            </a:rPr>
                            <m:t>basis</m:t>
                          </m:r>
                        </m:e>
                      </m:groupChr>
                    </m:oMath>
                  </m:oMathPara>
                </a14:m>
                <a:endParaRPr lang="en-US" sz="2400" dirty="0"/>
              </a:p>
            </p:txBody>
          </p:sp>
        </mc:Choice>
        <mc:Fallback xmlns="">
          <p:sp>
            <p:nvSpPr>
              <p:cNvPr id="27" name="TextBox 26">
                <a:extLst>
                  <a:ext uri="{FF2B5EF4-FFF2-40B4-BE49-F238E27FC236}">
                    <a16:creationId xmlns:a16="http://schemas.microsoft.com/office/drawing/2014/main" id="{A189A2AA-2365-E199-71E5-CE20551F2F9C}"/>
                  </a:ext>
                </a:extLst>
              </p:cNvPr>
              <p:cNvSpPr txBox="1">
                <a:spLocks noRot="1" noChangeAspect="1" noMove="1" noResize="1" noEditPoints="1" noAdjustHandles="1" noChangeArrowheads="1" noChangeShapeType="1" noTextEdit="1"/>
              </p:cNvSpPr>
              <p:nvPr/>
            </p:nvSpPr>
            <p:spPr>
              <a:xfrm>
                <a:off x="5502439" y="4431579"/>
                <a:ext cx="2623667" cy="568938"/>
              </a:xfrm>
              <a:prstGeom prst="rect">
                <a:avLst/>
              </a:prstGeom>
              <a:blipFill>
                <a:blip r:embed="rId10"/>
                <a:stretch>
                  <a:fillRect l="-2415" t="-10870" r="-2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6F2FC6C-2E0D-26E8-530D-C8ED6FCE7771}"/>
                  </a:ext>
                </a:extLst>
              </p:cNvPr>
              <p:cNvSpPr txBox="1"/>
              <p:nvPr/>
            </p:nvSpPr>
            <p:spPr>
              <a:xfrm>
                <a:off x="8196354" y="4579068"/>
                <a:ext cx="200683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400" b="0" i="0" smtClean="0">
                          <a:latin typeface="Cambria Math" panose="02040503050406030204" pitchFamily="18" charset="0"/>
                        </a:rPr>
                        <m:t>Get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last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bit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of</m:t>
                      </m:r>
                      <m:r>
                        <m:rPr>
                          <m:nor/>
                        </m:rPr>
                        <a:rPr lang="en-US" sz="2400" b="0" i="0" smtClean="0">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𝑠</m:t>
                      </m:r>
                    </m:oMath>
                  </m:oMathPara>
                </a14:m>
                <a:endParaRPr lang="en-US" sz="2400" dirty="0"/>
              </a:p>
            </p:txBody>
          </p:sp>
        </mc:Choice>
        <mc:Fallback xmlns="">
          <p:sp>
            <p:nvSpPr>
              <p:cNvPr id="28" name="TextBox 27">
                <a:extLst>
                  <a:ext uri="{FF2B5EF4-FFF2-40B4-BE49-F238E27FC236}">
                    <a16:creationId xmlns:a16="http://schemas.microsoft.com/office/drawing/2014/main" id="{76F2FC6C-2E0D-26E8-530D-C8ED6FCE7771}"/>
                  </a:ext>
                </a:extLst>
              </p:cNvPr>
              <p:cNvSpPr txBox="1">
                <a:spLocks noRot="1" noChangeAspect="1" noMove="1" noResize="1" noEditPoints="1" noAdjustHandles="1" noChangeArrowheads="1" noChangeShapeType="1" noTextEdit="1"/>
              </p:cNvSpPr>
              <p:nvPr/>
            </p:nvSpPr>
            <p:spPr>
              <a:xfrm>
                <a:off x="8196354" y="4579068"/>
                <a:ext cx="2006831" cy="369332"/>
              </a:xfrm>
              <a:prstGeom prst="rect">
                <a:avLst/>
              </a:prstGeom>
              <a:blipFill>
                <a:blip r:embed="rId11"/>
                <a:stretch>
                  <a:fillRect l="-3145" t="-10000" r="-1258" b="-3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FBD00C6-0A1A-365A-C28B-B1915F23AAB9}"/>
                  </a:ext>
                </a:extLst>
              </p:cNvPr>
              <p:cNvSpPr txBox="1"/>
              <p:nvPr/>
            </p:nvSpPr>
            <p:spPr>
              <a:xfrm>
                <a:off x="5949560" y="854747"/>
                <a:ext cx="6305752" cy="490199"/>
              </a:xfrm>
              <a:prstGeom prst="rect">
                <a:avLst/>
              </a:prstGeom>
              <a:noFill/>
            </p:spPr>
            <p:txBody>
              <a:bodyPr wrap="square" rtlCol="0">
                <a:spAutoFit/>
              </a:bodyPr>
              <a:lstStyle/>
              <a:p>
                <a:r>
                  <a:rPr lang="en-US" sz="2400" dirty="0">
                    <a:solidFill>
                      <a:srgbClr val="FF0000"/>
                    </a:solidFill>
                  </a:rPr>
                  <a:t>Hidden Subgroup: </a:t>
                </a:r>
                <a14:m>
                  <m:oMath xmlns:m="http://schemas.openxmlformats.org/officeDocument/2006/math">
                    <m:r>
                      <m:rPr>
                        <m:sty m:val="p"/>
                      </m:rPr>
                      <a:rPr lang="en-US" sz="2400" b="0" i="0" smtClean="0">
                        <a:solidFill>
                          <a:srgbClr val="FF0000"/>
                        </a:solidFill>
                        <a:latin typeface="Cambria Math" panose="02040503050406030204" pitchFamily="18" charset="0"/>
                      </a:rPr>
                      <m:t>H</m:t>
                    </m:r>
                    <m:r>
                      <a:rPr lang="en-US" sz="2400" b="0" i="0" smtClean="0">
                        <a:solidFill>
                          <a:srgbClr val="FF0000"/>
                        </a:solidFill>
                        <a:latin typeface="Cambria Math" panose="02040503050406030204" pitchFamily="18" charset="0"/>
                      </a:rPr>
                      <m:t>=</m:t>
                    </m:r>
                    <m:r>
                      <m:rPr>
                        <m:lit/>
                      </m:rPr>
                      <a:rPr lang="en-US" sz="2400" b="0" i="0" smtClean="0">
                        <a:solidFill>
                          <a:srgbClr val="FF0000"/>
                        </a:solidFill>
                        <a:latin typeface="Cambria Math" panose="02040503050406030204" pitchFamily="18" charset="0"/>
                      </a:rPr>
                      <m:t>{</m:t>
                    </m:r>
                    <m:d>
                      <m:dPr>
                        <m:ctrlPr>
                          <a:rPr lang="en-US" sz="2400" b="0" i="1" smtClean="0">
                            <a:solidFill>
                              <a:srgbClr val="FF0000"/>
                            </a:solidFill>
                            <a:latin typeface="Cambria Math" panose="02040503050406030204" pitchFamily="18" charset="0"/>
                          </a:rPr>
                        </m:ctrlPr>
                      </m:dPr>
                      <m:e>
                        <m:r>
                          <a:rPr lang="en-US" sz="2400" b="0" i="0" smtClean="0">
                            <a:solidFill>
                              <a:srgbClr val="FF0000"/>
                            </a:solidFill>
                            <a:latin typeface="Cambria Math" panose="02040503050406030204" pitchFamily="18" charset="0"/>
                          </a:rPr>
                          <m:t>0,0</m:t>
                        </m:r>
                      </m:e>
                    </m:d>
                    <m:r>
                      <a:rPr lang="en-US" sz="2400" b="0" i="0"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(1,</m:t>
                    </m:r>
                    <m:r>
                      <a:rPr lang="en-US" sz="2400" b="0" i="1" smtClean="0">
                        <a:solidFill>
                          <a:srgbClr val="FF0000"/>
                        </a:solidFill>
                        <a:latin typeface="Cambria Math" panose="02040503050406030204" pitchFamily="18" charset="0"/>
                      </a:rPr>
                      <m:t>𝑠</m:t>
                    </m:r>
                    <m:r>
                      <a:rPr lang="en-US" sz="2400" b="0" i="1" smtClean="0">
                        <a:solidFill>
                          <a:srgbClr val="FF0000"/>
                        </a:solidFill>
                        <a:latin typeface="Cambria Math" panose="02040503050406030204" pitchFamily="18" charset="0"/>
                      </a:rPr>
                      <m:t>)</m:t>
                    </m:r>
                    <m:r>
                      <m:rPr>
                        <m:lit/>
                      </m:rPr>
                      <a:rPr lang="en-US" sz="2400" b="0" i="1" smtClean="0">
                        <a:solidFill>
                          <a:srgbClr val="FF0000"/>
                        </a:solidFill>
                        <a:latin typeface="Cambria Math" panose="02040503050406030204" pitchFamily="18" charset="0"/>
                      </a:rPr>
                      <m:t>}</m:t>
                    </m:r>
                  </m:oMath>
                </a14:m>
                <a:r>
                  <a:rPr lang="en-US" sz="2400" dirty="0">
                    <a:solidFill>
                      <a:srgbClr val="FF0000"/>
                    </a:solidFill>
                  </a:rPr>
                  <a:t> for </a:t>
                </a:r>
                <a14:m>
                  <m:oMath xmlns:m="http://schemas.openxmlformats.org/officeDocument/2006/math">
                    <m:r>
                      <a:rPr lang="en-US" sz="2400" b="0" i="1" smtClean="0">
                        <a:solidFill>
                          <a:srgbClr val="FF0000"/>
                        </a:solidFill>
                        <a:latin typeface="Cambria Math" panose="02040503050406030204" pitchFamily="18" charset="0"/>
                      </a:rPr>
                      <m:t>𝑠</m:t>
                    </m:r>
                    <m:r>
                      <a:rPr lang="en-US" sz="2400" b="0" i="1" smtClean="0">
                        <a:solidFill>
                          <a:srgbClr val="FF0000"/>
                        </a:solidFill>
                        <a:latin typeface="Cambria Math" panose="02040503050406030204" pitchFamily="18" charset="0"/>
                      </a:rPr>
                      <m:t>∈</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ℤ</m:t>
                        </m:r>
                      </m:e>
                      <m:sub>
                        <m:r>
                          <a:rPr lang="en-US" sz="2400" b="0" i="1" smtClean="0">
                            <a:solidFill>
                              <a:srgbClr val="FF0000"/>
                            </a:solidFill>
                            <a:latin typeface="Cambria Math" panose="02040503050406030204" pitchFamily="18" charset="0"/>
                          </a:rPr>
                          <m:t>𝑞</m:t>
                        </m:r>
                      </m:sub>
                    </m:sSub>
                  </m:oMath>
                </a14:m>
                <a:endParaRPr lang="en-US" sz="2400" dirty="0">
                  <a:solidFill>
                    <a:srgbClr val="FF0000"/>
                  </a:solidFill>
                </a:endParaRPr>
              </a:p>
            </p:txBody>
          </p:sp>
        </mc:Choice>
        <mc:Fallback xmlns="">
          <p:sp>
            <p:nvSpPr>
              <p:cNvPr id="29" name="TextBox 28">
                <a:extLst>
                  <a:ext uri="{FF2B5EF4-FFF2-40B4-BE49-F238E27FC236}">
                    <a16:creationId xmlns:a16="http://schemas.microsoft.com/office/drawing/2014/main" id="{CFBD00C6-0A1A-365A-C28B-B1915F23AAB9}"/>
                  </a:ext>
                </a:extLst>
              </p:cNvPr>
              <p:cNvSpPr txBox="1">
                <a:spLocks noRot="1" noChangeAspect="1" noMove="1" noResize="1" noEditPoints="1" noAdjustHandles="1" noChangeArrowheads="1" noChangeShapeType="1" noTextEdit="1"/>
              </p:cNvSpPr>
              <p:nvPr/>
            </p:nvSpPr>
            <p:spPr>
              <a:xfrm>
                <a:off x="5949560" y="854747"/>
                <a:ext cx="6305752" cy="490199"/>
              </a:xfrm>
              <a:prstGeom prst="rect">
                <a:avLst/>
              </a:prstGeom>
              <a:blipFill>
                <a:blip r:embed="rId12"/>
                <a:stretch>
                  <a:fillRect l="-1610" t="-7500"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FC7225D-A44B-0BD7-3D44-6BE502CD124E}"/>
                  </a:ext>
                </a:extLst>
              </p:cNvPr>
              <p:cNvSpPr txBox="1"/>
              <p:nvPr/>
            </p:nvSpPr>
            <p:spPr>
              <a:xfrm>
                <a:off x="838196" y="5004929"/>
                <a:ext cx="11145255" cy="521233"/>
              </a:xfrm>
              <a:prstGeom prst="rect">
                <a:avLst/>
              </a:prstGeom>
              <a:noFill/>
            </p:spPr>
            <p:txBody>
              <a:bodyPr wrap="square" rtlCol="0">
                <a:spAutoFit/>
              </a:bodyPr>
              <a:lstStyle/>
              <a:p>
                <a:r>
                  <a:rPr lang="en-US" sz="2400" dirty="0"/>
                  <a:t>Kuperberg’s idea: Collect lots of </a:t>
                </a:r>
                <a14:m>
                  <m:oMath xmlns:m="http://schemas.openxmlformats.org/officeDocument/2006/math">
                    <m:r>
                      <m:rPr>
                        <m:lit/>
                      </m:rPr>
                      <a:rPr lang="en-US" sz="2400" b="0" i="0"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𝑘</m:t>
                    </m:r>
                    <m:r>
                      <a:rPr lang="en-US" sz="2400" i="1">
                        <a:solidFill>
                          <a:schemeClr val="accent5">
                            <a:lumMod val="75000"/>
                          </a:schemeClr>
                        </a:solidFill>
                        <a:latin typeface="Cambria Math" panose="02040503050406030204" pitchFamily="18" charset="0"/>
                      </a:rPr>
                      <m:t>,</m:t>
                    </m:r>
                    <m:r>
                      <m:rPr>
                        <m:lit/>
                      </m:rPr>
                      <a:rPr lang="en-US" sz="2400" i="1">
                        <a:solidFill>
                          <a:schemeClr val="accent5">
                            <a:lumMod val="75000"/>
                          </a:schemeClr>
                        </a:solidFill>
                        <a:latin typeface="Cambria Math" panose="02040503050406030204" pitchFamily="18" charset="0"/>
                      </a:rPr>
                      <m:t> </m:t>
                    </m:r>
                    <m:d>
                      <m:dPr>
                        <m:begChr m:val="|"/>
                        <m:endChr m:val="⟩"/>
                        <m:ctrlPr>
                          <a:rPr lang="en-US" sz="2400" i="1">
                            <a:solidFill>
                              <a:schemeClr val="accent5">
                                <a:lumMod val="75000"/>
                              </a:schemeClr>
                            </a:solidFill>
                            <a:latin typeface="Cambria Math" panose="02040503050406030204" pitchFamily="18" charset="0"/>
                          </a:rPr>
                        </m:ctrlPr>
                      </m:dPr>
                      <m:e>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𝜓</m:t>
                            </m:r>
                          </m:e>
                          <m:sub>
                            <m:r>
                              <a:rPr lang="en-US" sz="2400" i="1">
                                <a:solidFill>
                                  <a:schemeClr val="accent5">
                                    <a:lumMod val="75000"/>
                                  </a:schemeClr>
                                </a:solidFill>
                                <a:latin typeface="Cambria Math" panose="02040503050406030204" pitchFamily="18" charset="0"/>
                              </a:rPr>
                              <m:t>𝑘</m:t>
                            </m:r>
                          </m:sub>
                        </m:sSub>
                      </m:e>
                    </m:d>
                    <m:r>
                      <m:rPr>
                        <m:lit/>
                      </m:rPr>
                      <a:rPr lang="en-US" sz="2400" b="0" i="1" smtClean="0">
                        <a:solidFill>
                          <a:schemeClr val="accent5">
                            <a:lumMod val="75000"/>
                          </a:schemeClr>
                        </a:solidFill>
                        <a:latin typeface="Cambria Math" panose="02040503050406030204" pitchFamily="18" charset="0"/>
                      </a:rPr>
                      <m:t>}</m:t>
                    </m:r>
                  </m:oMath>
                </a14:m>
                <a:r>
                  <a:rPr lang="en-US" sz="2400" dirty="0"/>
                  <a:t>  and combine them cleverly to get </a:t>
                </a:r>
                <a14:m>
                  <m:oMath xmlns:m="http://schemas.openxmlformats.org/officeDocument/2006/math">
                    <m:d>
                      <m:dPr>
                        <m:begChr m:val="|"/>
                        <m:endChr m:val="⟩"/>
                        <m:ctrlPr>
                          <a:rPr lang="en-US" sz="2400" i="1" smtClean="0">
                            <a:solidFill>
                              <a:schemeClr val="accent5">
                                <a:lumMod val="75000"/>
                              </a:schemeClr>
                            </a:solidFill>
                            <a:latin typeface="Cambria Math" panose="02040503050406030204" pitchFamily="18" charset="0"/>
                          </a:rPr>
                        </m:ctrlPr>
                      </m:dPr>
                      <m:e>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𝜓</m:t>
                            </m:r>
                          </m:e>
                          <m:sub>
                            <m:r>
                              <a:rPr lang="en-US" sz="2400" b="0" i="1" smtClean="0">
                                <a:solidFill>
                                  <a:schemeClr val="accent5">
                                    <a:lumMod val="75000"/>
                                  </a:schemeClr>
                                </a:solidFill>
                                <a:latin typeface="Cambria Math" panose="02040503050406030204" pitchFamily="18" charset="0"/>
                              </a:rPr>
                              <m:t>𝑞</m:t>
                            </m:r>
                            <m:r>
                              <a:rPr lang="en-US" sz="2400" i="1">
                                <a:solidFill>
                                  <a:schemeClr val="accent5">
                                    <a:lumMod val="75000"/>
                                  </a:schemeClr>
                                </a:solidFill>
                                <a:latin typeface="Cambria Math" panose="02040503050406030204" pitchFamily="18" charset="0"/>
                              </a:rPr>
                              <m:t>/2</m:t>
                            </m:r>
                          </m:sub>
                        </m:sSub>
                      </m:e>
                    </m:d>
                  </m:oMath>
                </a14:m>
                <a:r>
                  <a:rPr lang="en-US" sz="2400" dirty="0"/>
                  <a:t> </a:t>
                </a:r>
              </a:p>
            </p:txBody>
          </p:sp>
        </mc:Choice>
        <mc:Fallback xmlns="">
          <p:sp>
            <p:nvSpPr>
              <p:cNvPr id="30" name="TextBox 29">
                <a:extLst>
                  <a:ext uri="{FF2B5EF4-FFF2-40B4-BE49-F238E27FC236}">
                    <a16:creationId xmlns:a16="http://schemas.microsoft.com/office/drawing/2014/main" id="{DFC7225D-A44B-0BD7-3D44-6BE502CD124E}"/>
                  </a:ext>
                </a:extLst>
              </p:cNvPr>
              <p:cNvSpPr txBox="1">
                <a:spLocks noRot="1" noChangeAspect="1" noMove="1" noResize="1" noEditPoints="1" noAdjustHandles="1" noChangeArrowheads="1" noChangeShapeType="1" noTextEdit="1"/>
              </p:cNvSpPr>
              <p:nvPr/>
            </p:nvSpPr>
            <p:spPr>
              <a:xfrm>
                <a:off x="838196" y="5004929"/>
                <a:ext cx="11145255" cy="521233"/>
              </a:xfrm>
              <a:prstGeom prst="rect">
                <a:avLst/>
              </a:prstGeom>
              <a:blipFill>
                <a:blip r:embed="rId13"/>
                <a:stretch>
                  <a:fillRect l="-796" t="-238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A6448FC-DA2A-C5D6-EB18-A82025868F7F}"/>
                  </a:ext>
                </a:extLst>
              </p:cNvPr>
              <p:cNvSpPr txBox="1"/>
              <p:nvPr/>
            </p:nvSpPr>
            <p:spPr>
              <a:xfrm>
                <a:off x="822154" y="6203928"/>
                <a:ext cx="9765635" cy="645048"/>
              </a:xfrm>
              <a:prstGeom prst="rect">
                <a:avLst/>
              </a:prstGeom>
              <a:noFill/>
            </p:spPr>
            <p:txBody>
              <a:bodyPr wrap="square" rtlCol="0">
                <a:spAutoFit/>
              </a:bodyPr>
              <a:lstStyle/>
              <a:p>
                <a:r>
                  <a:rPr lang="en-US" sz="2400" dirty="0">
                    <a:solidFill>
                      <a:srgbClr val="00B050"/>
                    </a:solidFill>
                  </a:rPr>
                  <a:t>Given </a:t>
                </a:r>
                <a14:m>
                  <m:oMath xmlns:m="http://schemas.openxmlformats.org/officeDocument/2006/math">
                    <m:func>
                      <m:funcPr>
                        <m:ctrlPr>
                          <a:rPr lang="en-US" sz="2400" i="1">
                            <a:solidFill>
                              <a:schemeClr val="accent5">
                                <a:lumMod val="75000"/>
                              </a:schemeClr>
                            </a:solidFill>
                            <a:latin typeface="Cambria Math" panose="02040503050406030204" pitchFamily="18" charset="0"/>
                          </a:rPr>
                        </m:ctrlPr>
                      </m:funcPr>
                      <m:fName>
                        <m:r>
                          <m:rPr>
                            <m:sty m:val="p"/>
                          </m:rPr>
                          <a:rPr lang="en-US" sz="2400">
                            <a:solidFill>
                              <a:schemeClr val="accent5">
                                <a:lumMod val="75000"/>
                              </a:schemeClr>
                            </a:solidFill>
                            <a:latin typeface="Cambria Math" panose="02040503050406030204" pitchFamily="18" charset="0"/>
                          </a:rPr>
                          <m:t>exp</m:t>
                        </m:r>
                      </m:fName>
                      <m:e>
                        <m:d>
                          <m:dPr>
                            <m:ctrlPr>
                              <a:rPr lang="en-US" sz="2400" i="1">
                                <a:solidFill>
                                  <a:schemeClr val="accent5">
                                    <a:lumMod val="75000"/>
                                  </a:schemeClr>
                                </a:solidFill>
                                <a:latin typeface="Cambria Math" panose="02040503050406030204" pitchFamily="18" charset="0"/>
                              </a:rPr>
                            </m:ctrlPr>
                          </m:dPr>
                          <m:e>
                            <m:r>
                              <m:rPr>
                                <m:sty m:val="p"/>
                              </m:rPr>
                              <a:rPr lang="en-US" sz="2400">
                                <a:solidFill>
                                  <a:schemeClr val="accent5">
                                    <a:lumMod val="75000"/>
                                  </a:schemeClr>
                                </a:solidFill>
                                <a:latin typeface="Cambria Math" panose="02040503050406030204" pitchFamily="18" charset="0"/>
                              </a:rPr>
                              <m:t>Θ</m:t>
                            </m:r>
                            <m:d>
                              <m:dPr>
                                <m:ctrlPr>
                                  <a:rPr lang="en-US" sz="2400" i="1">
                                    <a:solidFill>
                                      <a:schemeClr val="accent5">
                                        <a:lumMod val="75000"/>
                                      </a:schemeClr>
                                    </a:solidFill>
                                    <a:latin typeface="Cambria Math" panose="02040503050406030204" pitchFamily="18" charset="0"/>
                                  </a:rPr>
                                </m:ctrlPr>
                              </m:dPr>
                              <m:e>
                                <m:rad>
                                  <m:radPr>
                                    <m:degHide m:val="on"/>
                                    <m:ctrlPr>
                                      <a:rPr lang="en-US" sz="2400" i="1">
                                        <a:solidFill>
                                          <a:schemeClr val="accent5">
                                            <a:lumMod val="75000"/>
                                          </a:schemeClr>
                                        </a:solidFill>
                                        <a:latin typeface="Cambria Math" panose="02040503050406030204" pitchFamily="18" charset="0"/>
                                      </a:rPr>
                                    </m:ctrlPr>
                                  </m:radPr>
                                  <m:deg/>
                                  <m:e>
                                    <m:func>
                                      <m:funcPr>
                                        <m:ctrlPr>
                                          <a:rPr lang="en-US" sz="2400" i="1">
                                            <a:solidFill>
                                              <a:schemeClr val="accent5">
                                                <a:lumMod val="75000"/>
                                              </a:schemeClr>
                                            </a:solidFill>
                                            <a:latin typeface="Cambria Math" panose="02040503050406030204" pitchFamily="18" charset="0"/>
                                          </a:rPr>
                                        </m:ctrlPr>
                                      </m:funcPr>
                                      <m:fName>
                                        <m:r>
                                          <m:rPr>
                                            <m:sty m:val="p"/>
                                          </m:rPr>
                                          <a:rPr lang="en-US" sz="2400">
                                            <a:solidFill>
                                              <a:schemeClr val="accent5">
                                                <a:lumMod val="75000"/>
                                              </a:schemeClr>
                                            </a:solidFill>
                                            <a:latin typeface="Cambria Math" panose="02040503050406030204" pitchFamily="18" charset="0"/>
                                          </a:rPr>
                                          <m:t>log</m:t>
                                        </m:r>
                                      </m:fName>
                                      <m:e>
                                        <m:r>
                                          <a:rPr lang="en-US" sz="2400" i="1">
                                            <a:solidFill>
                                              <a:schemeClr val="accent5">
                                                <a:lumMod val="75000"/>
                                              </a:schemeClr>
                                            </a:solidFill>
                                            <a:latin typeface="Cambria Math" panose="02040503050406030204" pitchFamily="18" charset="0"/>
                                          </a:rPr>
                                          <m:t>𝑞</m:t>
                                        </m:r>
                                      </m:e>
                                    </m:func>
                                  </m:e>
                                </m:rad>
                              </m:e>
                            </m:d>
                          </m:e>
                        </m:d>
                      </m:e>
                    </m:func>
                    <m:r>
                      <a:rPr lang="en-US" sz="2400" i="1">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 </m:t>
                    </m:r>
                  </m:oMath>
                </a14:m>
                <a:r>
                  <a:rPr lang="en-US" sz="2400" dirty="0">
                    <a:solidFill>
                      <a:srgbClr val="00B050"/>
                    </a:solidFill>
                  </a:rPr>
                  <a:t>samples, can find </a:t>
                </a:r>
                <a14:m>
                  <m:oMath xmlns:m="http://schemas.openxmlformats.org/officeDocument/2006/math">
                    <m:r>
                      <a:rPr lang="en-US" sz="2400" b="0" i="1" smtClean="0">
                        <a:solidFill>
                          <a:schemeClr val="accent5">
                            <a:lumMod val="75000"/>
                          </a:schemeClr>
                        </a:solidFill>
                        <a:latin typeface="Cambria Math" panose="02040503050406030204" pitchFamily="18" charset="0"/>
                      </a:rPr>
                      <m:t>𝑠</m:t>
                    </m:r>
                  </m:oMath>
                </a14:m>
                <a:r>
                  <a:rPr lang="en-US" sz="2400" dirty="0">
                    <a:solidFill>
                      <a:srgbClr val="00B050"/>
                    </a:solidFill>
                  </a:rPr>
                  <a:t> in</a:t>
                </a:r>
                <a:r>
                  <a:rPr lang="en-US" sz="2400" dirty="0">
                    <a:solidFill>
                      <a:schemeClr val="accent5">
                        <a:lumMod val="75000"/>
                      </a:schemeClr>
                    </a:solidFill>
                  </a:rPr>
                  <a:t> </a:t>
                </a:r>
                <a14:m>
                  <m:oMath xmlns:m="http://schemas.openxmlformats.org/officeDocument/2006/math">
                    <m:func>
                      <m:funcPr>
                        <m:ctrlPr>
                          <a:rPr lang="en-US" sz="2400" i="1">
                            <a:solidFill>
                              <a:schemeClr val="accent5">
                                <a:lumMod val="75000"/>
                              </a:schemeClr>
                            </a:solidFill>
                            <a:latin typeface="Cambria Math" panose="02040503050406030204" pitchFamily="18" charset="0"/>
                          </a:rPr>
                        </m:ctrlPr>
                      </m:funcPr>
                      <m:fName>
                        <m:r>
                          <m:rPr>
                            <m:sty m:val="p"/>
                          </m:rPr>
                          <a:rPr lang="en-US" sz="2400">
                            <a:solidFill>
                              <a:schemeClr val="accent5">
                                <a:lumMod val="75000"/>
                              </a:schemeClr>
                            </a:solidFill>
                            <a:latin typeface="Cambria Math" panose="02040503050406030204" pitchFamily="18" charset="0"/>
                          </a:rPr>
                          <m:t>exp</m:t>
                        </m:r>
                      </m:fName>
                      <m:e>
                        <m:d>
                          <m:dPr>
                            <m:ctrlPr>
                              <a:rPr lang="en-US" sz="2400" i="1">
                                <a:solidFill>
                                  <a:schemeClr val="accent5">
                                    <a:lumMod val="75000"/>
                                  </a:schemeClr>
                                </a:solidFill>
                                <a:latin typeface="Cambria Math" panose="02040503050406030204" pitchFamily="18" charset="0"/>
                              </a:rPr>
                            </m:ctrlPr>
                          </m:dPr>
                          <m:e>
                            <m:r>
                              <m:rPr>
                                <m:sty m:val="p"/>
                              </m:rPr>
                              <a:rPr lang="en-US" sz="2400">
                                <a:solidFill>
                                  <a:schemeClr val="accent5">
                                    <a:lumMod val="75000"/>
                                  </a:schemeClr>
                                </a:solidFill>
                                <a:latin typeface="Cambria Math" panose="02040503050406030204" pitchFamily="18" charset="0"/>
                              </a:rPr>
                              <m:t>Θ</m:t>
                            </m:r>
                            <m:d>
                              <m:dPr>
                                <m:ctrlPr>
                                  <a:rPr lang="en-US" sz="2400" i="1">
                                    <a:solidFill>
                                      <a:schemeClr val="accent5">
                                        <a:lumMod val="75000"/>
                                      </a:schemeClr>
                                    </a:solidFill>
                                    <a:latin typeface="Cambria Math" panose="02040503050406030204" pitchFamily="18" charset="0"/>
                                  </a:rPr>
                                </m:ctrlPr>
                              </m:dPr>
                              <m:e>
                                <m:rad>
                                  <m:radPr>
                                    <m:degHide m:val="on"/>
                                    <m:ctrlPr>
                                      <a:rPr lang="en-US" sz="2400" i="1">
                                        <a:solidFill>
                                          <a:schemeClr val="accent5">
                                            <a:lumMod val="75000"/>
                                          </a:schemeClr>
                                        </a:solidFill>
                                        <a:latin typeface="Cambria Math" panose="02040503050406030204" pitchFamily="18" charset="0"/>
                                      </a:rPr>
                                    </m:ctrlPr>
                                  </m:radPr>
                                  <m:deg/>
                                  <m:e>
                                    <m:func>
                                      <m:funcPr>
                                        <m:ctrlPr>
                                          <a:rPr lang="en-US" sz="2400" i="1">
                                            <a:solidFill>
                                              <a:schemeClr val="accent5">
                                                <a:lumMod val="75000"/>
                                              </a:schemeClr>
                                            </a:solidFill>
                                            <a:latin typeface="Cambria Math" panose="02040503050406030204" pitchFamily="18" charset="0"/>
                                          </a:rPr>
                                        </m:ctrlPr>
                                      </m:funcPr>
                                      <m:fName>
                                        <m:r>
                                          <m:rPr>
                                            <m:sty m:val="p"/>
                                          </m:rPr>
                                          <a:rPr lang="en-US" sz="2400">
                                            <a:solidFill>
                                              <a:schemeClr val="accent5">
                                                <a:lumMod val="75000"/>
                                              </a:schemeClr>
                                            </a:solidFill>
                                            <a:latin typeface="Cambria Math" panose="02040503050406030204" pitchFamily="18" charset="0"/>
                                          </a:rPr>
                                          <m:t>log</m:t>
                                        </m:r>
                                      </m:fName>
                                      <m:e>
                                        <m:r>
                                          <a:rPr lang="en-US" sz="2400" i="1">
                                            <a:solidFill>
                                              <a:schemeClr val="accent5">
                                                <a:lumMod val="75000"/>
                                              </a:schemeClr>
                                            </a:solidFill>
                                            <a:latin typeface="Cambria Math" panose="02040503050406030204" pitchFamily="18" charset="0"/>
                                          </a:rPr>
                                          <m:t>𝑞</m:t>
                                        </m:r>
                                      </m:e>
                                    </m:func>
                                  </m:e>
                                </m:rad>
                              </m:e>
                            </m:d>
                          </m:e>
                        </m:d>
                      </m:e>
                    </m:func>
                    <m:r>
                      <a:rPr lang="en-US" sz="2400" i="1">
                        <a:solidFill>
                          <a:schemeClr val="accent5">
                            <a:lumMod val="75000"/>
                          </a:schemeClr>
                        </a:solidFill>
                        <a:latin typeface="Cambria Math" panose="02040503050406030204" pitchFamily="18" charset="0"/>
                      </a:rPr>
                      <m:t> </m:t>
                    </m:r>
                  </m:oMath>
                </a14:m>
                <a:r>
                  <a:rPr lang="en-US" sz="2400" dirty="0">
                    <a:solidFill>
                      <a:srgbClr val="00B050"/>
                    </a:solidFill>
                  </a:rPr>
                  <a:t>time</a:t>
                </a:r>
              </a:p>
            </p:txBody>
          </p:sp>
        </mc:Choice>
        <mc:Fallback xmlns="">
          <p:sp>
            <p:nvSpPr>
              <p:cNvPr id="31" name="TextBox 30">
                <a:extLst>
                  <a:ext uri="{FF2B5EF4-FFF2-40B4-BE49-F238E27FC236}">
                    <a16:creationId xmlns:a16="http://schemas.microsoft.com/office/drawing/2014/main" id="{AA6448FC-DA2A-C5D6-EB18-A82025868F7F}"/>
                  </a:ext>
                </a:extLst>
              </p:cNvPr>
              <p:cNvSpPr txBox="1">
                <a:spLocks noRot="1" noChangeAspect="1" noMove="1" noResize="1" noEditPoints="1" noAdjustHandles="1" noChangeArrowheads="1" noChangeShapeType="1" noTextEdit="1"/>
              </p:cNvSpPr>
              <p:nvPr/>
            </p:nvSpPr>
            <p:spPr>
              <a:xfrm>
                <a:off x="822154" y="6203928"/>
                <a:ext cx="9765635" cy="645048"/>
              </a:xfrm>
              <a:prstGeom prst="rect">
                <a:avLst/>
              </a:prstGeom>
              <a:blipFill>
                <a:blip r:embed="rId14"/>
                <a:stretch>
                  <a:fillRect l="-909"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D4660DB-2C71-6431-208D-13A4BB96BBF9}"/>
                  </a:ext>
                </a:extLst>
              </p:cNvPr>
              <p:cNvSpPr txBox="1"/>
              <p:nvPr/>
            </p:nvSpPr>
            <p:spPr>
              <a:xfrm>
                <a:off x="3170317" y="5526162"/>
                <a:ext cx="8311753" cy="627672"/>
              </a:xfrm>
              <a:prstGeom prst="rect">
                <a:avLst/>
              </a:prstGeom>
              <a:noFill/>
            </p:spPr>
            <p:txBody>
              <a:bodyPr wrap="square" rtlCol="0">
                <a:spAutoFit/>
              </a:bodyPr>
              <a:lstStyle/>
              <a:p>
                <a:r>
                  <a:rPr lang="en-US" sz="2400" dirty="0"/>
                  <a:t>Combining: </a:t>
                </a:r>
                <a14:m>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𝜓</m:t>
                            </m:r>
                          </m:e>
                          <m:sub>
                            <m:r>
                              <a:rPr lang="en-US" sz="2400" b="0" i="1" smtClean="0">
                                <a:solidFill>
                                  <a:schemeClr val="accent5">
                                    <a:lumMod val="75000"/>
                                  </a:schemeClr>
                                </a:solidFill>
                                <a:latin typeface="Cambria Math" panose="02040503050406030204" pitchFamily="18" charset="0"/>
                              </a:rPr>
                              <m:t>𝑘</m:t>
                            </m:r>
                          </m:sub>
                        </m:sSub>
                      </m:e>
                    </m:d>
                    <m:d>
                      <m:dPr>
                        <m:begChr m:val="|"/>
                        <m:endChr m:val="⟩"/>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𝜓</m:t>
                            </m:r>
                          </m:e>
                          <m:sub>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𝑘</m:t>
                                </m:r>
                              </m:e>
                              <m:sup>
                                <m:r>
                                  <a:rPr lang="en-US" sz="2400" b="0" i="1" smtClean="0">
                                    <a:solidFill>
                                      <a:schemeClr val="accent5">
                                        <a:lumMod val="75000"/>
                                      </a:schemeClr>
                                    </a:solidFill>
                                    <a:latin typeface="Cambria Math" panose="02040503050406030204" pitchFamily="18" charset="0"/>
                                  </a:rPr>
                                  <m:t>′</m:t>
                                </m:r>
                              </m:sup>
                            </m:sSup>
                          </m:sub>
                        </m:sSub>
                      </m:e>
                    </m:d>
                    <m:r>
                      <a:rPr lang="en-US" sz="2400" b="0" i="1" smtClean="0">
                        <a:solidFill>
                          <a:schemeClr val="accent5">
                            <a:lumMod val="75000"/>
                          </a:schemeClr>
                        </a:solidFill>
                        <a:latin typeface="Cambria Math" panose="02040503050406030204" pitchFamily="18" charset="0"/>
                      </a:rPr>
                      <m:t> </m:t>
                    </m:r>
                    <m:groupChr>
                      <m:groupChrPr>
                        <m:chr m:val="→"/>
                        <m:vertJc m:val="bot"/>
                        <m:ctrlPr>
                          <a:rPr lang="en-US" sz="2400" b="0" i="1" smtClean="0">
                            <a:solidFill>
                              <a:schemeClr val="accent5">
                                <a:lumMod val="75000"/>
                              </a:schemeClr>
                            </a:solidFill>
                            <a:latin typeface="Cambria Math" panose="02040503050406030204" pitchFamily="18" charset="0"/>
                          </a:rPr>
                        </m:ctrlPr>
                      </m:groupChrPr>
                      <m:e>
                        <m:r>
                          <m:rPr>
                            <m:brk m:alnAt="2"/>
                          </m:rPr>
                          <a:rPr lang="en-US" sz="2400" b="0" i="1" smtClean="0">
                            <a:solidFill>
                              <a:schemeClr val="accent5">
                                <a:lumMod val="75000"/>
                              </a:schemeClr>
                            </a:solidFill>
                            <a:latin typeface="Cambria Math" panose="02040503050406030204" pitchFamily="18" charset="0"/>
                          </a:rPr>
                          <m:t>𝐶</m:t>
                        </m:r>
                        <m:r>
                          <a:rPr lang="en-US" sz="2400" b="0" i="1" smtClean="0">
                            <a:solidFill>
                              <a:schemeClr val="accent5">
                                <a:lumMod val="75000"/>
                              </a:schemeClr>
                            </a:solidFill>
                            <a:latin typeface="Cambria Math" panose="02040503050406030204" pitchFamily="18" charset="0"/>
                          </a:rPr>
                          <m:t>𝑁𝑂𝑇</m:t>
                        </m:r>
                      </m:e>
                    </m:groupChr>
                    <m:r>
                      <a:rPr lang="en-US" sz="2400" b="0" i="1" smtClean="0">
                        <a:solidFill>
                          <a:schemeClr val="accent5">
                            <a:lumMod val="75000"/>
                          </a:schemeClr>
                        </a:solidFill>
                        <a:latin typeface="Cambria Math" panose="02040503050406030204" pitchFamily="18" charset="0"/>
                      </a:rPr>
                      <m:t> </m:t>
                    </m:r>
                    <m:d>
                      <m:dPr>
                        <m:begChr m:val="|"/>
                        <m:endChr m:val="⟩"/>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𝜓</m:t>
                            </m:r>
                          </m:e>
                          <m:sub>
                            <m:r>
                              <a:rPr lang="en-US" sz="2400" b="0" i="1" smtClean="0">
                                <a:solidFill>
                                  <a:schemeClr val="accent5">
                                    <a:lumMod val="75000"/>
                                  </a:schemeClr>
                                </a:solidFill>
                                <a:latin typeface="Cambria Math" panose="02040503050406030204" pitchFamily="18" charset="0"/>
                              </a:rPr>
                              <m:t>𝑘</m:t>
                            </m:r>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𝑘</m:t>
                                </m:r>
                              </m:e>
                              <m:sup>
                                <m:r>
                                  <a:rPr lang="en-US" sz="2400" b="0" i="1" smtClean="0">
                                    <a:solidFill>
                                      <a:schemeClr val="accent5">
                                        <a:lumMod val="75000"/>
                                      </a:schemeClr>
                                    </a:solidFill>
                                    <a:latin typeface="Cambria Math" panose="02040503050406030204" pitchFamily="18" charset="0"/>
                                  </a:rPr>
                                  <m:t>′</m:t>
                                </m:r>
                              </m:sup>
                            </m:sSup>
                          </m:sub>
                        </m:sSub>
                      </m:e>
                    </m:d>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e>
                    </m:d>
                    <m:r>
                      <a:rPr lang="en-US" sz="2400" b="0" i="1" smtClean="0">
                        <a:solidFill>
                          <a:schemeClr val="accent5">
                            <a:lumMod val="75000"/>
                          </a:schemeClr>
                        </a:solidFill>
                        <a:latin typeface="Cambria Math" panose="02040503050406030204" pitchFamily="18" charset="0"/>
                      </a:rPr>
                      <m:t>+</m:t>
                    </m:r>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𝜔</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𝑠𝑘</m:t>
                        </m:r>
                        <m:r>
                          <a:rPr lang="en-US" sz="2400" b="0" i="1" smtClean="0">
                            <a:solidFill>
                              <a:schemeClr val="accent5">
                                <a:lumMod val="75000"/>
                              </a:schemeClr>
                            </a:solidFill>
                            <a:latin typeface="Cambria Math" panose="02040503050406030204" pitchFamily="18" charset="0"/>
                          </a:rPr>
                          <m:t>′</m:t>
                        </m:r>
                      </m:sup>
                    </m:sSubSup>
                    <m:d>
                      <m:dPr>
                        <m:begChr m:val="|"/>
                        <m:endChr m:val="⟩"/>
                        <m:ctrlPr>
                          <a:rPr lang="en-US" sz="2400" b="0" i="1" smtClean="0">
                            <a:solidFill>
                              <a:schemeClr val="accent5">
                                <a:lumMod val="75000"/>
                              </a:schemeClr>
                            </a:solidFill>
                            <a:latin typeface="Cambria Math" panose="02040503050406030204" pitchFamily="18" charset="0"/>
                          </a:rPr>
                        </m:ctrlPr>
                      </m:dPr>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𝜓</m:t>
                            </m:r>
                          </m:e>
                          <m:sub>
                            <m:r>
                              <a:rPr lang="en-US" sz="2400" b="0" i="1" smtClean="0">
                                <a:solidFill>
                                  <a:schemeClr val="accent5">
                                    <a:lumMod val="75000"/>
                                  </a:schemeClr>
                                </a:solidFill>
                                <a:latin typeface="Cambria Math" panose="02040503050406030204" pitchFamily="18" charset="0"/>
                              </a:rPr>
                              <m:t>𝑘</m:t>
                            </m:r>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𝑘</m:t>
                                </m:r>
                              </m:e>
                              <m:sup>
                                <m:r>
                                  <a:rPr lang="en-US" sz="2400" b="0" i="1" smtClean="0">
                                    <a:solidFill>
                                      <a:schemeClr val="accent5">
                                        <a:lumMod val="75000"/>
                                      </a:schemeClr>
                                    </a:solidFill>
                                    <a:latin typeface="Cambria Math" panose="02040503050406030204" pitchFamily="18" charset="0"/>
                                  </a:rPr>
                                  <m:t>′</m:t>
                                </m:r>
                              </m:sup>
                            </m:sSup>
                          </m:sub>
                        </m:sSub>
                      </m:e>
                    </m:d>
                    <m:r>
                      <a:rPr lang="en-US" sz="2400" b="0" i="1" smtClean="0">
                        <a:solidFill>
                          <a:schemeClr val="accent5">
                            <a:lumMod val="75000"/>
                          </a:schemeClr>
                        </a:solidFill>
                        <a:latin typeface="Cambria Math" panose="02040503050406030204" pitchFamily="18" charset="0"/>
                      </a:rPr>
                      <m:t>|1⟩ </m:t>
                    </m:r>
                  </m:oMath>
                </a14:m>
                <a:r>
                  <a:rPr lang="en-US" sz="2400" dirty="0">
                    <a:solidFill>
                      <a:schemeClr val="accent5">
                        <a:lumMod val="75000"/>
                      </a:schemeClr>
                    </a:solidFill>
                  </a:rPr>
                  <a:t>  </a:t>
                </a:r>
                <a:endParaRPr lang="en-US" sz="2400" dirty="0"/>
              </a:p>
            </p:txBody>
          </p:sp>
        </mc:Choice>
        <mc:Fallback xmlns="">
          <p:sp>
            <p:nvSpPr>
              <p:cNvPr id="5" name="TextBox 4">
                <a:extLst>
                  <a:ext uri="{FF2B5EF4-FFF2-40B4-BE49-F238E27FC236}">
                    <a16:creationId xmlns:a16="http://schemas.microsoft.com/office/drawing/2014/main" id="{BD4660DB-2C71-6431-208D-13A4BB96BBF9}"/>
                  </a:ext>
                </a:extLst>
              </p:cNvPr>
              <p:cNvSpPr txBox="1">
                <a:spLocks noRot="1" noChangeAspect="1" noMove="1" noResize="1" noEditPoints="1" noAdjustHandles="1" noChangeArrowheads="1" noChangeShapeType="1" noTextEdit="1"/>
              </p:cNvSpPr>
              <p:nvPr/>
            </p:nvSpPr>
            <p:spPr>
              <a:xfrm>
                <a:off x="3170317" y="5526162"/>
                <a:ext cx="8311753" cy="627672"/>
              </a:xfrm>
              <a:prstGeom prst="rect">
                <a:avLst/>
              </a:prstGeom>
              <a:blipFill>
                <a:blip r:embed="rId15"/>
                <a:stretch>
                  <a:fillRect l="-1220" b="-20000"/>
                </a:stretch>
              </a:blipFill>
            </p:spPr>
            <p:txBody>
              <a:bodyPr/>
              <a:lstStyle/>
              <a:p>
                <a:r>
                  <a:rPr lang="en-US">
                    <a:noFill/>
                  </a:rPr>
                  <a:t> </a:t>
                </a:r>
              </a:p>
            </p:txBody>
          </p:sp>
        </mc:Fallback>
      </mc:AlternateContent>
    </p:spTree>
    <p:extLst>
      <p:ext uri="{BB962C8B-B14F-4D97-AF65-F5344CB8AC3E}">
        <p14:creationId xmlns:p14="http://schemas.microsoft.com/office/powerpoint/2010/main" val="121708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P spid="9" grpId="0"/>
      <p:bldP spid="10" grpId="0"/>
      <p:bldP spid="11" grpId="0"/>
      <p:bldP spid="12" grpId="0"/>
      <p:bldP spid="24" grpId="0" animBg="1"/>
      <p:bldP spid="25" grpId="0"/>
      <p:bldP spid="26" grpId="0"/>
      <p:bldP spid="27" grpId="0"/>
      <p:bldP spid="28" grpId="0"/>
      <p:bldP spid="30" grpId="0"/>
      <p:bldP spid="31"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55058-B2F9-8095-F28C-A448258CFCC1}"/>
              </a:ext>
            </a:extLst>
          </p:cNvPr>
          <p:cNvSpPr>
            <a:spLocks noGrp="1"/>
          </p:cNvSpPr>
          <p:nvPr>
            <p:ph type="title"/>
          </p:nvPr>
        </p:nvSpPr>
        <p:spPr/>
        <p:txBody>
          <a:bodyPr/>
          <a:lstStyle/>
          <a:p>
            <a:r>
              <a:rPr lang="en-US" dirty="0"/>
              <a:t>LWE reduces to (faulty) DCP</a:t>
            </a:r>
          </a:p>
        </p:txBody>
      </p:sp>
      <p:sp>
        <p:nvSpPr>
          <p:cNvPr id="4" name="TextBox 3">
            <a:extLst>
              <a:ext uri="{FF2B5EF4-FFF2-40B4-BE49-F238E27FC236}">
                <a16:creationId xmlns:a16="http://schemas.microsoft.com/office/drawing/2014/main" id="{7C45BACF-49C9-A3C5-F68C-B8F3ECC6CA48}"/>
              </a:ext>
            </a:extLst>
          </p:cNvPr>
          <p:cNvSpPr txBox="1"/>
          <p:nvPr/>
        </p:nvSpPr>
        <p:spPr>
          <a:xfrm>
            <a:off x="838200" y="1690688"/>
            <a:ext cx="5257800" cy="461665"/>
          </a:xfrm>
          <a:prstGeom prst="rect">
            <a:avLst/>
          </a:prstGeom>
          <a:noFill/>
        </p:spPr>
        <p:txBody>
          <a:bodyPr wrap="square" rtlCol="0">
            <a:spAutoFit/>
          </a:bodyPr>
          <a:lstStyle/>
          <a:p>
            <a:r>
              <a:rPr lang="en-US" sz="2400" dirty="0"/>
              <a:t>Let’s work with 1-dimensional LWE.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863775D-C745-3ABA-303D-58535A83FD8C}"/>
                  </a:ext>
                </a:extLst>
              </p:cNvPr>
              <p:cNvSpPr txBox="1"/>
              <p:nvPr/>
            </p:nvSpPr>
            <p:spPr>
              <a:xfrm>
                <a:off x="6224337" y="1690688"/>
                <a:ext cx="5743071" cy="830997"/>
              </a:xfrm>
              <a:prstGeom prst="rect">
                <a:avLst/>
              </a:prstGeom>
              <a:noFill/>
            </p:spPr>
            <p:txBody>
              <a:bodyPr wrap="square">
                <a:spAutoFit/>
              </a:bodyPr>
              <a:lstStyle/>
              <a:p>
                <a:pPr lvl="1"/>
                <a:r>
                  <a:rPr lang="en-US" sz="2400" dirty="0">
                    <a:solidFill>
                      <a:srgbClr val="FF0000"/>
                    </a:solidFill>
                  </a:rPr>
                  <a:t>Recall [BLPRS13]: Equivalent hardness of LWE keeping </a:t>
                </a:r>
                <a14:m>
                  <m:oMath xmlns:m="http://schemas.openxmlformats.org/officeDocument/2006/math">
                    <m:r>
                      <a:rPr lang="en-US" sz="2400" b="0" i="1" smtClean="0">
                        <a:solidFill>
                          <a:schemeClr val="accent5">
                            <a:lumMod val="75000"/>
                          </a:schemeClr>
                        </a:solidFill>
                        <a:latin typeface="Cambria Math" panose="02040503050406030204" pitchFamily="18" charset="0"/>
                      </a:rPr>
                      <m:t>𝑛</m:t>
                    </m:r>
                    <m:func>
                      <m:funcPr>
                        <m:ctrlPr>
                          <a:rPr lang="en-US" sz="2400" b="0" i="1" smtClean="0">
                            <a:solidFill>
                              <a:schemeClr val="accent5">
                                <a:lumMod val="75000"/>
                              </a:schemeClr>
                            </a:solidFill>
                            <a:latin typeface="Cambria Math" panose="02040503050406030204" pitchFamily="18" charset="0"/>
                          </a:rPr>
                        </m:ctrlPr>
                      </m:funcPr>
                      <m:fName>
                        <m:sSub>
                          <m:sSubPr>
                            <m:ctrlPr>
                              <a:rPr lang="en-US" sz="2400" b="0" i="1" smtClean="0">
                                <a:solidFill>
                                  <a:schemeClr val="accent5">
                                    <a:lumMod val="75000"/>
                                  </a:schemeClr>
                                </a:solidFill>
                                <a:latin typeface="Cambria Math" panose="02040503050406030204" pitchFamily="18" charset="0"/>
                              </a:rPr>
                            </m:ctrlPr>
                          </m:sSubPr>
                          <m:e>
                            <m:r>
                              <m:rPr>
                                <m:sty m:val="p"/>
                              </m:rPr>
                              <a:rPr lang="en-US" sz="2400" b="0" i="0" smtClean="0">
                                <a:solidFill>
                                  <a:schemeClr val="accent5">
                                    <a:lumMod val="75000"/>
                                  </a:schemeClr>
                                </a:solidFill>
                                <a:latin typeface="Cambria Math" panose="02040503050406030204" pitchFamily="18" charset="0"/>
                              </a:rPr>
                              <m:t>log</m:t>
                            </m:r>
                          </m:e>
                          <m:sub>
                            <m:r>
                              <a:rPr lang="en-US" sz="2400" b="0" i="1" smtClean="0">
                                <a:solidFill>
                                  <a:schemeClr val="accent5">
                                    <a:lumMod val="75000"/>
                                  </a:schemeClr>
                                </a:solidFill>
                                <a:latin typeface="Cambria Math" panose="02040503050406030204" pitchFamily="18" charset="0"/>
                              </a:rPr>
                              <m:t>2</m:t>
                            </m:r>
                          </m:sub>
                        </m:sSub>
                      </m:fName>
                      <m:e>
                        <m:r>
                          <a:rPr lang="en-US" sz="2400" b="0" i="1" smtClean="0">
                            <a:solidFill>
                              <a:schemeClr val="accent5">
                                <a:lumMod val="75000"/>
                              </a:schemeClr>
                            </a:solidFill>
                            <a:latin typeface="Cambria Math" panose="02040503050406030204" pitchFamily="18" charset="0"/>
                          </a:rPr>
                          <m:t>𝑞</m:t>
                        </m:r>
                      </m:e>
                    </m:func>
                  </m:oMath>
                </a14:m>
                <a:r>
                  <a:rPr lang="en-US" sz="2400" dirty="0">
                    <a:solidFill>
                      <a:srgbClr val="FF0000"/>
                    </a:solidFill>
                  </a:rPr>
                  <a:t> fixed.</a:t>
                </a:r>
              </a:p>
            </p:txBody>
          </p:sp>
        </mc:Choice>
        <mc:Fallback xmlns="">
          <p:sp>
            <p:nvSpPr>
              <p:cNvPr id="6" name="TextBox 5">
                <a:extLst>
                  <a:ext uri="{FF2B5EF4-FFF2-40B4-BE49-F238E27FC236}">
                    <a16:creationId xmlns:a16="http://schemas.microsoft.com/office/drawing/2014/main" id="{7863775D-C745-3ABA-303D-58535A83FD8C}"/>
                  </a:ext>
                </a:extLst>
              </p:cNvPr>
              <p:cNvSpPr txBox="1">
                <a:spLocks noRot="1" noChangeAspect="1" noMove="1" noResize="1" noEditPoints="1" noAdjustHandles="1" noChangeArrowheads="1" noChangeShapeType="1" noTextEdit="1"/>
              </p:cNvSpPr>
              <p:nvPr/>
            </p:nvSpPr>
            <p:spPr>
              <a:xfrm>
                <a:off x="6224337" y="1690688"/>
                <a:ext cx="5743071" cy="830997"/>
              </a:xfrm>
              <a:prstGeom prst="rect">
                <a:avLst/>
              </a:prstGeom>
              <a:blipFill>
                <a:blip r:embed="rId2"/>
                <a:stretch>
                  <a:fillRect t="-4478" r="-2428" b="-16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D38621-1BC2-A12B-9D8A-D0F799F994E7}"/>
                  </a:ext>
                </a:extLst>
              </p:cNvPr>
              <p:cNvSpPr txBox="1"/>
              <p:nvPr/>
            </p:nvSpPr>
            <p:spPr>
              <a:xfrm>
                <a:off x="2433270" y="2362962"/>
                <a:ext cx="2954335" cy="404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sSubSup>
                        <m:sSubSupPr>
                          <m:ctrlPr>
                            <a:rPr lang="en-US" sz="240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𝑚</m:t>
                          </m:r>
                          <m:r>
                            <a:rPr lang="en-US" sz="2400" b="0" i="1" smtClean="0">
                              <a:solidFill>
                                <a:schemeClr val="accent5">
                                  <a:lumMod val="75000"/>
                                </a:schemeClr>
                              </a:solidFill>
                              <a:latin typeface="Cambria Math" panose="02040503050406030204" pitchFamily="18" charset="0"/>
                            </a:rPr>
                            <m:t>×1</m:t>
                          </m:r>
                        </m:sup>
                      </m:sSubSup>
                      <m:r>
                        <a:rPr lang="en-US" sz="2400" b="1" i="1" smtClean="0">
                          <a:solidFill>
                            <a:schemeClr val="accent5">
                              <a:lumMod val="75000"/>
                            </a:schemeClr>
                          </a:solidFill>
                          <a:latin typeface="Cambria Math" panose="02040503050406030204" pitchFamily="18" charset="0"/>
                        </a:rPr>
                        <m:t>, </m:t>
                      </m:r>
                      <m:r>
                        <a:rPr lang="en-US" sz="2400" b="1" i="1" smtClean="0">
                          <a:solidFill>
                            <a:schemeClr val="accent5">
                              <a:lumMod val="75000"/>
                            </a:schemeClr>
                          </a:solidFill>
                          <a:latin typeface="Cambria Math" panose="02040503050406030204" pitchFamily="18" charset="0"/>
                        </a:rPr>
                        <m:t>𝒃</m:t>
                      </m:r>
                      <m:r>
                        <a:rPr lang="en-US" sz="2400" b="1"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r>
                        <a:rPr lang="en-US" sz="2400" b="1" i="1" smtClean="0">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𝒆</m:t>
                      </m:r>
                    </m:oMath>
                  </m:oMathPara>
                </a14:m>
                <a:endParaRPr lang="en-US" sz="2400" b="1" dirty="0">
                  <a:solidFill>
                    <a:schemeClr val="accent5">
                      <a:lumMod val="75000"/>
                    </a:schemeClr>
                  </a:solidFill>
                </a:endParaRPr>
              </a:p>
            </p:txBody>
          </p:sp>
        </mc:Choice>
        <mc:Fallback xmlns="">
          <p:sp>
            <p:nvSpPr>
              <p:cNvPr id="7" name="TextBox 6">
                <a:extLst>
                  <a:ext uri="{FF2B5EF4-FFF2-40B4-BE49-F238E27FC236}">
                    <a16:creationId xmlns:a16="http://schemas.microsoft.com/office/drawing/2014/main" id="{57D38621-1BC2-A12B-9D8A-D0F799F994E7}"/>
                  </a:ext>
                </a:extLst>
              </p:cNvPr>
              <p:cNvSpPr txBox="1">
                <a:spLocks noRot="1" noChangeAspect="1" noMove="1" noResize="1" noEditPoints="1" noAdjustHandles="1" noChangeArrowheads="1" noChangeShapeType="1" noTextEdit="1"/>
              </p:cNvSpPr>
              <p:nvPr/>
            </p:nvSpPr>
            <p:spPr>
              <a:xfrm>
                <a:off x="2433270" y="2362962"/>
                <a:ext cx="2954335" cy="404534"/>
              </a:xfrm>
              <a:prstGeom prst="rect">
                <a:avLst/>
              </a:prstGeom>
              <a:blipFill>
                <a:blip r:embed="rId3"/>
                <a:stretch>
                  <a:fillRect l="-1282" r="-855" b="-1875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C264600-3420-E039-A5FA-9A44BE0CFA66}"/>
              </a:ext>
            </a:extLst>
          </p:cNvPr>
          <p:cNvSpPr txBox="1"/>
          <p:nvPr/>
        </p:nvSpPr>
        <p:spPr>
          <a:xfrm>
            <a:off x="838200" y="2316869"/>
            <a:ext cx="1918845" cy="461665"/>
          </a:xfrm>
          <a:prstGeom prst="rect">
            <a:avLst/>
          </a:prstGeom>
          <a:noFill/>
        </p:spPr>
        <p:txBody>
          <a:bodyPr wrap="square" rtlCol="0">
            <a:spAutoFit/>
          </a:bodyPr>
          <a:lstStyle/>
          <a:p>
            <a:r>
              <a:rPr lang="en-US" sz="2400" dirty="0"/>
              <a:t>LWE input: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91F39F5-66FA-28D2-E352-C7471B2388BE}"/>
                  </a:ext>
                </a:extLst>
              </p:cNvPr>
              <p:cNvSpPr txBox="1"/>
              <p:nvPr/>
            </p:nvSpPr>
            <p:spPr>
              <a:xfrm>
                <a:off x="838200" y="2878285"/>
                <a:ext cx="2057402" cy="490199"/>
              </a:xfrm>
              <a:prstGeom prst="rect">
                <a:avLst/>
              </a:prstGeom>
              <a:noFill/>
            </p:spPr>
            <p:txBody>
              <a:bodyPr wrap="square" rtlCol="0">
                <a:spAutoFit/>
              </a:bodyPr>
              <a:lstStyle/>
              <a:p>
                <a:r>
                  <a:rPr lang="en-US" sz="2400" dirty="0"/>
                  <a:t>Secret </a:t>
                </a:r>
                <a14:m>
                  <m:oMath xmlns:m="http://schemas.openxmlformats.org/officeDocument/2006/math">
                    <m:r>
                      <a:rPr lang="en-US" sz="2400" b="0" i="1" smtClean="0">
                        <a:solidFill>
                          <a:schemeClr val="accent5">
                            <a:lumMod val="75000"/>
                          </a:schemeClr>
                        </a:solidFill>
                        <a:latin typeface="Cambria Math" panose="02040503050406030204" pitchFamily="18" charset="0"/>
                      </a:rPr>
                      <m:t>𝑠</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endParaRPr lang="en-US" sz="2400" dirty="0"/>
              </a:p>
            </p:txBody>
          </p:sp>
        </mc:Choice>
        <mc:Fallback xmlns="">
          <p:sp>
            <p:nvSpPr>
              <p:cNvPr id="9" name="TextBox 8">
                <a:extLst>
                  <a:ext uri="{FF2B5EF4-FFF2-40B4-BE49-F238E27FC236}">
                    <a16:creationId xmlns:a16="http://schemas.microsoft.com/office/drawing/2014/main" id="{591F39F5-66FA-28D2-E352-C7471B2388BE}"/>
                  </a:ext>
                </a:extLst>
              </p:cNvPr>
              <p:cNvSpPr txBox="1">
                <a:spLocks noRot="1" noChangeAspect="1" noMove="1" noResize="1" noEditPoints="1" noAdjustHandles="1" noChangeArrowheads="1" noChangeShapeType="1" noTextEdit="1"/>
              </p:cNvSpPr>
              <p:nvPr/>
            </p:nvSpPr>
            <p:spPr>
              <a:xfrm>
                <a:off x="838200" y="2878285"/>
                <a:ext cx="2057402" cy="490199"/>
              </a:xfrm>
              <a:prstGeom prst="rect">
                <a:avLst/>
              </a:prstGeom>
              <a:blipFill>
                <a:blip r:embed="rId4"/>
                <a:stretch>
                  <a:fillRect l="-4908" t="-75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2B49285-8A1E-A517-EBE9-FB9912B9CD3F}"/>
                  </a:ext>
                </a:extLst>
              </p:cNvPr>
              <p:cNvSpPr txBox="1"/>
              <p:nvPr/>
            </p:nvSpPr>
            <p:spPr>
              <a:xfrm>
                <a:off x="786528" y="3939194"/>
                <a:ext cx="5943600" cy="490199"/>
              </a:xfrm>
              <a:prstGeom prst="rect">
                <a:avLst/>
              </a:prstGeom>
              <a:noFill/>
            </p:spPr>
            <p:txBody>
              <a:bodyPr wrap="square" rtlCol="0">
                <a:spAutoFit/>
              </a:bodyPr>
              <a:lstStyle/>
              <a:p>
                <a14:m>
                  <m:oMath xmlns:m="http://schemas.openxmlformats.org/officeDocument/2006/math">
                    <m:r>
                      <m:rPr>
                        <m:sty m:val="p"/>
                      </m:rPr>
                      <a:rPr lang="en-US" sz="2400" b="0" i="0" smtClean="0">
                        <a:solidFill>
                          <a:schemeClr val="accent5">
                            <a:lumMod val="75000"/>
                          </a:schemeClr>
                        </a:solidFill>
                        <a:latin typeface="Cambria Math" panose="02040503050406030204" pitchFamily="18" charset="0"/>
                      </a:rPr>
                      <m:t>Φ</m:t>
                    </m:r>
                    <m:d>
                      <m:dPr>
                        <m:ctrlPr>
                          <a:rPr lang="en-US" sz="2400" b="0" i="1" smtClean="0">
                            <a:solidFill>
                              <a:schemeClr val="accent5">
                                <a:lumMod val="75000"/>
                              </a:schemeClr>
                            </a:solidFill>
                            <a:latin typeface="Cambria Math" panose="02040503050406030204" pitchFamily="18" charset="0"/>
                          </a:rPr>
                        </m:ctrlPr>
                      </m:dPr>
                      <m:e>
                        <m:r>
                          <a:rPr lang="en-US" sz="2400" b="1" i="1" smtClean="0">
                            <a:solidFill>
                              <a:schemeClr val="accent5">
                                <a:lumMod val="75000"/>
                              </a:schemeClr>
                            </a:solidFill>
                            <a:latin typeface="Cambria Math" panose="02040503050406030204" pitchFamily="18" charset="0"/>
                          </a:rPr>
                          <m:t>𝒗</m:t>
                        </m:r>
                      </m:e>
                    </m:d>
                    <m:r>
                      <a:rPr lang="en-US" sz="2400" b="0" i="1" smtClean="0">
                        <a:latin typeface="Cambria Math" panose="02040503050406030204" pitchFamily="18" charset="0"/>
                      </a:rPr>
                      <m:t>:</m:t>
                    </m:r>
                  </m:oMath>
                </a14:m>
                <a:r>
                  <a:rPr lang="en-US" sz="2400" dirty="0"/>
                  <a:t> hypercube corresponding to </a:t>
                </a:r>
                <a14:m>
                  <m:oMath xmlns:m="http://schemas.openxmlformats.org/officeDocument/2006/math">
                    <m:r>
                      <a:rPr lang="en-US" sz="2400" b="1" i="1" smtClean="0">
                        <a:solidFill>
                          <a:schemeClr val="accent5">
                            <a:lumMod val="75000"/>
                          </a:schemeClr>
                        </a:solidFill>
                        <a:latin typeface="Cambria Math" panose="02040503050406030204" pitchFamily="18" charset="0"/>
                      </a:rPr>
                      <m:t>𝒗</m:t>
                    </m:r>
                    <m:r>
                      <a:rPr lang="en-US" sz="2400" b="0" i="1" smtClean="0">
                        <a:solidFill>
                          <a:schemeClr val="accent5">
                            <a:lumMod val="75000"/>
                          </a:schemeClr>
                        </a:solidFill>
                        <a:latin typeface="Cambria Math" panose="02040503050406030204" pitchFamily="18" charset="0"/>
                      </a:rPr>
                      <m:t>∈</m:t>
                    </m:r>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𝑚</m:t>
                        </m:r>
                      </m:sup>
                    </m:sSubSup>
                  </m:oMath>
                </a14:m>
                <a:endParaRPr lang="en-US" sz="2400" dirty="0"/>
              </a:p>
            </p:txBody>
          </p:sp>
        </mc:Choice>
        <mc:Fallback xmlns="">
          <p:sp>
            <p:nvSpPr>
              <p:cNvPr id="10" name="TextBox 9">
                <a:extLst>
                  <a:ext uri="{FF2B5EF4-FFF2-40B4-BE49-F238E27FC236}">
                    <a16:creationId xmlns:a16="http://schemas.microsoft.com/office/drawing/2014/main" id="{D2B49285-8A1E-A517-EBE9-FB9912B9CD3F}"/>
                  </a:ext>
                </a:extLst>
              </p:cNvPr>
              <p:cNvSpPr txBox="1">
                <a:spLocks noRot="1" noChangeAspect="1" noMove="1" noResize="1" noEditPoints="1" noAdjustHandles="1" noChangeArrowheads="1" noChangeShapeType="1" noTextEdit="1"/>
              </p:cNvSpPr>
              <p:nvPr/>
            </p:nvSpPr>
            <p:spPr>
              <a:xfrm>
                <a:off x="786528" y="3939194"/>
                <a:ext cx="5943600" cy="490199"/>
              </a:xfrm>
              <a:prstGeom prst="rect">
                <a:avLst/>
              </a:prstGeom>
              <a:blipFill>
                <a:blip r:embed="rId5"/>
                <a:stretch>
                  <a:fillRect l="-213" t="-7692" b="-256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89B99DD-AE10-6B0D-F51A-B437D6D234C5}"/>
                  </a:ext>
                </a:extLst>
              </p:cNvPr>
              <p:cNvSpPr txBox="1"/>
              <p:nvPr/>
            </p:nvSpPr>
            <p:spPr>
              <a:xfrm>
                <a:off x="838200" y="3415548"/>
                <a:ext cx="6144479" cy="490199"/>
              </a:xfrm>
              <a:prstGeom prst="rect">
                <a:avLst/>
              </a:prstGeom>
              <a:noFill/>
            </p:spPr>
            <p:txBody>
              <a:bodyPr wrap="square" rtlCol="0">
                <a:spAutoFit/>
              </a:bodyPr>
              <a:lstStyle/>
              <a:p>
                <a:r>
                  <a:rPr lang="en-US" sz="2400" dirty="0"/>
                  <a:t>Partition </a:t>
                </a:r>
                <a14:m>
                  <m:oMath xmlns:m="http://schemas.openxmlformats.org/officeDocument/2006/math">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𝑚</m:t>
                        </m:r>
                      </m:sup>
                    </m:sSubSup>
                  </m:oMath>
                </a14:m>
                <a:r>
                  <a:rPr lang="en-US" sz="2400" dirty="0"/>
                  <a:t> into hypercubes of side length </a:t>
                </a:r>
                <a14:m>
                  <m:oMath xmlns:m="http://schemas.openxmlformats.org/officeDocument/2006/math">
                    <m:r>
                      <a:rPr lang="en-US" sz="2400" b="0" i="1" smtClean="0">
                        <a:solidFill>
                          <a:schemeClr val="accent5">
                            <a:lumMod val="75000"/>
                          </a:schemeClr>
                        </a:solidFill>
                        <a:latin typeface="Cambria Math" panose="02040503050406030204" pitchFamily="18" charset="0"/>
                      </a:rPr>
                      <m:t>𝑤</m:t>
                    </m:r>
                  </m:oMath>
                </a14:m>
                <a:endParaRPr lang="en-US" sz="2400" dirty="0"/>
              </a:p>
            </p:txBody>
          </p:sp>
        </mc:Choice>
        <mc:Fallback xmlns="">
          <p:sp>
            <p:nvSpPr>
              <p:cNvPr id="11" name="TextBox 10">
                <a:extLst>
                  <a:ext uri="{FF2B5EF4-FFF2-40B4-BE49-F238E27FC236}">
                    <a16:creationId xmlns:a16="http://schemas.microsoft.com/office/drawing/2014/main" id="{889B99DD-AE10-6B0D-F51A-B437D6D234C5}"/>
                  </a:ext>
                </a:extLst>
              </p:cNvPr>
              <p:cNvSpPr txBox="1">
                <a:spLocks noRot="1" noChangeAspect="1" noMove="1" noResize="1" noEditPoints="1" noAdjustHandles="1" noChangeArrowheads="1" noChangeShapeType="1" noTextEdit="1"/>
              </p:cNvSpPr>
              <p:nvPr/>
            </p:nvSpPr>
            <p:spPr>
              <a:xfrm>
                <a:off x="838200" y="3415548"/>
                <a:ext cx="6144479" cy="490199"/>
              </a:xfrm>
              <a:prstGeom prst="rect">
                <a:avLst/>
              </a:prstGeom>
              <a:blipFill>
                <a:blip r:embed="rId6"/>
                <a:stretch>
                  <a:fillRect l="-1653" t="-75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C47884-0154-FED9-C3C5-01D21372FB3F}"/>
                  </a:ext>
                </a:extLst>
              </p:cNvPr>
              <p:cNvSpPr txBox="1"/>
              <p:nvPr/>
            </p:nvSpPr>
            <p:spPr>
              <a:xfrm>
                <a:off x="786529" y="4513744"/>
                <a:ext cx="5943600" cy="1598194"/>
              </a:xfrm>
              <a:prstGeom prst="rect">
                <a:avLst/>
              </a:prstGeom>
              <a:noFill/>
            </p:spPr>
            <p:txBody>
              <a:bodyPr wrap="square" rtlCol="0">
                <a:spAutoFit/>
              </a:bodyPr>
              <a:lstStyle/>
              <a:p>
                <a:r>
                  <a:rPr lang="en-US" sz="2400" dirty="0"/>
                  <a:t>Choose </a:t>
                </a:r>
                <a14:m>
                  <m:oMath xmlns:m="http://schemas.openxmlformats.org/officeDocument/2006/math">
                    <m:r>
                      <a:rPr lang="en-US" sz="2400" b="0" i="1" smtClean="0">
                        <a:solidFill>
                          <a:schemeClr val="accent5">
                            <a:lumMod val="75000"/>
                          </a:schemeClr>
                        </a:solidFill>
                        <a:latin typeface="Cambria Math" panose="02040503050406030204" pitchFamily="18" charset="0"/>
                      </a:rPr>
                      <m:t>𝑤</m:t>
                    </m:r>
                  </m:oMath>
                </a14:m>
                <a:r>
                  <a:rPr lang="en-US" sz="2400" dirty="0"/>
                  <a:t> so that </a:t>
                </a:r>
                <a:endParaRPr lang="en-US" sz="2400" i="0"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m:rPr>
                        <m:sty m:val="p"/>
                      </m:rPr>
                      <a:rPr lang="en-US" sz="2400" i="0" dirty="0" smtClean="0">
                        <a:solidFill>
                          <a:schemeClr val="accent5">
                            <a:lumMod val="75000"/>
                          </a:schemeClr>
                        </a:solidFill>
                        <a:latin typeface="Cambria Math" panose="02040503050406030204" pitchFamily="18" charset="0"/>
                      </a:rPr>
                      <m:t>Φ</m:t>
                    </m:r>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𝑞</m:t>
                        </m:r>
                        <m:r>
                          <a:rPr lang="en-US" sz="2400" b="1" i="1" smtClean="0">
                            <a:solidFill>
                              <a:schemeClr val="accent5">
                                <a:lumMod val="75000"/>
                              </a:schemeClr>
                            </a:solidFill>
                            <a:latin typeface="Cambria Math" panose="02040503050406030204" pitchFamily="18" charset="0"/>
                          </a:rPr>
                          <m:t>𝒗</m:t>
                        </m:r>
                      </m:e>
                    </m:d>
                    <m:r>
                      <a:rPr lang="en-US" sz="2400" b="0" i="1" smtClean="0">
                        <a:solidFill>
                          <a:schemeClr val="accent5">
                            <a:lumMod val="75000"/>
                          </a:schemeClr>
                        </a:solidFill>
                        <a:latin typeface="Cambria Math" panose="02040503050406030204" pitchFamily="18" charset="0"/>
                      </a:rPr>
                      <m:t>≠</m:t>
                    </m:r>
                    <m:r>
                      <m:rPr>
                        <m:sty m:val="p"/>
                      </m:rPr>
                      <a:rPr lang="en-US" sz="2400" dirty="0">
                        <a:solidFill>
                          <a:schemeClr val="accent5">
                            <a:lumMod val="75000"/>
                          </a:schemeClr>
                        </a:solidFill>
                        <a:latin typeface="Cambria Math" panose="02040503050406030204" pitchFamily="18" charset="0"/>
                      </a:rPr>
                      <m:t>Φ</m:t>
                    </m:r>
                    <m:d>
                      <m:dPr>
                        <m:ctrlPr>
                          <a:rPr lang="en-US" sz="2400" i="1">
                            <a:solidFill>
                              <a:schemeClr val="accent5">
                                <a:lumMod val="75000"/>
                              </a:schemeClr>
                            </a:solidFill>
                            <a:latin typeface="Cambria Math" panose="02040503050406030204" pitchFamily="18" charset="0"/>
                          </a:rPr>
                        </m:ctrlPr>
                      </m:dPr>
                      <m:e>
                        <m:sSup>
                          <m:sSupPr>
                            <m:ctrlPr>
                              <a:rPr lang="en-US" sz="2400" b="1" i="1" smtClean="0">
                                <a:solidFill>
                                  <a:schemeClr val="accent5">
                                    <a:lumMod val="75000"/>
                                  </a:schemeClr>
                                </a:solidFill>
                                <a:latin typeface="Cambria Math" panose="02040503050406030204" pitchFamily="18" charset="0"/>
                              </a:rPr>
                            </m:ctrlPr>
                          </m:sSupPr>
                          <m:e>
                            <m:r>
                              <a:rPr lang="en-US" sz="2400" i="1">
                                <a:solidFill>
                                  <a:schemeClr val="accent5">
                                    <a:lumMod val="75000"/>
                                  </a:schemeClr>
                                </a:solidFill>
                                <a:latin typeface="Cambria Math" panose="02040503050406030204" pitchFamily="18" charset="0"/>
                              </a:rPr>
                              <m:t>𝑡</m:t>
                            </m:r>
                          </m:e>
                          <m:sup>
                            <m:r>
                              <a:rPr lang="en-US" sz="2400" b="1" i="1" smtClean="0">
                                <a:solidFill>
                                  <a:schemeClr val="accent5">
                                    <a:lumMod val="75000"/>
                                  </a:schemeClr>
                                </a:solidFill>
                                <a:latin typeface="Cambria Math" panose="02040503050406030204" pitchFamily="18" charset="0"/>
                              </a:rPr>
                              <m:t>′</m:t>
                            </m:r>
                          </m:sup>
                        </m:sSup>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𝑞</m:t>
                        </m:r>
                        <m:r>
                          <a:rPr lang="en-US" sz="2400" b="1" i="1" smtClean="0">
                            <a:solidFill>
                              <a:schemeClr val="accent5">
                                <a:lumMod val="75000"/>
                              </a:schemeClr>
                            </a:solidFill>
                            <a:latin typeface="Cambria Math" panose="02040503050406030204" pitchFamily="18" charset="0"/>
                          </a:rPr>
                          <m:t>𝒘</m:t>
                        </m:r>
                      </m:e>
                    </m:d>
                  </m:oMath>
                </a14:m>
                <a:r>
                  <a:rPr lang="en-US" sz="2400" dirty="0">
                    <a:solidFill>
                      <a:schemeClr val="accent5">
                        <a:lumMod val="75000"/>
                      </a:schemeClr>
                    </a:solidFill>
                  </a:rPr>
                  <a:t> </a:t>
                </a:r>
                <a:r>
                  <a:rPr lang="en-US" sz="2400" dirty="0"/>
                  <a:t>for any distinct </a:t>
                </a:r>
                <a14:m>
                  <m:oMath xmlns:m="http://schemas.openxmlformats.org/officeDocument/2006/math">
                    <m:r>
                      <a:rPr lang="en-US" sz="2400" b="0" i="1" smtClean="0">
                        <a:solidFill>
                          <a:schemeClr val="accent5">
                            <a:lumMod val="75000"/>
                          </a:schemeClr>
                        </a:solidFill>
                        <a:latin typeface="Cambria Math" panose="02040503050406030204" pitchFamily="18" charset="0"/>
                      </a:rPr>
                      <m:t>𝑡</m:t>
                    </m:r>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𝑡</m:t>
                        </m:r>
                      </m:e>
                      <m:sup>
                        <m:r>
                          <a:rPr lang="en-US" sz="2400" b="0" i="1" smtClean="0">
                            <a:solidFill>
                              <a:schemeClr val="accent5">
                                <a:lumMod val="75000"/>
                              </a:schemeClr>
                            </a:solidFill>
                            <a:latin typeface="Cambria Math" panose="02040503050406030204" pitchFamily="18" charset="0"/>
                          </a:rPr>
                          <m:t>′</m:t>
                        </m:r>
                      </m:sup>
                    </m:sSup>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r>
                  <a:rPr lang="en-US" sz="2400" dirty="0"/>
                  <a:t>, </a:t>
                </a:r>
                <a14:m>
                  <m:oMath xmlns:m="http://schemas.openxmlformats.org/officeDocument/2006/math">
                    <m:r>
                      <a:rPr lang="en-US" sz="2400" b="1" i="1" smtClean="0">
                        <a:solidFill>
                          <a:schemeClr val="accent5">
                            <a:lumMod val="75000"/>
                          </a:schemeClr>
                        </a:solidFill>
                        <a:latin typeface="Cambria Math" panose="02040503050406030204" pitchFamily="18" charset="0"/>
                      </a:rPr>
                      <m:t>𝒗</m:t>
                    </m:r>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𝒘</m:t>
                    </m:r>
                    <m:r>
                      <a:rPr lang="en-US" sz="2400" b="0" i="1" smtClean="0">
                        <a:solidFill>
                          <a:schemeClr val="accent5">
                            <a:lumMod val="75000"/>
                          </a:schemeClr>
                        </a:solidFill>
                        <a:latin typeface="Cambria Math" panose="02040503050406030204" pitchFamily="18" charset="0"/>
                      </a:rPr>
                      <m:t>∈</m:t>
                    </m:r>
                    <m:sSup>
                      <m:sSupPr>
                        <m:ctrlPr>
                          <a:rPr lang="en-US" sz="2400" b="0" i="1" smtClean="0">
                            <a:solidFill>
                              <a:schemeClr val="accent5">
                                <a:lumMod val="75000"/>
                              </a:schemeClr>
                            </a:solidFill>
                            <a:latin typeface="Cambria Math" panose="02040503050406030204" pitchFamily="18" charset="0"/>
                          </a:rPr>
                        </m:ctrlPr>
                      </m:sSupPr>
                      <m:e>
                        <m:r>
                          <a:rPr lang="en-US" sz="2400" b="0" i="1" smtClean="0">
                            <a:solidFill>
                              <a:schemeClr val="accent5">
                                <a:lumMod val="75000"/>
                              </a:schemeClr>
                            </a:solidFill>
                            <a:latin typeface="Cambria Math" panose="02040503050406030204" pitchFamily="18" charset="0"/>
                          </a:rPr>
                          <m:t>ℤ</m:t>
                        </m:r>
                      </m:e>
                      <m:sup>
                        <m:r>
                          <a:rPr lang="en-US" sz="2400" b="0" i="1" smtClean="0">
                            <a:solidFill>
                              <a:schemeClr val="accent5">
                                <a:lumMod val="75000"/>
                              </a:schemeClr>
                            </a:solidFill>
                            <a:latin typeface="Cambria Math" panose="02040503050406030204" pitchFamily="18" charset="0"/>
                          </a:rPr>
                          <m:t>𝑚</m:t>
                        </m:r>
                      </m:sup>
                    </m:sSup>
                  </m:oMath>
                </a14:m>
                <a:endParaRPr lang="en-US" sz="2400" dirty="0"/>
              </a:p>
              <a:p>
                <a:pPr marL="285750" indent="-285750">
                  <a:buFont typeface="Arial" panose="020B0604020202020204" pitchFamily="34" charset="0"/>
                  <a:buChar char="•"/>
                </a:pPr>
                <a14:m>
                  <m:oMath xmlns:m="http://schemas.openxmlformats.org/officeDocument/2006/math">
                    <m:r>
                      <m:rPr>
                        <m:sty m:val="p"/>
                      </m:rPr>
                      <a:rPr lang="en-US" sz="2400" dirty="0" smtClean="0">
                        <a:solidFill>
                          <a:schemeClr val="accent5">
                            <a:lumMod val="75000"/>
                          </a:schemeClr>
                        </a:solidFill>
                        <a:latin typeface="Cambria Math" panose="02040503050406030204" pitchFamily="18" charset="0"/>
                      </a:rPr>
                      <m:t>Φ</m:t>
                    </m:r>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e>
                    </m:d>
                    <m:r>
                      <a:rPr lang="en-US" sz="2400" b="0" i="1" smtClean="0">
                        <a:solidFill>
                          <a:schemeClr val="accent5">
                            <a:lumMod val="75000"/>
                          </a:schemeClr>
                        </a:solidFill>
                        <a:latin typeface="Cambria Math" panose="02040503050406030204" pitchFamily="18" charset="0"/>
                      </a:rPr>
                      <m:t>=</m:t>
                    </m:r>
                    <m:r>
                      <m:rPr>
                        <m:sty m:val="p"/>
                      </m:rPr>
                      <a:rPr lang="en-US" sz="2400" dirty="0">
                        <a:solidFill>
                          <a:schemeClr val="accent5">
                            <a:lumMod val="75000"/>
                          </a:schemeClr>
                        </a:solidFill>
                        <a:latin typeface="Cambria Math" panose="02040503050406030204" pitchFamily="18" charset="0"/>
                      </a:rPr>
                      <m:t>Φ</m:t>
                    </m:r>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𝒆</m:t>
                        </m:r>
                      </m:e>
                    </m:d>
                  </m:oMath>
                </a14:m>
                <a:r>
                  <a:rPr lang="en-US" sz="2400" dirty="0"/>
                  <a:t> for any </a:t>
                </a:r>
                <a14:m>
                  <m:oMath xmlns:m="http://schemas.openxmlformats.org/officeDocument/2006/math">
                    <m:r>
                      <a:rPr lang="en-US" sz="2400" b="0" i="1" smtClean="0">
                        <a:solidFill>
                          <a:schemeClr val="accent5">
                            <a:lumMod val="75000"/>
                          </a:schemeClr>
                        </a:solidFill>
                        <a:latin typeface="Cambria Math" panose="02040503050406030204" pitchFamily="18" charset="0"/>
                      </a:rPr>
                      <m:t>𝑡</m:t>
                    </m:r>
                  </m:oMath>
                </a14:m>
                <a:r>
                  <a:rPr lang="en-US" sz="2400" dirty="0"/>
                  <a:t> </a:t>
                </a:r>
                <a:r>
                  <a:rPr lang="en-US" sz="2400" dirty="0" err="1"/>
                  <a:t>w.h.p</a:t>
                </a:r>
                <a:r>
                  <a:rPr lang="en-US" sz="2400" dirty="0"/>
                  <a:t>.</a:t>
                </a:r>
              </a:p>
            </p:txBody>
          </p:sp>
        </mc:Choice>
        <mc:Fallback xmlns="">
          <p:sp>
            <p:nvSpPr>
              <p:cNvPr id="20" name="TextBox 19">
                <a:extLst>
                  <a:ext uri="{FF2B5EF4-FFF2-40B4-BE49-F238E27FC236}">
                    <a16:creationId xmlns:a16="http://schemas.microsoft.com/office/drawing/2014/main" id="{6DC47884-0154-FED9-C3C5-01D21372FB3F}"/>
                  </a:ext>
                </a:extLst>
              </p:cNvPr>
              <p:cNvSpPr txBox="1">
                <a:spLocks noRot="1" noChangeAspect="1" noMove="1" noResize="1" noEditPoints="1" noAdjustHandles="1" noChangeArrowheads="1" noChangeShapeType="1" noTextEdit="1"/>
              </p:cNvSpPr>
              <p:nvPr/>
            </p:nvSpPr>
            <p:spPr>
              <a:xfrm>
                <a:off x="786529" y="4513744"/>
                <a:ext cx="5943600" cy="1598194"/>
              </a:xfrm>
              <a:prstGeom prst="rect">
                <a:avLst/>
              </a:prstGeom>
              <a:blipFill>
                <a:blip r:embed="rId7"/>
                <a:stretch>
                  <a:fillRect l="-1493" t="-3150" b="-78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F05AE3F-7F8A-3B02-0BEA-B4370486B0B3}"/>
                  </a:ext>
                </a:extLst>
              </p:cNvPr>
              <p:cNvSpPr txBox="1"/>
              <p:nvPr/>
            </p:nvSpPr>
            <p:spPr>
              <a:xfrm>
                <a:off x="891027" y="6141990"/>
                <a:ext cx="1813189" cy="373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𝑤</m:t>
                      </m:r>
                      <m:rad>
                        <m:radPr>
                          <m:degHide m:val="on"/>
                          <m:ctrlPr>
                            <a:rPr lang="en-US" sz="2400" b="0" i="1" smtClean="0">
                              <a:solidFill>
                                <a:schemeClr val="accent2"/>
                              </a:solidFill>
                              <a:latin typeface="Cambria Math" panose="02040503050406030204" pitchFamily="18" charset="0"/>
                            </a:rPr>
                          </m:ctrlPr>
                        </m:radPr>
                        <m:deg/>
                        <m:e>
                          <m:r>
                            <a:rPr lang="en-US" sz="2400" b="0" i="1" smtClean="0">
                              <a:solidFill>
                                <a:schemeClr val="accent2"/>
                              </a:solidFill>
                              <a:latin typeface="Cambria Math" panose="02040503050406030204" pitchFamily="18" charset="0"/>
                            </a:rPr>
                            <m:t>𝑚</m:t>
                          </m:r>
                        </m:e>
                      </m:rad>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𝑂</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𝑞</m:t>
                      </m:r>
                      <m:r>
                        <a:rPr lang="en-US" sz="2400" b="0" i="1" smtClean="0">
                          <a:solidFill>
                            <a:schemeClr val="accent2"/>
                          </a:solidFill>
                          <a:latin typeface="Cambria Math" panose="02040503050406030204" pitchFamily="18" charset="0"/>
                        </a:rPr>
                        <m:t>)</m:t>
                      </m:r>
                    </m:oMath>
                  </m:oMathPara>
                </a14:m>
                <a:endParaRPr lang="en-US" sz="2400" dirty="0">
                  <a:solidFill>
                    <a:schemeClr val="accent2"/>
                  </a:solidFill>
                </a:endParaRPr>
              </a:p>
            </p:txBody>
          </p:sp>
        </mc:Choice>
        <mc:Fallback xmlns="">
          <p:sp>
            <p:nvSpPr>
              <p:cNvPr id="21" name="TextBox 20">
                <a:extLst>
                  <a:ext uri="{FF2B5EF4-FFF2-40B4-BE49-F238E27FC236}">
                    <a16:creationId xmlns:a16="http://schemas.microsoft.com/office/drawing/2014/main" id="{CF05AE3F-7F8A-3B02-0BEA-B4370486B0B3}"/>
                  </a:ext>
                </a:extLst>
              </p:cNvPr>
              <p:cNvSpPr txBox="1">
                <a:spLocks noRot="1" noChangeAspect="1" noMove="1" noResize="1" noEditPoints="1" noAdjustHandles="1" noChangeArrowheads="1" noChangeShapeType="1" noTextEdit="1"/>
              </p:cNvSpPr>
              <p:nvPr/>
            </p:nvSpPr>
            <p:spPr>
              <a:xfrm>
                <a:off x="891027" y="6141990"/>
                <a:ext cx="1813189" cy="373436"/>
              </a:xfrm>
              <a:prstGeom prst="rect">
                <a:avLst/>
              </a:prstGeom>
              <a:blipFill>
                <a:blip r:embed="rId8"/>
                <a:stretch>
                  <a:fillRect l="-2083" r="-4861" b="-29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2C91460-6FCA-9795-4687-FA71117EEDE8}"/>
                  </a:ext>
                </a:extLst>
              </p:cNvPr>
              <p:cNvSpPr txBox="1"/>
              <p:nvPr/>
            </p:nvSpPr>
            <p:spPr>
              <a:xfrm>
                <a:off x="3126217" y="6210491"/>
                <a:ext cx="1568443" cy="373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𝑤</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𝛼</m:t>
                      </m:r>
                      <m:r>
                        <a:rPr lang="en-US" sz="2400" b="0" i="1" smtClean="0">
                          <a:solidFill>
                            <a:schemeClr val="accent2"/>
                          </a:solidFill>
                          <a:latin typeface="Cambria Math" panose="02040503050406030204" pitchFamily="18" charset="0"/>
                        </a:rPr>
                        <m:t>𝑞</m:t>
                      </m:r>
                      <m:rad>
                        <m:radPr>
                          <m:degHide m:val="on"/>
                          <m:ctrlPr>
                            <a:rPr lang="en-US" sz="2400" b="0" i="1" smtClean="0">
                              <a:solidFill>
                                <a:schemeClr val="accent2"/>
                              </a:solidFill>
                              <a:latin typeface="Cambria Math" panose="02040503050406030204" pitchFamily="18" charset="0"/>
                            </a:rPr>
                          </m:ctrlPr>
                        </m:radPr>
                        <m:deg/>
                        <m:e>
                          <m:r>
                            <a:rPr lang="en-US" sz="2400" b="0" i="1" smtClean="0">
                              <a:solidFill>
                                <a:schemeClr val="accent2"/>
                              </a:solidFill>
                              <a:latin typeface="Cambria Math" panose="02040503050406030204" pitchFamily="18" charset="0"/>
                            </a:rPr>
                            <m:t>𝑚</m:t>
                          </m:r>
                        </m:e>
                      </m:rad>
                    </m:oMath>
                  </m:oMathPara>
                </a14:m>
                <a:endParaRPr lang="en-US" sz="2400" dirty="0">
                  <a:solidFill>
                    <a:schemeClr val="accent2"/>
                  </a:solidFill>
                </a:endParaRPr>
              </a:p>
            </p:txBody>
          </p:sp>
        </mc:Choice>
        <mc:Fallback xmlns="">
          <p:sp>
            <p:nvSpPr>
              <p:cNvPr id="22" name="TextBox 21">
                <a:extLst>
                  <a:ext uri="{FF2B5EF4-FFF2-40B4-BE49-F238E27FC236}">
                    <a16:creationId xmlns:a16="http://schemas.microsoft.com/office/drawing/2014/main" id="{F2C91460-6FCA-9795-4687-FA71117EEDE8}"/>
                  </a:ext>
                </a:extLst>
              </p:cNvPr>
              <p:cNvSpPr txBox="1">
                <a:spLocks noRot="1" noChangeAspect="1" noMove="1" noResize="1" noEditPoints="1" noAdjustHandles="1" noChangeArrowheads="1" noChangeShapeType="1" noTextEdit="1"/>
              </p:cNvSpPr>
              <p:nvPr/>
            </p:nvSpPr>
            <p:spPr>
              <a:xfrm>
                <a:off x="3126217" y="6210491"/>
                <a:ext cx="1568443" cy="373436"/>
              </a:xfrm>
              <a:prstGeom prst="rect">
                <a:avLst/>
              </a:prstGeom>
              <a:blipFill>
                <a:blip r:embed="rId9"/>
                <a:stretch>
                  <a:fillRect l="-2419" r="-1613" b="-23333"/>
                </a:stretch>
              </a:blipFill>
            </p:spPr>
            <p:txBody>
              <a:bodyPr/>
              <a:lstStyle/>
              <a:p>
                <a:r>
                  <a:rPr lang="en-US">
                    <a:noFill/>
                  </a:rPr>
                  <a:t> </a:t>
                </a:r>
              </a:p>
            </p:txBody>
          </p:sp>
        </mc:Fallback>
      </mc:AlternateContent>
      <p:sp>
        <p:nvSpPr>
          <p:cNvPr id="23" name="Frame 22">
            <a:extLst>
              <a:ext uri="{FF2B5EF4-FFF2-40B4-BE49-F238E27FC236}">
                <a16:creationId xmlns:a16="http://schemas.microsoft.com/office/drawing/2014/main" id="{08F4AA29-71C1-C2D0-E9F0-9C36A45E0028}"/>
              </a:ext>
            </a:extLst>
          </p:cNvPr>
          <p:cNvSpPr>
            <a:spLocks/>
          </p:cNvSpPr>
          <p:nvPr/>
        </p:nvSpPr>
        <p:spPr>
          <a:xfrm>
            <a:off x="7924800" y="3385583"/>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24" name="Frame 23">
            <a:extLst>
              <a:ext uri="{FF2B5EF4-FFF2-40B4-BE49-F238E27FC236}">
                <a16:creationId xmlns:a16="http://schemas.microsoft.com/office/drawing/2014/main" id="{47B5DC33-766D-3A9A-9229-3E7F3739CEDB}"/>
              </a:ext>
            </a:extLst>
          </p:cNvPr>
          <p:cNvSpPr>
            <a:spLocks/>
          </p:cNvSpPr>
          <p:nvPr/>
        </p:nvSpPr>
        <p:spPr>
          <a:xfrm>
            <a:off x="8866910" y="3385583"/>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25" name="Frame 24">
            <a:extLst>
              <a:ext uri="{FF2B5EF4-FFF2-40B4-BE49-F238E27FC236}">
                <a16:creationId xmlns:a16="http://schemas.microsoft.com/office/drawing/2014/main" id="{CC5E372A-5729-A766-FFCE-38CEBCB6AB41}"/>
              </a:ext>
            </a:extLst>
          </p:cNvPr>
          <p:cNvSpPr>
            <a:spLocks/>
          </p:cNvSpPr>
          <p:nvPr/>
        </p:nvSpPr>
        <p:spPr>
          <a:xfrm>
            <a:off x="8866910" y="4325664"/>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Frame 25">
            <a:extLst>
              <a:ext uri="{FF2B5EF4-FFF2-40B4-BE49-F238E27FC236}">
                <a16:creationId xmlns:a16="http://schemas.microsoft.com/office/drawing/2014/main" id="{7441E3FE-234C-B55F-EEF0-8C7A893BB1C6}"/>
              </a:ext>
            </a:extLst>
          </p:cNvPr>
          <p:cNvSpPr>
            <a:spLocks/>
          </p:cNvSpPr>
          <p:nvPr/>
        </p:nvSpPr>
        <p:spPr>
          <a:xfrm>
            <a:off x="9809020" y="5270411"/>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Frame 26">
            <a:extLst>
              <a:ext uri="{FF2B5EF4-FFF2-40B4-BE49-F238E27FC236}">
                <a16:creationId xmlns:a16="http://schemas.microsoft.com/office/drawing/2014/main" id="{5304EA39-BB69-EF3D-6DF1-5C45FFF23665}"/>
              </a:ext>
            </a:extLst>
          </p:cNvPr>
          <p:cNvSpPr>
            <a:spLocks/>
          </p:cNvSpPr>
          <p:nvPr/>
        </p:nvSpPr>
        <p:spPr>
          <a:xfrm>
            <a:off x="9809020" y="4325664"/>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ame 27">
            <a:extLst>
              <a:ext uri="{FF2B5EF4-FFF2-40B4-BE49-F238E27FC236}">
                <a16:creationId xmlns:a16="http://schemas.microsoft.com/office/drawing/2014/main" id="{3216A03D-BB85-EF90-323B-AD790E26667C}"/>
              </a:ext>
            </a:extLst>
          </p:cNvPr>
          <p:cNvSpPr>
            <a:spLocks/>
          </p:cNvSpPr>
          <p:nvPr/>
        </p:nvSpPr>
        <p:spPr>
          <a:xfrm>
            <a:off x="9809020" y="3385583"/>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30" name="Frame 29">
            <a:extLst>
              <a:ext uri="{FF2B5EF4-FFF2-40B4-BE49-F238E27FC236}">
                <a16:creationId xmlns:a16="http://schemas.microsoft.com/office/drawing/2014/main" id="{2983F755-7572-7B6E-80E4-0F49FFBE3E99}"/>
              </a:ext>
            </a:extLst>
          </p:cNvPr>
          <p:cNvSpPr>
            <a:spLocks/>
          </p:cNvSpPr>
          <p:nvPr/>
        </p:nvSpPr>
        <p:spPr>
          <a:xfrm>
            <a:off x="8866910" y="5265745"/>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Frame 30">
            <a:extLst>
              <a:ext uri="{FF2B5EF4-FFF2-40B4-BE49-F238E27FC236}">
                <a16:creationId xmlns:a16="http://schemas.microsoft.com/office/drawing/2014/main" id="{2FE8233A-2DDD-DC4B-72A6-7253C5E11FA2}"/>
              </a:ext>
            </a:extLst>
          </p:cNvPr>
          <p:cNvSpPr>
            <a:spLocks/>
          </p:cNvSpPr>
          <p:nvPr/>
        </p:nvSpPr>
        <p:spPr>
          <a:xfrm>
            <a:off x="7924799" y="5270411"/>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Frame 31">
            <a:extLst>
              <a:ext uri="{FF2B5EF4-FFF2-40B4-BE49-F238E27FC236}">
                <a16:creationId xmlns:a16="http://schemas.microsoft.com/office/drawing/2014/main" id="{14CADB2B-0068-9475-F01B-98512F9C4D59}"/>
              </a:ext>
            </a:extLst>
          </p:cNvPr>
          <p:cNvSpPr>
            <a:spLocks/>
          </p:cNvSpPr>
          <p:nvPr/>
        </p:nvSpPr>
        <p:spPr>
          <a:xfrm>
            <a:off x="7924798" y="4325664"/>
            <a:ext cx="942110" cy="944746"/>
          </a:xfrm>
          <a:prstGeom prst="frame">
            <a:avLst>
              <a:gd name="adj1" fmla="val 0"/>
            </a:avLst>
          </a:prstGeom>
          <a:solidFill>
            <a:schemeClr val="tx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4" name="Straight Connector 33">
            <a:extLst>
              <a:ext uri="{FF2B5EF4-FFF2-40B4-BE49-F238E27FC236}">
                <a16:creationId xmlns:a16="http://schemas.microsoft.com/office/drawing/2014/main" id="{9A57EAE3-B1A9-815E-8EF8-EE6BE7034C56}"/>
              </a:ext>
            </a:extLst>
          </p:cNvPr>
          <p:cNvCxnSpPr/>
          <p:nvPr/>
        </p:nvCxnSpPr>
        <p:spPr>
          <a:xfrm>
            <a:off x="10751130" y="3385583"/>
            <a:ext cx="845125"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130DD33-BF4A-1E8B-AEFE-E4C0503AA0ED}"/>
              </a:ext>
            </a:extLst>
          </p:cNvPr>
          <p:cNvCxnSpPr/>
          <p:nvPr/>
        </p:nvCxnSpPr>
        <p:spPr>
          <a:xfrm>
            <a:off x="10744204" y="4325664"/>
            <a:ext cx="845125"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760440-E601-DF64-C971-80EB39ED7C1F}"/>
              </a:ext>
            </a:extLst>
          </p:cNvPr>
          <p:cNvCxnSpPr/>
          <p:nvPr/>
        </p:nvCxnSpPr>
        <p:spPr>
          <a:xfrm>
            <a:off x="10744203" y="5265746"/>
            <a:ext cx="845125"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56B99E8-9ECC-367A-39CC-7E69E382E7B6}"/>
              </a:ext>
            </a:extLst>
          </p:cNvPr>
          <p:cNvCxnSpPr/>
          <p:nvPr/>
        </p:nvCxnSpPr>
        <p:spPr>
          <a:xfrm>
            <a:off x="10751130" y="6210491"/>
            <a:ext cx="845125"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65AF52D-222C-C3DF-2F72-9CB959F4FA22}"/>
              </a:ext>
            </a:extLst>
          </p:cNvPr>
          <p:cNvCxnSpPr>
            <a:cxnSpLocks/>
          </p:cNvCxnSpPr>
          <p:nvPr/>
        </p:nvCxnSpPr>
        <p:spPr>
          <a:xfrm flipV="1">
            <a:off x="7924799" y="2701965"/>
            <a:ext cx="0" cy="68361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6E02CB4-B58B-E1A1-6592-3591B2C5EB84}"/>
              </a:ext>
            </a:extLst>
          </p:cNvPr>
          <p:cNvCxnSpPr>
            <a:cxnSpLocks/>
          </p:cNvCxnSpPr>
          <p:nvPr/>
        </p:nvCxnSpPr>
        <p:spPr>
          <a:xfrm flipV="1">
            <a:off x="8866909" y="2686757"/>
            <a:ext cx="0" cy="68361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1B6D679-4943-DBD0-6F79-9CC8E99637C0}"/>
              </a:ext>
            </a:extLst>
          </p:cNvPr>
          <p:cNvCxnSpPr>
            <a:cxnSpLocks/>
          </p:cNvCxnSpPr>
          <p:nvPr/>
        </p:nvCxnSpPr>
        <p:spPr>
          <a:xfrm flipV="1">
            <a:off x="9809020" y="2686757"/>
            <a:ext cx="0" cy="68361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8EC2F17-340F-2473-35F8-BAC774958D5C}"/>
              </a:ext>
            </a:extLst>
          </p:cNvPr>
          <p:cNvCxnSpPr>
            <a:cxnSpLocks/>
          </p:cNvCxnSpPr>
          <p:nvPr/>
        </p:nvCxnSpPr>
        <p:spPr>
          <a:xfrm flipV="1">
            <a:off x="10744203" y="2686757"/>
            <a:ext cx="0" cy="68361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9219BE83-80C8-F36E-BAE4-EE7FA6045645}"/>
              </a:ext>
            </a:extLst>
          </p:cNvPr>
          <p:cNvSpPr>
            <a:spLocks noChangeAspect="1"/>
          </p:cNvSpPr>
          <p:nvPr/>
        </p:nvSpPr>
        <p:spPr>
          <a:xfrm rot="10800000" flipV="1">
            <a:off x="9337965" y="5514880"/>
            <a:ext cx="125066" cy="12457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98B4C77A-548F-859D-DCA4-C97B813BCF7B}"/>
              </a:ext>
            </a:extLst>
          </p:cNvPr>
          <p:cNvSpPr>
            <a:spLocks noChangeAspect="1"/>
          </p:cNvSpPr>
          <p:nvPr/>
        </p:nvSpPr>
        <p:spPr>
          <a:xfrm rot="10800000" flipV="1">
            <a:off x="8527663" y="5774644"/>
            <a:ext cx="125066" cy="12457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B541DA6B-AC86-A3F5-3017-E60A7FCD0469}"/>
              </a:ext>
            </a:extLst>
          </p:cNvPr>
          <p:cNvSpPr>
            <a:spLocks noChangeAspect="1"/>
          </p:cNvSpPr>
          <p:nvPr/>
        </p:nvSpPr>
        <p:spPr>
          <a:xfrm rot="10800000" flipV="1">
            <a:off x="10148267" y="5088458"/>
            <a:ext cx="125066" cy="12457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77C198FD-A5AB-E1D9-D35D-ED5286D91417}"/>
              </a:ext>
            </a:extLst>
          </p:cNvPr>
          <p:cNvCxnSpPr>
            <a:cxnSpLocks/>
          </p:cNvCxnSpPr>
          <p:nvPr/>
        </p:nvCxnSpPr>
        <p:spPr>
          <a:xfrm>
            <a:off x="9809020" y="6414655"/>
            <a:ext cx="94211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187EB52-FC26-823F-277D-41EFC59438E3}"/>
                  </a:ext>
                </a:extLst>
              </p:cNvPr>
              <p:cNvSpPr txBox="1"/>
              <p:nvPr/>
            </p:nvSpPr>
            <p:spPr>
              <a:xfrm>
                <a:off x="10210800" y="6424470"/>
                <a:ext cx="2231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p:txBody>
          </p:sp>
        </mc:Choice>
        <mc:Fallback xmlns="">
          <p:sp>
            <p:nvSpPr>
              <p:cNvPr id="56" name="TextBox 55">
                <a:extLst>
                  <a:ext uri="{FF2B5EF4-FFF2-40B4-BE49-F238E27FC236}">
                    <a16:creationId xmlns:a16="http://schemas.microsoft.com/office/drawing/2014/main" id="{F187EB52-FC26-823F-277D-41EFC59438E3}"/>
                  </a:ext>
                </a:extLst>
              </p:cNvPr>
              <p:cNvSpPr txBox="1">
                <a:spLocks noRot="1" noChangeAspect="1" noMove="1" noResize="1" noEditPoints="1" noAdjustHandles="1" noChangeArrowheads="1" noChangeShapeType="1" noTextEdit="1"/>
              </p:cNvSpPr>
              <p:nvPr/>
            </p:nvSpPr>
            <p:spPr>
              <a:xfrm>
                <a:off x="10210800" y="6424470"/>
                <a:ext cx="223138" cy="276999"/>
              </a:xfrm>
              <a:prstGeom prst="rect">
                <a:avLst/>
              </a:prstGeom>
              <a:blipFill>
                <a:blip r:embed="rId10"/>
                <a:stretch>
                  <a:fillRect l="-16667" r="-11111"/>
                </a:stretch>
              </a:blipFill>
            </p:spPr>
            <p:txBody>
              <a:bodyPr/>
              <a:lstStyle/>
              <a:p>
                <a:r>
                  <a:rPr lang="en-US">
                    <a:noFill/>
                  </a:rPr>
                  <a:t> </a:t>
                </a:r>
              </a:p>
            </p:txBody>
          </p:sp>
        </mc:Fallback>
      </mc:AlternateContent>
      <p:sp>
        <p:nvSpPr>
          <p:cNvPr id="57" name="Oval 56">
            <a:extLst>
              <a:ext uri="{FF2B5EF4-FFF2-40B4-BE49-F238E27FC236}">
                <a16:creationId xmlns:a16="http://schemas.microsoft.com/office/drawing/2014/main" id="{B770D9DE-5CB1-E9F5-B5C0-679356965F33}"/>
              </a:ext>
            </a:extLst>
          </p:cNvPr>
          <p:cNvSpPr>
            <a:spLocks noChangeAspect="1"/>
          </p:cNvSpPr>
          <p:nvPr/>
        </p:nvSpPr>
        <p:spPr>
          <a:xfrm rot="10800000" flipV="1">
            <a:off x="8527663" y="5994006"/>
            <a:ext cx="125066" cy="12457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D7386893-6A9D-AD1B-DFE4-7E7E9FD090D2}"/>
              </a:ext>
            </a:extLst>
          </p:cNvPr>
          <p:cNvSpPr>
            <a:spLocks noChangeAspect="1"/>
          </p:cNvSpPr>
          <p:nvPr/>
        </p:nvSpPr>
        <p:spPr>
          <a:xfrm rot="10800000" flipV="1">
            <a:off x="9337965" y="5777374"/>
            <a:ext cx="125066" cy="12457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0E72C5FC-F16B-1D50-33C5-413F066BF34D}"/>
              </a:ext>
            </a:extLst>
          </p:cNvPr>
          <p:cNvSpPr>
            <a:spLocks noChangeAspect="1"/>
          </p:cNvSpPr>
          <p:nvPr/>
        </p:nvSpPr>
        <p:spPr>
          <a:xfrm rot="10800000" flipV="1">
            <a:off x="10148267" y="5321793"/>
            <a:ext cx="125066" cy="12457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4869D15-9FCD-420F-F233-03674845F860}"/>
                  </a:ext>
                </a:extLst>
              </p:cNvPr>
              <p:cNvSpPr txBox="1"/>
              <p:nvPr/>
            </p:nvSpPr>
            <p:spPr>
              <a:xfrm>
                <a:off x="8297324" y="5667817"/>
                <a:ext cx="1891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𝒂</m:t>
                      </m:r>
                    </m:oMath>
                  </m:oMathPara>
                </a14:m>
                <a:endParaRPr lang="en-US" b="1" dirty="0"/>
              </a:p>
            </p:txBody>
          </p:sp>
        </mc:Choice>
        <mc:Fallback xmlns="">
          <p:sp>
            <p:nvSpPr>
              <p:cNvPr id="60" name="TextBox 59">
                <a:extLst>
                  <a:ext uri="{FF2B5EF4-FFF2-40B4-BE49-F238E27FC236}">
                    <a16:creationId xmlns:a16="http://schemas.microsoft.com/office/drawing/2014/main" id="{64869D15-9FCD-420F-F233-03674845F860}"/>
                  </a:ext>
                </a:extLst>
              </p:cNvPr>
              <p:cNvSpPr txBox="1">
                <a:spLocks noRot="1" noChangeAspect="1" noMove="1" noResize="1" noEditPoints="1" noAdjustHandles="1" noChangeArrowheads="1" noChangeShapeType="1" noTextEdit="1"/>
              </p:cNvSpPr>
              <p:nvPr/>
            </p:nvSpPr>
            <p:spPr>
              <a:xfrm>
                <a:off x="8297324" y="5667817"/>
                <a:ext cx="189154" cy="276999"/>
              </a:xfrm>
              <a:prstGeom prst="rect">
                <a:avLst/>
              </a:prstGeom>
              <a:blipFill>
                <a:blip r:embed="rId11"/>
                <a:stretch>
                  <a:fillRect l="-18750" r="-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D3930B0-2BBE-05E5-E0A5-5A534678192F}"/>
                  </a:ext>
                </a:extLst>
              </p:cNvPr>
              <p:cNvSpPr txBox="1"/>
              <p:nvPr/>
            </p:nvSpPr>
            <p:spPr>
              <a:xfrm>
                <a:off x="9808301" y="5007332"/>
                <a:ext cx="3270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r>
                        <a:rPr lang="en-US" b="1" i="1" smtClean="0">
                          <a:latin typeface="Cambria Math" panose="02040503050406030204" pitchFamily="18" charset="0"/>
                        </a:rPr>
                        <m:t>𝒂</m:t>
                      </m:r>
                    </m:oMath>
                  </m:oMathPara>
                </a14:m>
                <a:endParaRPr lang="en-US" b="1" dirty="0"/>
              </a:p>
            </p:txBody>
          </p:sp>
        </mc:Choice>
        <mc:Fallback xmlns="">
          <p:sp>
            <p:nvSpPr>
              <p:cNvPr id="61" name="TextBox 60">
                <a:extLst>
                  <a:ext uri="{FF2B5EF4-FFF2-40B4-BE49-F238E27FC236}">
                    <a16:creationId xmlns:a16="http://schemas.microsoft.com/office/drawing/2014/main" id="{4D3930B0-2BBE-05E5-E0A5-5A534678192F}"/>
                  </a:ext>
                </a:extLst>
              </p:cNvPr>
              <p:cNvSpPr txBox="1">
                <a:spLocks noRot="1" noChangeAspect="1" noMove="1" noResize="1" noEditPoints="1" noAdjustHandles="1" noChangeArrowheads="1" noChangeShapeType="1" noTextEdit="1"/>
              </p:cNvSpPr>
              <p:nvPr/>
            </p:nvSpPr>
            <p:spPr>
              <a:xfrm>
                <a:off x="9808301" y="5007332"/>
                <a:ext cx="327013" cy="276999"/>
              </a:xfrm>
              <a:prstGeom prst="rect">
                <a:avLst/>
              </a:prstGeom>
              <a:blipFill>
                <a:blip r:embed="rId12"/>
                <a:stretch>
                  <a:fillRect l="-14815" r="-7407"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D829871-F335-AABC-DDEC-66BE6C9F7E10}"/>
                  </a:ext>
                </a:extLst>
              </p:cNvPr>
              <p:cNvSpPr txBox="1"/>
              <p:nvPr/>
            </p:nvSpPr>
            <p:spPr>
              <a:xfrm>
                <a:off x="9029961" y="5439904"/>
                <a:ext cx="266098" cy="276999"/>
              </a:xfrm>
              <a:prstGeom prst="rect">
                <a:avLst/>
              </a:prstGeom>
              <a:noFill/>
            </p:spPr>
            <p:txBody>
              <a:bodyPr wrap="none" lIns="0" tIns="0" rIns="0" bIns="0" rtlCol="0">
                <a:spAutoFit/>
              </a:bodyPr>
              <a:lstStyle/>
              <a:p>
                <a:r>
                  <a:rPr lang="en-US" dirty="0"/>
                  <a:t>2</a:t>
                </a:r>
                <a14:m>
                  <m:oMath xmlns:m="http://schemas.openxmlformats.org/officeDocument/2006/math">
                    <m:r>
                      <a:rPr lang="en-US" b="1" i="1" smtClean="0">
                        <a:latin typeface="Cambria Math" panose="02040503050406030204" pitchFamily="18" charset="0"/>
                      </a:rPr>
                      <m:t>𝒂</m:t>
                    </m:r>
                  </m:oMath>
                </a14:m>
                <a:endParaRPr lang="en-US" b="1" dirty="0"/>
              </a:p>
            </p:txBody>
          </p:sp>
        </mc:Choice>
        <mc:Fallback xmlns="">
          <p:sp>
            <p:nvSpPr>
              <p:cNvPr id="62" name="TextBox 61">
                <a:extLst>
                  <a:ext uri="{FF2B5EF4-FFF2-40B4-BE49-F238E27FC236}">
                    <a16:creationId xmlns:a16="http://schemas.microsoft.com/office/drawing/2014/main" id="{2D829871-F335-AABC-DDEC-66BE6C9F7E10}"/>
                  </a:ext>
                </a:extLst>
              </p:cNvPr>
              <p:cNvSpPr txBox="1">
                <a:spLocks noRot="1" noChangeAspect="1" noMove="1" noResize="1" noEditPoints="1" noAdjustHandles="1" noChangeArrowheads="1" noChangeShapeType="1" noTextEdit="1"/>
              </p:cNvSpPr>
              <p:nvPr/>
            </p:nvSpPr>
            <p:spPr>
              <a:xfrm>
                <a:off x="9029961" y="5439904"/>
                <a:ext cx="266098" cy="276999"/>
              </a:xfrm>
              <a:prstGeom prst="rect">
                <a:avLst/>
              </a:prstGeom>
              <a:blipFill>
                <a:blip r:embed="rId13"/>
                <a:stretch>
                  <a:fillRect l="-50000" t="-26087" r="-22727" b="-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2677CC4-B5FE-B08A-5180-A962B8B2FC23}"/>
                  </a:ext>
                </a:extLst>
              </p:cNvPr>
              <p:cNvSpPr txBox="1"/>
              <p:nvPr/>
            </p:nvSpPr>
            <p:spPr>
              <a:xfrm>
                <a:off x="7936155" y="5911308"/>
                <a:ext cx="5915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𝒂</m:t>
                      </m:r>
                      <m:r>
                        <a:rPr lang="en-US" b="1" i="1" smtClean="0">
                          <a:latin typeface="Cambria Math" panose="02040503050406030204" pitchFamily="18" charset="0"/>
                        </a:rPr>
                        <m:t>+</m:t>
                      </m:r>
                      <m:r>
                        <a:rPr lang="en-US" b="1" i="1" smtClean="0">
                          <a:latin typeface="Cambria Math" panose="02040503050406030204" pitchFamily="18" charset="0"/>
                        </a:rPr>
                        <m:t>𝒆</m:t>
                      </m:r>
                    </m:oMath>
                  </m:oMathPara>
                </a14:m>
                <a:endParaRPr lang="en-US" b="1" dirty="0"/>
              </a:p>
            </p:txBody>
          </p:sp>
        </mc:Choice>
        <mc:Fallback xmlns="">
          <p:sp>
            <p:nvSpPr>
              <p:cNvPr id="63" name="TextBox 62">
                <a:extLst>
                  <a:ext uri="{FF2B5EF4-FFF2-40B4-BE49-F238E27FC236}">
                    <a16:creationId xmlns:a16="http://schemas.microsoft.com/office/drawing/2014/main" id="{F2677CC4-B5FE-B08A-5180-A962B8B2FC23}"/>
                  </a:ext>
                </a:extLst>
              </p:cNvPr>
              <p:cNvSpPr txBox="1">
                <a:spLocks noRot="1" noChangeAspect="1" noMove="1" noResize="1" noEditPoints="1" noAdjustHandles="1" noChangeArrowheads="1" noChangeShapeType="1" noTextEdit="1"/>
              </p:cNvSpPr>
              <p:nvPr/>
            </p:nvSpPr>
            <p:spPr>
              <a:xfrm>
                <a:off x="7936155" y="5911308"/>
                <a:ext cx="591508" cy="276999"/>
              </a:xfrm>
              <a:prstGeom prst="rect">
                <a:avLst/>
              </a:prstGeom>
              <a:blipFill>
                <a:blip r:embed="rId14"/>
                <a:stretch>
                  <a:fillRect l="-4167" r="-4167"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AD7EAA8-6C99-EF8A-5104-3A78B63E6611}"/>
                  </a:ext>
                </a:extLst>
              </p:cNvPr>
              <p:cNvSpPr txBox="1"/>
              <p:nvPr/>
            </p:nvSpPr>
            <p:spPr>
              <a:xfrm>
                <a:off x="9035814" y="5883924"/>
                <a:ext cx="7293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r>
                        <a:rPr lang="en-US" b="1" i="1" smtClean="0">
                          <a:latin typeface="Cambria Math" panose="02040503050406030204" pitchFamily="18" charset="0"/>
                        </a:rPr>
                        <m:t>𝒂</m:t>
                      </m:r>
                      <m:r>
                        <a:rPr lang="en-US" b="1" i="1" smtClean="0">
                          <a:latin typeface="Cambria Math" panose="02040503050406030204" pitchFamily="18" charset="0"/>
                        </a:rPr>
                        <m:t>+</m:t>
                      </m:r>
                      <m:r>
                        <a:rPr lang="en-US" b="1" i="1" smtClean="0">
                          <a:latin typeface="Cambria Math" panose="02040503050406030204" pitchFamily="18" charset="0"/>
                        </a:rPr>
                        <m:t>𝒆</m:t>
                      </m:r>
                    </m:oMath>
                  </m:oMathPara>
                </a14:m>
                <a:endParaRPr lang="en-US" b="1" dirty="0"/>
              </a:p>
            </p:txBody>
          </p:sp>
        </mc:Choice>
        <mc:Fallback xmlns="">
          <p:sp>
            <p:nvSpPr>
              <p:cNvPr id="64" name="TextBox 63">
                <a:extLst>
                  <a:ext uri="{FF2B5EF4-FFF2-40B4-BE49-F238E27FC236}">
                    <a16:creationId xmlns:a16="http://schemas.microsoft.com/office/drawing/2014/main" id="{1AD7EAA8-6C99-EF8A-5104-3A78B63E6611}"/>
                  </a:ext>
                </a:extLst>
              </p:cNvPr>
              <p:cNvSpPr txBox="1">
                <a:spLocks noRot="1" noChangeAspect="1" noMove="1" noResize="1" noEditPoints="1" noAdjustHandles="1" noChangeArrowheads="1" noChangeShapeType="1" noTextEdit="1"/>
              </p:cNvSpPr>
              <p:nvPr/>
            </p:nvSpPr>
            <p:spPr>
              <a:xfrm>
                <a:off x="9035814" y="5883924"/>
                <a:ext cx="729367" cy="276999"/>
              </a:xfrm>
              <a:prstGeom prst="rect">
                <a:avLst/>
              </a:prstGeom>
              <a:blipFill>
                <a:blip r:embed="rId15"/>
                <a:stretch>
                  <a:fillRect l="-6897" r="-5172"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1A87E8D9-430D-6D95-FAA2-57DD2C6DD0A3}"/>
                  </a:ext>
                </a:extLst>
              </p:cNvPr>
              <p:cNvSpPr txBox="1"/>
              <p:nvPr/>
            </p:nvSpPr>
            <p:spPr>
              <a:xfrm>
                <a:off x="9790325" y="5469908"/>
                <a:ext cx="7293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r>
                        <a:rPr lang="en-US" b="1" i="1" smtClean="0">
                          <a:latin typeface="Cambria Math" panose="02040503050406030204" pitchFamily="18" charset="0"/>
                        </a:rPr>
                        <m:t>𝒂</m:t>
                      </m:r>
                      <m:r>
                        <a:rPr lang="en-US" b="1" i="1" smtClean="0">
                          <a:latin typeface="Cambria Math" panose="02040503050406030204" pitchFamily="18" charset="0"/>
                        </a:rPr>
                        <m:t>+</m:t>
                      </m:r>
                      <m:r>
                        <a:rPr lang="en-US" b="1" i="1" smtClean="0">
                          <a:latin typeface="Cambria Math" panose="02040503050406030204" pitchFamily="18" charset="0"/>
                        </a:rPr>
                        <m:t>𝒆</m:t>
                      </m:r>
                    </m:oMath>
                  </m:oMathPara>
                </a14:m>
                <a:endParaRPr lang="en-US" b="1" dirty="0"/>
              </a:p>
            </p:txBody>
          </p:sp>
        </mc:Choice>
        <mc:Fallback xmlns="">
          <p:sp>
            <p:nvSpPr>
              <p:cNvPr id="65" name="TextBox 64">
                <a:extLst>
                  <a:ext uri="{FF2B5EF4-FFF2-40B4-BE49-F238E27FC236}">
                    <a16:creationId xmlns:a16="http://schemas.microsoft.com/office/drawing/2014/main" id="{1A87E8D9-430D-6D95-FAA2-57DD2C6DD0A3}"/>
                  </a:ext>
                </a:extLst>
              </p:cNvPr>
              <p:cNvSpPr txBox="1">
                <a:spLocks noRot="1" noChangeAspect="1" noMove="1" noResize="1" noEditPoints="1" noAdjustHandles="1" noChangeArrowheads="1" noChangeShapeType="1" noTextEdit="1"/>
              </p:cNvSpPr>
              <p:nvPr/>
            </p:nvSpPr>
            <p:spPr>
              <a:xfrm>
                <a:off x="9790325" y="5469908"/>
                <a:ext cx="729367" cy="276999"/>
              </a:xfrm>
              <a:prstGeom prst="rect">
                <a:avLst/>
              </a:prstGeom>
              <a:blipFill>
                <a:blip r:embed="rId16"/>
                <a:stretch>
                  <a:fillRect l="-5085" r="-3390" b="-8696"/>
                </a:stretch>
              </a:blipFill>
            </p:spPr>
            <p:txBody>
              <a:bodyPr/>
              <a:lstStyle/>
              <a:p>
                <a:r>
                  <a:rPr lang="en-US">
                    <a:noFill/>
                  </a:rPr>
                  <a:t> </a:t>
                </a:r>
              </a:p>
            </p:txBody>
          </p:sp>
        </mc:Fallback>
      </mc:AlternateContent>
      <p:sp>
        <p:nvSpPr>
          <p:cNvPr id="66" name="Oval 65">
            <a:extLst>
              <a:ext uri="{FF2B5EF4-FFF2-40B4-BE49-F238E27FC236}">
                <a16:creationId xmlns:a16="http://schemas.microsoft.com/office/drawing/2014/main" id="{42319A26-DA62-CBED-F732-3273C7E23205}"/>
              </a:ext>
            </a:extLst>
          </p:cNvPr>
          <p:cNvSpPr>
            <a:spLocks noChangeAspect="1"/>
          </p:cNvSpPr>
          <p:nvPr/>
        </p:nvSpPr>
        <p:spPr>
          <a:xfrm rot="10800000" flipH="1">
            <a:off x="9293966" y="3524573"/>
            <a:ext cx="124578" cy="1240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F9AA6D98-1DCB-B997-321E-98DE8210FD61}"/>
                  </a:ext>
                </a:extLst>
              </p:cNvPr>
              <p:cNvSpPr txBox="1"/>
              <p:nvPr/>
            </p:nvSpPr>
            <p:spPr>
              <a:xfrm>
                <a:off x="9123980" y="3648080"/>
                <a:ext cx="42104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𝒗</m:t>
                      </m:r>
                    </m:oMath>
                  </m:oMathPara>
                </a14:m>
                <a:endParaRPr lang="en-US" b="1" dirty="0"/>
              </a:p>
            </p:txBody>
          </p:sp>
        </mc:Choice>
        <mc:Fallback xmlns="">
          <p:sp>
            <p:nvSpPr>
              <p:cNvPr id="67" name="TextBox 66">
                <a:extLst>
                  <a:ext uri="{FF2B5EF4-FFF2-40B4-BE49-F238E27FC236}">
                    <a16:creationId xmlns:a16="http://schemas.microsoft.com/office/drawing/2014/main" id="{F9AA6D98-1DCB-B997-321E-98DE8210FD61}"/>
                  </a:ext>
                </a:extLst>
              </p:cNvPr>
              <p:cNvSpPr txBox="1">
                <a:spLocks noRot="1" noChangeAspect="1" noMove="1" noResize="1" noEditPoints="1" noAdjustHandles="1" noChangeArrowheads="1" noChangeShapeType="1" noTextEdit="1"/>
              </p:cNvSpPr>
              <p:nvPr/>
            </p:nvSpPr>
            <p:spPr>
              <a:xfrm>
                <a:off x="9123980" y="3648080"/>
                <a:ext cx="421043" cy="276999"/>
              </a:xfrm>
              <a:prstGeom prst="rect">
                <a:avLst/>
              </a:prstGeom>
              <a:blipFill>
                <a:blip r:embed="rId17"/>
                <a:stretch>
                  <a:fillRect/>
                </a:stretch>
              </a:blipFill>
            </p:spPr>
            <p:txBody>
              <a:bodyPr/>
              <a:lstStyle/>
              <a:p>
                <a:r>
                  <a:rPr lang="en-US">
                    <a:noFill/>
                  </a:rPr>
                  <a:t> </a:t>
                </a:r>
              </a:p>
            </p:txBody>
          </p:sp>
        </mc:Fallback>
      </mc:AlternateContent>
      <p:sp>
        <p:nvSpPr>
          <p:cNvPr id="69" name="Left Brace 68">
            <a:extLst>
              <a:ext uri="{FF2B5EF4-FFF2-40B4-BE49-F238E27FC236}">
                <a16:creationId xmlns:a16="http://schemas.microsoft.com/office/drawing/2014/main" id="{CB3AEAEF-C22D-B75A-ACB9-6ADB6274A668}"/>
              </a:ext>
            </a:extLst>
          </p:cNvPr>
          <p:cNvSpPr/>
          <p:nvPr/>
        </p:nvSpPr>
        <p:spPr>
          <a:xfrm>
            <a:off x="8527663" y="3429000"/>
            <a:ext cx="332322" cy="84709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3F20BA6-BA60-E9D5-9E0A-5FF6A2FC3AA5}"/>
                  </a:ext>
                </a:extLst>
              </p:cNvPr>
              <p:cNvSpPr txBox="1"/>
              <p:nvPr/>
            </p:nvSpPr>
            <p:spPr>
              <a:xfrm>
                <a:off x="7966355" y="3714048"/>
                <a:ext cx="5578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Φ</m:t>
                      </m:r>
                      <m:r>
                        <a:rPr lang="en-US" b="0" i="1" smtClean="0">
                          <a:latin typeface="Cambria Math" panose="02040503050406030204" pitchFamily="18" charset="0"/>
                        </a:rPr>
                        <m:t>(</m:t>
                      </m:r>
                      <m:r>
                        <a:rPr lang="en-US" b="1" i="1" smtClean="0">
                          <a:latin typeface="Cambria Math" panose="02040503050406030204" pitchFamily="18" charset="0"/>
                        </a:rPr>
                        <m:t>𝒗</m:t>
                      </m:r>
                      <m:r>
                        <a:rPr lang="en-US" b="0" i="1" smtClean="0">
                          <a:latin typeface="Cambria Math" panose="02040503050406030204" pitchFamily="18" charset="0"/>
                        </a:rPr>
                        <m:t>)</m:t>
                      </m:r>
                    </m:oMath>
                  </m:oMathPara>
                </a14:m>
                <a:endParaRPr lang="en-US" dirty="0"/>
              </a:p>
            </p:txBody>
          </p:sp>
        </mc:Choice>
        <mc:Fallback xmlns="">
          <p:sp>
            <p:nvSpPr>
              <p:cNvPr id="70" name="TextBox 69">
                <a:extLst>
                  <a:ext uri="{FF2B5EF4-FFF2-40B4-BE49-F238E27FC236}">
                    <a16:creationId xmlns:a16="http://schemas.microsoft.com/office/drawing/2014/main" id="{73F20BA6-BA60-E9D5-9E0A-5FF6A2FC3AA5}"/>
                  </a:ext>
                </a:extLst>
              </p:cNvPr>
              <p:cNvSpPr txBox="1">
                <a:spLocks noRot="1" noChangeAspect="1" noMove="1" noResize="1" noEditPoints="1" noAdjustHandles="1" noChangeArrowheads="1" noChangeShapeType="1" noTextEdit="1"/>
              </p:cNvSpPr>
              <p:nvPr/>
            </p:nvSpPr>
            <p:spPr>
              <a:xfrm>
                <a:off x="7966355" y="3714048"/>
                <a:ext cx="557845" cy="276999"/>
              </a:xfrm>
              <a:prstGeom prst="rect">
                <a:avLst/>
              </a:prstGeom>
              <a:blipFill>
                <a:blip r:embed="rId18"/>
                <a:stretch>
                  <a:fillRect l="-8889" t="-4348" r="-13333" b="-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80E124-B19C-F9A5-591E-9D34E480AA64}"/>
                  </a:ext>
                </a:extLst>
              </p:cNvPr>
              <p:cNvSpPr txBox="1"/>
              <p:nvPr/>
            </p:nvSpPr>
            <p:spPr>
              <a:xfrm>
                <a:off x="2757045" y="2877087"/>
                <a:ext cx="4806753" cy="461665"/>
              </a:xfrm>
              <a:prstGeom prst="rect">
                <a:avLst/>
              </a:prstGeom>
              <a:noFill/>
            </p:spPr>
            <p:txBody>
              <a:bodyPr wrap="square" rtlCol="0">
                <a:spAutoFit/>
              </a:bodyPr>
              <a:lstStyle/>
              <a:p>
                <a14:m>
                  <m:oMath xmlns:m="http://schemas.openxmlformats.org/officeDocument/2006/math">
                    <m:r>
                      <a:rPr lang="en-US" sz="2400" b="0" i="1" smtClean="0">
                        <a:solidFill>
                          <a:schemeClr val="accent5">
                            <a:lumMod val="75000"/>
                          </a:schemeClr>
                        </a:solidFill>
                        <a:latin typeface="Cambria Math" panose="02040503050406030204" pitchFamily="18" charset="0"/>
                      </a:rPr>
                      <m:t>𝑒</m:t>
                    </m:r>
                    <m:r>
                      <a:rPr lang="en-US" sz="2400" b="0" i="1" smtClean="0">
                        <a:solidFill>
                          <a:schemeClr val="accent5">
                            <a:lumMod val="75000"/>
                          </a:schemeClr>
                        </a:solidFill>
                        <a:latin typeface="Cambria Math" panose="02040503050406030204" pitchFamily="18" charset="0"/>
                      </a:rPr>
                      <m:t>← </m:t>
                    </m:r>
                  </m:oMath>
                </a14:m>
                <a:r>
                  <a:rPr lang="en-US" sz="2400" dirty="0"/>
                  <a:t>Discrete Gaussian of width </a:t>
                </a:r>
                <a14:m>
                  <m:oMath xmlns:m="http://schemas.openxmlformats.org/officeDocument/2006/math">
                    <m:r>
                      <a:rPr lang="en-US" sz="2400" b="0" i="1" smtClean="0">
                        <a:solidFill>
                          <a:schemeClr val="accent5">
                            <a:lumMod val="75000"/>
                          </a:schemeClr>
                        </a:solidFill>
                        <a:latin typeface="Cambria Math" panose="02040503050406030204" pitchFamily="18" charset="0"/>
                      </a:rPr>
                      <m:t>𝛼</m:t>
                    </m:r>
                    <m:r>
                      <a:rPr lang="en-US" sz="2400" b="0" i="1" smtClean="0">
                        <a:solidFill>
                          <a:schemeClr val="accent5">
                            <a:lumMod val="75000"/>
                          </a:schemeClr>
                        </a:solidFill>
                        <a:latin typeface="Cambria Math" panose="02040503050406030204" pitchFamily="18" charset="0"/>
                      </a:rPr>
                      <m:t>𝑞</m:t>
                    </m:r>
                  </m:oMath>
                </a14:m>
                <a:endParaRPr lang="en-US" sz="2400" dirty="0"/>
              </a:p>
            </p:txBody>
          </p:sp>
        </mc:Choice>
        <mc:Fallback xmlns="">
          <p:sp>
            <p:nvSpPr>
              <p:cNvPr id="5" name="TextBox 4">
                <a:extLst>
                  <a:ext uri="{FF2B5EF4-FFF2-40B4-BE49-F238E27FC236}">
                    <a16:creationId xmlns:a16="http://schemas.microsoft.com/office/drawing/2014/main" id="{9080E124-B19C-F9A5-591E-9D34E480AA64}"/>
                  </a:ext>
                </a:extLst>
              </p:cNvPr>
              <p:cNvSpPr txBox="1">
                <a:spLocks noRot="1" noChangeAspect="1" noMove="1" noResize="1" noEditPoints="1" noAdjustHandles="1" noChangeArrowheads="1" noChangeShapeType="1" noTextEdit="1"/>
              </p:cNvSpPr>
              <p:nvPr/>
            </p:nvSpPr>
            <p:spPr>
              <a:xfrm>
                <a:off x="2757045" y="2877087"/>
                <a:ext cx="4806753" cy="461665"/>
              </a:xfrm>
              <a:prstGeom prst="rect">
                <a:avLst/>
              </a:prstGeom>
              <a:blipFill>
                <a:blip r:embed="rId19"/>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215078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7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11" grpId="0"/>
      <p:bldP spid="21" grpId="0"/>
      <p:bldP spid="22" grpId="0"/>
      <p:bldP spid="23" grpId="0" animBg="1"/>
      <p:bldP spid="24" grpId="0" animBg="1"/>
      <p:bldP spid="25" grpId="0" animBg="1"/>
      <p:bldP spid="26" grpId="0" animBg="1"/>
      <p:bldP spid="27" grpId="0" animBg="1"/>
      <p:bldP spid="28" grpId="0" animBg="1"/>
      <p:bldP spid="30" grpId="0" animBg="1"/>
      <p:bldP spid="31" grpId="0" animBg="1"/>
      <p:bldP spid="32" grpId="0" animBg="1"/>
      <p:bldP spid="48" grpId="0" animBg="1"/>
      <p:bldP spid="49" grpId="0" animBg="1"/>
      <p:bldP spid="50" grpId="0" animBg="1"/>
      <p:bldP spid="56" grpId="0"/>
      <p:bldP spid="57" grpId="0" animBg="1"/>
      <p:bldP spid="58" grpId="0" animBg="1"/>
      <p:bldP spid="59" grpId="0" animBg="1"/>
      <p:bldP spid="60" grpId="0"/>
      <p:bldP spid="61" grpId="0"/>
      <p:bldP spid="62" grpId="0"/>
      <p:bldP spid="63" grpId="0"/>
      <p:bldP spid="64" grpId="0"/>
      <p:bldP spid="65" grpId="0"/>
      <p:bldP spid="66" grpId="0" animBg="1"/>
      <p:bldP spid="67" grpId="0"/>
      <p:bldP spid="69" grpId="0" animBg="1"/>
      <p:bldP spid="70"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04F93-9036-2843-6834-AE5C45EC7B58}"/>
              </a:ext>
            </a:extLst>
          </p:cNvPr>
          <p:cNvSpPr>
            <a:spLocks noGrp="1"/>
          </p:cNvSpPr>
          <p:nvPr>
            <p:ph type="title"/>
          </p:nvPr>
        </p:nvSpPr>
        <p:spPr/>
        <p:txBody>
          <a:bodyPr/>
          <a:lstStyle/>
          <a:p>
            <a:r>
              <a:rPr lang="en-US" dirty="0"/>
              <a:t>LWE reduces to (faulty) DCP</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91A9B5-21CD-CAA5-E0DA-355E4A4030E3}"/>
                  </a:ext>
                </a:extLst>
              </p:cNvPr>
              <p:cNvSpPr txBox="1"/>
              <p:nvPr/>
            </p:nvSpPr>
            <p:spPr>
              <a:xfrm>
                <a:off x="859567" y="1907757"/>
                <a:ext cx="5838137"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e>
                      </m:d>
                      <m:nary>
                        <m:naryPr>
                          <m:chr m:val="∑"/>
                          <m:supHide m:val="on"/>
                          <m:ctrlPr>
                            <a:rPr lang="en-US" sz="2400" i="1">
                              <a:solidFill>
                                <a:schemeClr val="accent5">
                                  <a:lumMod val="75000"/>
                                </a:schemeClr>
                              </a:solidFill>
                              <a:latin typeface="Cambria Math" panose="02040503050406030204" pitchFamily="18" charset="0"/>
                            </a:rPr>
                          </m:ctrlPr>
                        </m:naryPr>
                        <m:sub>
                          <m:r>
                            <a:rPr lang="en-US" sz="2400" b="0" i="1" smtClean="0">
                              <a:solidFill>
                                <a:schemeClr val="accent5">
                                  <a:lumMod val="75000"/>
                                </a:schemeClr>
                              </a:solidFill>
                              <a:latin typeface="Cambria Math" panose="02040503050406030204" pitchFamily="18" charset="0"/>
                            </a:rPr>
                            <m:t>𝑡</m:t>
                          </m:r>
                          <m:r>
                            <a:rPr lang="en-US" sz="2400" i="1">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𝑡</m:t>
                              </m:r>
                            </m:e>
                          </m:d>
                          <m:r>
                            <a:rPr lang="en-US" sz="2400" b="0" i="1" smtClean="0">
                              <a:solidFill>
                                <a:schemeClr val="accent5">
                                  <a:lumMod val="75000"/>
                                </a:schemeClr>
                              </a:solidFill>
                              <a:latin typeface="Cambria Math" panose="02040503050406030204" pitchFamily="18" charset="0"/>
                            </a:rPr>
                            <m:t> </m:t>
                          </m:r>
                          <m:d>
                            <m:dPr>
                              <m:begChr m:val="|"/>
                              <m:endChr m:val="⟩"/>
                              <m:ctrlPr>
                                <a:rPr lang="en-US" sz="2400" b="0" i="1" smtClean="0">
                                  <a:solidFill>
                                    <a:schemeClr val="accent5">
                                      <a:lumMod val="75000"/>
                                    </a:schemeClr>
                                  </a:solidFill>
                                  <a:latin typeface="Cambria Math" panose="02040503050406030204" pitchFamily="18" charset="0"/>
                                </a:rPr>
                              </m:ctrlPr>
                            </m:dPr>
                            <m:e>
                              <m:r>
                                <m:rPr>
                                  <m:sty m:val="p"/>
                                </m:rPr>
                                <a:rPr lang="en-US" sz="2400" b="0" i="0" smtClean="0">
                                  <a:solidFill>
                                    <a:schemeClr val="accent5">
                                      <a:lumMod val="75000"/>
                                    </a:schemeClr>
                                  </a:solidFill>
                                  <a:latin typeface="Cambria Math" panose="02040503050406030204" pitchFamily="18" charset="0"/>
                                </a:rPr>
                                <m:t>Φ</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e>
                          </m:d>
                          <m:r>
                            <a:rPr lang="en-US" sz="2400" b="0" i="1" smtClean="0">
                              <a:solidFill>
                                <a:schemeClr val="accent5">
                                  <a:lumMod val="75000"/>
                                </a:schemeClr>
                              </a:solidFill>
                              <a:latin typeface="Cambria Math" panose="02040503050406030204" pitchFamily="18" charset="0"/>
                            </a:rPr>
                            <m:t>+|1⟩</m:t>
                          </m:r>
                          <m:nary>
                            <m:naryPr>
                              <m:chr m:val="∑"/>
                              <m:supHide m:val="on"/>
                              <m:ctrlPr>
                                <a:rPr lang="en-US" sz="2400" i="1">
                                  <a:solidFill>
                                    <a:schemeClr val="accent5">
                                      <a:lumMod val="75000"/>
                                    </a:schemeClr>
                                  </a:solidFill>
                                  <a:latin typeface="Cambria Math" panose="02040503050406030204" pitchFamily="18" charset="0"/>
                                </a:rPr>
                              </m:ctrlPr>
                            </m:naryPr>
                            <m:sub>
                              <m:r>
                                <a:rPr lang="en-US" sz="2400" i="1">
                                  <a:solidFill>
                                    <a:schemeClr val="accent5">
                                      <a:lumMod val="75000"/>
                                    </a:schemeClr>
                                  </a:solidFill>
                                  <a:latin typeface="Cambria Math" panose="02040503050406030204" pitchFamily="18" charset="0"/>
                                </a:rPr>
                                <m:t>𝑡</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𝑡</m:t>
                                  </m:r>
                                </m:e>
                              </m:d>
                              <m:r>
                                <a:rPr lang="en-US" sz="2400" b="0" i="1" smtClean="0">
                                  <a:solidFill>
                                    <a:schemeClr val="accent5">
                                      <a:lumMod val="75000"/>
                                    </a:schemeClr>
                                  </a:solidFill>
                                  <a:latin typeface="Cambria Math" panose="02040503050406030204" pitchFamily="18" charset="0"/>
                                </a:rPr>
                                <m:t> </m:t>
                              </m:r>
                              <m:d>
                                <m:dPr>
                                  <m:begChr m:val="|"/>
                                  <m:endChr m:val="⟩"/>
                                  <m:ctrlPr>
                                    <a:rPr lang="en-US" sz="2400" i="1">
                                      <a:solidFill>
                                        <a:schemeClr val="accent5">
                                          <a:lumMod val="75000"/>
                                        </a:schemeClr>
                                      </a:solidFill>
                                      <a:latin typeface="Cambria Math" panose="02040503050406030204" pitchFamily="18" charset="0"/>
                                    </a:rPr>
                                  </m:ctrlPr>
                                </m:dPr>
                                <m:e>
                                  <m:r>
                                    <m:rPr>
                                      <m:sty m:val="p"/>
                                    </m:rPr>
                                    <a:rPr lang="en-US" sz="2400" b="0" i="0" smtClean="0">
                                      <a:solidFill>
                                        <a:schemeClr val="accent5">
                                          <a:lumMod val="75000"/>
                                        </a:schemeClr>
                                      </a:solidFill>
                                      <a:latin typeface="Cambria Math" panose="02040503050406030204" pitchFamily="18" charset="0"/>
                                    </a:rPr>
                                    <m:t>Φ</m:t>
                                  </m:r>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𝒃</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e>
                              </m:d>
                            </m:e>
                          </m:nary>
                        </m:e>
                      </m:nary>
                    </m:oMath>
                  </m:oMathPara>
                </a14:m>
                <a:endParaRPr lang="en-US" sz="2400" dirty="0"/>
              </a:p>
            </p:txBody>
          </p:sp>
        </mc:Choice>
        <mc:Fallback xmlns="">
          <p:sp>
            <p:nvSpPr>
              <p:cNvPr id="4" name="TextBox 3">
                <a:extLst>
                  <a:ext uri="{FF2B5EF4-FFF2-40B4-BE49-F238E27FC236}">
                    <a16:creationId xmlns:a16="http://schemas.microsoft.com/office/drawing/2014/main" id="{8A91A9B5-21CD-CAA5-E0DA-355E4A4030E3}"/>
                  </a:ext>
                </a:extLst>
              </p:cNvPr>
              <p:cNvSpPr txBox="1">
                <a:spLocks noRot="1" noChangeAspect="1" noMove="1" noResize="1" noEditPoints="1" noAdjustHandles="1" noChangeArrowheads="1" noChangeShapeType="1" noTextEdit="1"/>
              </p:cNvSpPr>
              <p:nvPr/>
            </p:nvSpPr>
            <p:spPr>
              <a:xfrm>
                <a:off x="859567" y="1907757"/>
                <a:ext cx="5838137" cy="978345"/>
              </a:xfrm>
              <a:prstGeom prst="rect">
                <a:avLst/>
              </a:prstGeom>
              <a:blipFill>
                <a:blip r:embed="rId2"/>
                <a:stretch>
                  <a:fillRect l="-9761" t="-135897" b="-17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D4A48D-5E8A-9275-EB0A-66E1A8ED4D66}"/>
                  </a:ext>
                </a:extLst>
              </p:cNvPr>
              <p:cNvSpPr txBox="1"/>
              <p:nvPr/>
            </p:nvSpPr>
            <p:spPr>
              <a:xfrm>
                <a:off x="5219129" y="2547993"/>
                <a:ext cx="6972871"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 </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e>
                      </m:d>
                      <m:nary>
                        <m:naryPr>
                          <m:chr m:val="∑"/>
                          <m:supHide m:val="on"/>
                          <m:ctrlPr>
                            <a:rPr lang="en-US" sz="2400" i="1">
                              <a:solidFill>
                                <a:schemeClr val="accent5">
                                  <a:lumMod val="75000"/>
                                </a:schemeClr>
                              </a:solidFill>
                              <a:latin typeface="Cambria Math" panose="02040503050406030204" pitchFamily="18" charset="0"/>
                            </a:rPr>
                          </m:ctrlPr>
                        </m:naryPr>
                        <m:sub>
                          <m:r>
                            <a:rPr lang="en-US" sz="2400" b="0" i="1" smtClean="0">
                              <a:solidFill>
                                <a:schemeClr val="accent5">
                                  <a:lumMod val="75000"/>
                                </a:schemeClr>
                              </a:solidFill>
                              <a:latin typeface="Cambria Math" panose="02040503050406030204" pitchFamily="18" charset="0"/>
                            </a:rPr>
                            <m:t>𝑡</m:t>
                          </m:r>
                          <m:r>
                            <a:rPr lang="en-US" sz="2400" i="1">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𝑡</m:t>
                              </m:r>
                            </m:e>
                          </m:d>
                          <m:r>
                            <a:rPr lang="en-US" sz="2400" b="0" i="1" smtClean="0">
                              <a:solidFill>
                                <a:schemeClr val="accent5">
                                  <a:lumMod val="75000"/>
                                </a:schemeClr>
                              </a:solidFill>
                              <a:latin typeface="Cambria Math" panose="02040503050406030204" pitchFamily="18" charset="0"/>
                            </a:rPr>
                            <m:t> </m:t>
                          </m:r>
                          <m:d>
                            <m:dPr>
                              <m:begChr m:val="|"/>
                              <m:endChr m:val="⟩"/>
                              <m:ctrlPr>
                                <a:rPr lang="en-US" sz="2400" b="0" i="1" smtClean="0">
                                  <a:solidFill>
                                    <a:schemeClr val="accent5">
                                      <a:lumMod val="75000"/>
                                    </a:schemeClr>
                                  </a:solidFill>
                                  <a:latin typeface="Cambria Math" panose="02040503050406030204" pitchFamily="18" charset="0"/>
                                </a:rPr>
                              </m:ctrlPr>
                            </m:dPr>
                            <m:e>
                              <m:r>
                                <m:rPr>
                                  <m:sty m:val="p"/>
                                </m:rPr>
                                <a:rPr lang="en-US" sz="2400" b="0" i="0" smtClean="0">
                                  <a:solidFill>
                                    <a:schemeClr val="accent5">
                                      <a:lumMod val="75000"/>
                                    </a:schemeClr>
                                  </a:solidFill>
                                  <a:latin typeface="Cambria Math" panose="02040503050406030204" pitchFamily="18" charset="0"/>
                                </a:rPr>
                                <m:t>Φ</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e>
                          </m:d>
                          <m:r>
                            <a:rPr lang="en-US" sz="2400" b="0" i="1" smtClean="0">
                              <a:solidFill>
                                <a:schemeClr val="accent5">
                                  <a:lumMod val="75000"/>
                                </a:schemeClr>
                              </a:solidFill>
                              <a:latin typeface="Cambria Math" panose="02040503050406030204" pitchFamily="18" charset="0"/>
                            </a:rPr>
                            <m:t>+|1⟩</m:t>
                          </m:r>
                          <m:nary>
                            <m:naryPr>
                              <m:chr m:val="∑"/>
                              <m:supHide m:val="on"/>
                              <m:ctrlPr>
                                <a:rPr lang="en-US" sz="2400" i="1">
                                  <a:solidFill>
                                    <a:schemeClr val="accent5">
                                      <a:lumMod val="75000"/>
                                    </a:schemeClr>
                                  </a:solidFill>
                                  <a:latin typeface="Cambria Math" panose="02040503050406030204" pitchFamily="18" charset="0"/>
                                </a:rPr>
                              </m:ctrlPr>
                            </m:naryPr>
                            <m:sub>
                              <m:r>
                                <a:rPr lang="en-US" sz="2400" i="1">
                                  <a:solidFill>
                                    <a:schemeClr val="accent5">
                                      <a:lumMod val="75000"/>
                                    </a:schemeClr>
                                  </a:solidFill>
                                  <a:latin typeface="Cambria Math" panose="02040503050406030204" pitchFamily="18" charset="0"/>
                                </a:rPr>
                                <m:t>𝑡</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d>
                                <m:dPr>
                                  <m:begChr m:val="|"/>
                                  <m:endChr m:val="⟩"/>
                                  <m:ctrlPr>
                                    <a:rPr lang="en-US" sz="2400" i="1">
                                      <a:solidFill>
                                        <a:schemeClr val="accent5">
                                          <a:lumMod val="75000"/>
                                        </a:schemeClr>
                                      </a:solidFill>
                                      <a:latin typeface="Cambria Math" panose="02040503050406030204" pitchFamily="18" charset="0"/>
                                    </a:rPr>
                                  </m:ctrlPr>
                                </m:dPr>
                                <m:e>
                                  <m:sSup>
                                    <m:sSupPr>
                                      <m:ctrlPr>
                                        <a:rPr lang="en-US" sz="2400" b="0" i="1" smtClean="0">
                                          <a:solidFill>
                                            <a:schemeClr val="accent5">
                                              <a:lumMod val="75000"/>
                                            </a:schemeClr>
                                          </a:solidFill>
                                          <a:latin typeface="Cambria Math" panose="02040503050406030204" pitchFamily="18" charset="0"/>
                                        </a:rPr>
                                      </m:ctrlPr>
                                    </m:sSupPr>
                                    <m:e>
                                      <m:r>
                                        <a:rPr lang="en-US" sz="2400" i="1">
                                          <a:solidFill>
                                            <a:schemeClr val="accent5">
                                              <a:lumMod val="75000"/>
                                            </a:schemeClr>
                                          </a:solidFill>
                                          <a:latin typeface="Cambria Math" panose="02040503050406030204" pitchFamily="18" charset="0"/>
                                        </a:rPr>
                                        <m:t>𝑡</m:t>
                                      </m:r>
                                    </m:e>
                                    <m:sup>
                                      <m:r>
                                        <a:rPr lang="en-US" sz="2400" b="0" i="1" smtClean="0">
                                          <a:solidFill>
                                            <a:schemeClr val="accent5">
                                              <a:lumMod val="75000"/>
                                            </a:schemeClr>
                                          </a:solidFill>
                                          <a:latin typeface="Cambria Math" panose="02040503050406030204" pitchFamily="18" charset="0"/>
                                        </a:rPr>
                                        <m:t>′</m:t>
                                      </m:r>
                                    </m:sup>
                                  </m:sSup>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e>
                              </m:d>
                              <m:r>
                                <a:rPr lang="en-US" sz="2400" b="0" i="1" smtClean="0">
                                  <a:solidFill>
                                    <a:schemeClr val="accent5">
                                      <a:lumMod val="75000"/>
                                    </a:schemeClr>
                                  </a:solidFill>
                                  <a:latin typeface="Cambria Math" panose="02040503050406030204" pitchFamily="18" charset="0"/>
                                </a:rPr>
                                <m:t> </m:t>
                              </m:r>
                              <m:d>
                                <m:dPr>
                                  <m:begChr m:val="|"/>
                                  <m:endChr m:val="⟩"/>
                                  <m:ctrlPr>
                                    <a:rPr lang="en-US" sz="2400" i="1">
                                      <a:solidFill>
                                        <a:schemeClr val="accent5">
                                          <a:lumMod val="75000"/>
                                        </a:schemeClr>
                                      </a:solidFill>
                                      <a:latin typeface="Cambria Math" panose="02040503050406030204" pitchFamily="18" charset="0"/>
                                    </a:rPr>
                                  </m:ctrlPr>
                                </m:dPr>
                                <m:e>
                                  <m:r>
                                    <m:rPr>
                                      <m:sty m:val="p"/>
                                    </m:rPr>
                                    <a:rPr lang="en-US" sz="2400" b="0" i="0" smtClean="0">
                                      <a:solidFill>
                                        <a:schemeClr val="accent5">
                                          <a:lumMod val="75000"/>
                                        </a:schemeClr>
                                      </a:solidFill>
                                      <a:latin typeface="Cambria Math" panose="02040503050406030204" pitchFamily="18" charset="0"/>
                                    </a:rPr>
                                    <m:t>Φ</m:t>
                                  </m:r>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𝒆</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𝑡</m:t>
                                  </m:r>
                                  <m:r>
                                    <a:rPr lang="en-US" sz="2400" b="1" i="1" smtClean="0">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e>
                              </m:d>
                            </m:e>
                          </m:nary>
                        </m:e>
                      </m:nary>
                    </m:oMath>
                  </m:oMathPara>
                </a14:m>
                <a:endParaRPr lang="en-US" sz="2400" dirty="0"/>
              </a:p>
            </p:txBody>
          </p:sp>
        </mc:Choice>
        <mc:Fallback xmlns="">
          <p:sp>
            <p:nvSpPr>
              <p:cNvPr id="5" name="TextBox 4">
                <a:extLst>
                  <a:ext uri="{FF2B5EF4-FFF2-40B4-BE49-F238E27FC236}">
                    <a16:creationId xmlns:a16="http://schemas.microsoft.com/office/drawing/2014/main" id="{C6D4A48D-5E8A-9275-EB0A-66E1A8ED4D66}"/>
                  </a:ext>
                </a:extLst>
              </p:cNvPr>
              <p:cNvSpPr txBox="1">
                <a:spLocks noRot="1" noChangeAspect="1" noMove="1" noResize="1" noEditPoints="1" noAdjustHandles="1" noChangeArrowheads="1" noChangeShapeType="1" noTextEdit="1"/>
              </p:cNvSpPr>
              <p:nvPr/>
            </p:nvSpPr>
            <p:spPr>
              <a:xfrm>
                <a:off x="5219129" y="2547993"/>
                <a:ext cx="6972871" cy="978345"/>
              </a:xfrm>
              <a:prstGeom prst="rect">
                <a:avLst/>
              </a:prstGeom>
              <a:blipFill>
                <a:blip r:embed="rId3"/>
                <a:stretch>
                  <a:fillRect l="-2541" t="-135897" b="-17820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36E71B5-0A63-5F90-FD70-8A46E09C63AF}"/>
              </a:ext>
            </a:extLst>
          </p:cNvPr>
          <p:cNvSpPr txBox="1"/>
          <p:nvPr/>
        </p:nvSpPr>
        <p:spPr>
          <a:xfrm>
            <a:off x="859567" y="1506022"/>
            <a:ext cx="3792644" cy="461665"/>
          </a:xfrm>
          <a:prstGeom prst="rect">
            <a:avLst/>
          </a:prstGeom>
          <a:noFill/>
        </p:spPr>
        <p:txBody>
          <a:bodyPr wrap="square" rtlCol="0">
            <a:spAutoFit/>
          </a:bodyPr>
          <a:lstStyle/>
          <a:p>
            <a:r>
              <a:rPr lang="en-US" sz="2400" dirty="0"/>
              <a:t>Prepare the following state:</a:t>
            </a:r>
          </a:p>
        </p:txBody>
      </p:sp>
      <p:sp>
        <p:nvSpPr>
          <p:cNvPr id="7" name="TextBox 6">
            <a:extLst>
              <a:ext uri="{FF2B5EF4-FFF2-40B4-BE49-F238E27FC236}">
                <a16:creationId xmlns:a16="http://schemas.microsoft.com/office/drawing/2014/main" id="{2FB68B0C-0D82-8910-DEAA-2703068B3FEC}"/>
              </a:ext>
            </a:extLst>
          </p:cNvPr>
          <p:cNvSpPr txBox="1"/>
          <p:nvPr/>
        </p:nvSpPr>
        <p:spPr>
          <a:xfrm>
            <a:off x="888948" y="3036279"/>
            <a:ext cx="3251788" cy="369332"/>
          </a:xfrm>
          <a:prstGeom prst="rect">
            <a:avLst/>
          </a:prstGeom>
          <a:noFill/>
        </p:spPr>
        <p:txBody>
          <a:bodyPr wrap="none" lIns="0" tIns="0" rIns="0" bIns="0" rtlCol="0">
            <a:spAutoFit/>
          </a:bodyPr>
          <a:lstStyle/>
          <a:p>
            <a:r>
              <a:rPr lang="en-US" sz="2400" dirty="0"/>
              <a:t>Measure the last register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194E635-B039-5B2B-C72E-6E1477FFAC4A}"/>
                  </a:ext>
                </a:extLst>
              </p:cNvPr>
              <p:cNvSpPr txBox="1"/>
              <p:nvPr/>
            </p:nvSpPr>
            <p:spPr>
              <a:xfrm>
                <a:off x="888948" y="3429153"/>
                <a:ext cx="7423485" cy="461665"/>
              </a:xfrm>
              <a:prstGeom prst="rect">
                <a:avLst/>
              </a:prstGeom>
              <a:noFill/>
            </p:spPr>
            <p:txBody>
              <a:bodyPr wrap="square" rtlCol="0">
                <a:spAutoFit/>
              </a:bodyPr>
              <a:lstStyle/>
              <a:p>
                <a:r>
                  <a:rPr lang="en-US" sz="2400" dirty="0">
                    <a:solidFill>
                      <a:schemeClr val="accent6"/>
                    </a:solidFill>
                  </a:rPr>
                  <a:t>Good Case</a:t>
                </a:r>
                <a:r>
                  <a:rPr lang="en-US" sz="2400" dirty="0"/>
                  <a:t>: Both </a:t>
                </a:r>
                <a14:m>
                  <m:oMath xmlns:m="http://schemas.openxmlformats.org/officeDocument/2006/math">
                    <m:r>
                      <a:rPr lang="en-US" sz="2400" b="0" i="1" smtClean="0">
                        <a:solidFill>
                          <a:schemeClr val="accent5">
                            <a:lumMod val="75000"/>
                          </a:schemeClr>
                        </a:solidFill>
                        <a:latin typeface="Cambria Math" panose="02040503050406030204" pitchFamily="18" charset="0"/>
                      </a:rPr>
                      <m:t>𝑡</m:t>
                    </m:r>
                    <m:r>
                      <a:rPr lang="en-US" sz="2400" b="1" i="1" smtClean="0">
                        <a:solidFill>
                          <a:schemeClr val="accent5">
                            <a:lumMod val="75000"/>
                          </a:schemeClr>
                        </a:solidFill>
                        <a:latin typeface="Cambria Math" panose="02040503050406030204" pitchFamily="18" charset="0"/>
                      </a:rPr>
                      <m:t>𝒂</m:t>
                    </m:r>
                  </m:oMath>
                </a14:m>
                <a:r>
                  <a:rPr lang="en-US" sz="2400" dirty="0"/>
                  <a:t> and </a:t>
                </a:r>
                <a14:m>
                  <m:oMath xmlns:m="http://schemas.openxmlformats.org/officeDocument/2006/math">
                    <m:r>
                      <a:rPr lang="en-US" sz="2400" b="1" i="1" smtClean="0">
                        <a:solidFill>
                          <a:schemeClr val="accent5">
                            <a:lumMod val="75000"/>
                          </a:schemeClr>
                        </a:solidFill>
                        <a:latin typeface="Cambria Math" panose="02040503050406030204" pitchFamily="18" charset="0"/>
                      </a:rPr>
                      <m:t>𝒆</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𝑡</m:t>
                    </m:r>
                    <m:r>
                      <a:rPr lang="en-US" sz="2400" b="1" i="1" smtClean="0">
                        <a:solidFill>
                          <a:schemeClr val="accent5">
                            <a:lumMod val="75000"/>
                          </a:schemeClr>
                        </a:solidFill>
                        <a:latin typeface="Cambria Math" panose="02040503050406030204" pitchFamily="18" charset="0"/>
                      </a:rPr>
                      <m:t>𝒂</m:t>
                    </m:r>
                  </m:oMath>
                </a14:m>
                <a:r>
                  <a:rPr lang="en-US" sz="2400" dirty="0">
                    <a:solidFill>
                      <a:schemeClr val="accent5">
                        <a:lumMod val="75000"/>
                      </a:schemeClr>
                    </a:solidFill>
                  </a:rPr>
                  <a:t> </a:t>
                </a:r>
                <a:r>
                  <a:rPr lang="en-US" sz="2400" dirty="0"/>
                  <a:t>belong to the same cell</a:t>
                </a:r>
              </a:p>
            </p:txBody>
          </p:sp>
        </mc:Choice>
        <mc:Fallback xmlns="">
          <p:sp>
            <p:nvSpPr>
              <p:cNvPr id="8" name="TextBox 7">
                <a:extLst>
                  <a:ext uri="{FF2B5EF4-FFF2-40B4-BE49-F238E27FC236}">
                    <a16:creationId xmlns:a16="http://schemas.microsoft.com/office/drawing/2014/main" id="{9194E635-B039-5B2B-C72E-6E1477FFAC4A}"/>
                  </a:ext>
                </a:extLst>
              </p:cNvPr>
              <p:cNvSpPr txBox="1">
                <a:spLocks noRot="1" noChangeAspect="1" noMove="1" noResize="1" noEditPoints="1" noAdjustHandles="1" noChangeArrowheads="1" noChangeShapeType="1" noTextEdit="1"/>
              </p:cNvSpPr>
              <p:nvPr/>
            </p:nvSpPr>
            <p:spPr>
              <a:xfrm>
                <a:off x="888948" y="3429153"/>
                <a:ext cx="7423485" cy="461665"/>
              </a:xfrm>
              <a:prstGeom prst="rect">
                <a:avLst/>
              </a:prstGeom>
              <a:blipFill>
                <a:blip r:embed="rId4"/>
                <a:stretch>
                  <a:fillRect l="-1368" t="-13514" r="-513"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D99CF1-C15B-3A52-7839-EA20CBF71459}"/>
                  </a:ext>
                </a:extLst>
              </p:cNvPr>
              <p:cNvSpPr txBox="1"/>
              <p:nvPr/>
            </p:nvSpPr>
            <p:spPr>
              <a:xfrm>
                <a:off x="3047680" y="3936798"/>
                <a:ext cx="218611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r>
                            <a:rPr lang="en-US" sz="2400" b="0" i="1" smtClean="0">
                              <a:solidFill>
                                <a:schemeClr val="accent5">
                                  <a:lumMod val="75000"/>
                                </a:schemeClr>
                              </a:solidFill>
                              <a:latin typeface="Cambria Math" panose="02040503050406030204" pitchFamily="18" charset="0"/>
                            </a:rPr>
                            <m:t>𝑡</m:t>
                          </m:r>
                        </m:e>
                      </m:d>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𝑡</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r>
                        <a:rPr lang="en-US" sz="2400" b="0" i="1" smtClean="0">
                          <a:solidFill>
                            <a:schemeClr val="accent5">
                              <a:lumMod val="75000"/>
                            </a:schemeClr>
                          </a:solidFill>
                          <a:latin typeface="Cambria Math" panose="02040503050406030204" pitchFamily="18" charset="0"/>
                        </a:rPr>
                        <m:t>⟩</m:t>
                      </m:r>
                    </m:oMath>
                  </m:oMathPara>
                </a14:m>
                <a:endParaRPr lang="en-US" sz="2400" dirty="0">
                  <a:solidFill>
                    <a:schemeClr val="accent5">
                      <a:lumMod val="75000"/>
                    </a:schemeClr>
                  </a:solidFill>
                </a:endParaRPr>
              </a:p>
            </p:txBody>
          </p:sp>
        </mc:Choice>
        <mc:Fallback xmlns="">
          <p:sp>
            <p:nvSpPr>
              <p:cNvPr id="9" name="TextBox 8">
                <a:extLst>
                  <a:ext uri="{FF2B5EF4-FFF2-40B4-BE49-F238E27FC236}">
                    <a16:creationId xmlns:a16="http://schemas.microsoft.com/office/drawing/2014/main" id="{B0D99CF1-C15B-3A52-7839-EA20CBF71459}"/>
                  </a:ext>
                </a:extLst>
              </p:cNvPr>
              <p:cNvSpPr txBox="1">
                <a:spLocks noRot="1" noChangeAspect="1" noMove="1" noResize="1" noEditPoints="1" noAdjustHandles="1" noChangeArrowheads="1" noChangeShapeType="1" noTextEdit="1"/>
              </p:cNvSpPr>
              <p:nvPr/>
            </p:nvSpPr>
            <p:spPr>
              <a:xfrm>
                <a:off x="3047680" y="3936798"/>
                <a:ext cx="2186111" cy="369332"/>
              </a:xfrm>
              <a:prstGeom prst="rect">
                <a:avLst/>
              </a:prstGeom>
              <a:blipFill>
                <a:blip r:embed="rId5"/>
                <a:stretch>
                  <a:fillRect t="-3448" r="-4624" b="-3103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18B4342D-549E-63BB-45E8-921EE0BDCB81}"/>
              </a:ext>
            </a:extLst>
          </p:cNvPr>
          <p:cNvSpPr txBox="1"/>
          <p:nvPr/>
        </p:nvSpPr>
        <p:spPr>
          <a:xfrm>
            <a:off x="859567" y="3889452"/>
            <a:ext cx="2273375" cy="461665"/>
          </a:xfrm>
          <a:prstGeom prst="rect">
            <a:avLst/>
          </a:prstGeom>
          <a:noFill/>
        </p:spPr>
        <p:txBody>
          <a:bodyPr wrap="square" rtlCol="0">
            <a:spAutoFit/>
          </a:bodyPr>
          <a:lstStyle/>
          <a:p>
            <a:r>
              <a:rPr lang="en-US" sz="2400" dirty="0"/>
              <a:t>We are left with</a:t>
            </a:r>
          </a:p>
        </p:txBody>
      </p:sp>
      <p:sp>
        <p:nvSpPr>
          <p:cNvPr id="11" name="TextBox 10">
            <a:extLst>
              <a:ext uri="{FF2B5EF4-FFF2-40B4-BE49-F238E27FC236}">
                <a16:creationId xmlns:a16="http://schemas.microsoft.com/office/drawing/2014/main" id="{3A42560F-B6B6-AF9E-17A4-7DE634CAB378}"/>
              </a:ext>
            </a:extLst>
          </p:cNvPr>
          <p:cNvSpPr txBox="1"/>
          <p:nvPr/>
        </p:nvSpPr>
        <p:spPr>
          <a:xfrm>
            <a:off x="5597821" y="3887593"/>
            <a:ext cx="4139594" cy="461665"/>
          </a:xfrm>
          <a:prstGeom prst="rect">
            <a:avLst/>
          </a:prstGeom>
          <a:noFill/>
        </p:spPr>
        <p:txBody>
          <a:bodyPr wrap="square" rtlCol="0">
            <a:spAutoFit/>
          </a:bodyPr>
          <a:lstStyle/>
          <a:p>
            <a:r>
              <a:rPr lang="en-US" sz="2400" dirty="0">
                <a:solidFill>
                  <a:schemeClr val="accent6"/>
                </a:solidFill>
              </a:rPr>
              <a:t>This is a Dihedral coset state!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21687A2-7823-66B2-96CD-9299C21174A1}"/>
                  </a:ext>
                </a:extLst>
              </p:cNvPr>
              <p:cNvSpPr txBox="1"/>
              <p:nvPr/>
            </p:nvSpPr>
            <p:spPr>
              <a:xfrm>
                <a:off x="838200" y="4418926"/>
                <a:ext cx="6621379" cy="461665"/>
              </a:xfrm>
              <a:prstGeom prst="rect">
                <a:avLst/>
              </a:prstGeom>
              <a:noFill/>
            </p:spPr>
            <p:txBody>
              <a:bodyPr wrap="square" rtlCol="0">
                <a:spAutoFit/>
              </a:bodyPr>
              <a:lstStyle/>
              <a:p>
                <a:r>
                  <a:rPr lang="en-US" sz="2400" dirty="0">
                    <a:solidFill>
                      <a:srgbClr val="FF0000"/>
                    </a:solidFill>
                  </a:rPr>
                  <a:t>Bad Case</a:t>
                </a:r>
                <a:r>
                  <a:rPr lang="en-US" sz="2400" dirty="0"/>
                  <a:t>: </a:t>
                </a:r>
                <a14:m>
                  <m:oMath xmlns:m="http://schemas.openxmlformats.org/officeDocument/2006/math">
                    <m:r>
                      <a:rPr lang="en-US" sz="2400" i="1" smtClean="0">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oMath>
                </a14:m>
                <a:r>
                  <a:rPr lang="en-US" sz="2400" dirty="0"/>
                  <a:t> and </a:t>
                </a:r>
                <a14:m>
                  <m:oMath xmlns:m="http://schemas.openxmlformats.org/officeDocument/2006/math">
                    <m:r>
                      <a:rPr lang="en-US" sz="2400" b="1" i="1" smtClean="0">
                        <a:solidFill>
                          <a:schemeClr val="accent5">
                            <a:lumMod val="75000"/>
                          </a:schemeClr>
                        </a:solidFill>
                        <a:latin typeface="Cambria Math" panose="02040503050406030204" pitchFamily="18" charset="0"/>
                      </a:rPr>
                      <m:t>𝒆</m:t>
                    </m:r>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𝒂</m:t>
                    </m:r>
                  </m:oMath>
                </a14:m>
                <a:r>
                  <a:rPr lang="en-US" sz="2400" dirty="0">
                    <a:solidFill>
                      <a:schemeClr val="accent5">
                        <a:lumMod val="75000"/>
                      </a:schemeClr>
                    </a:solidFill>
                  </a:rPr>
                  <a:t> </a:t>
                </a:r>
                <a:r>
                  <a:rPr lang="en-US" sz="2400" dirty="0"/>
                  <a:t>belong to different cells</a:t>
                </a:r>
              </a:p>
            </p:txBody>
          </p:sp>
        </mc:Choice>
        <mc:Fallback xmlns="">
          <p:sp>
            <p:nvSpPr>
              <p:cNvPr id="12" name="TextBox 11">
                <a:extLst>
                  <a:ext uri="{FF2B5EF4-FFF2-40B4-BE49-F238E27FC236}">
                    <a16:creationId xmlns:a16="http://schemas.microsoft.com/office/drawing/2014/main" id="{F21687A2-7823-66B2-96CD-9299C21174A1}"/>
                  </a:ext>
                </a:extLst>
              </p:cNvPr>
              <p:cNvSpPr txBox="1">
                <a:spLocks noRot="1" noChangeAspect="1" noMove="1" noResize="1" noEditPoints="1" noAdjustHandles="1" noChangeArrowheads="1" noChangeShapeType="1" noTextEdit="1"/>
              </p:cNvSpPr>
              <p:nvPr/>
            </p:nvSpPr>
            <p:spPr>
              <a:xfrm>
                <a:off x="838200" y="4418926"/>
                <a:ext cx="6621379" cy="461665"/>
              </a:xfrm>
              <a:prstGeom prst="rect">
                <a:avLst/>
              </a:prstGeom>
              <a:blipFill>
                <a:blip r:embed="rId6"/>
                <a:stretch>
                  <a:fillRect l="-1533"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1CCEA18-8CC6-EA20-3AC9-C2CC26686333}"/>
                  </a:ext>
                </a:extLst>
              </p:cNvPr>
              <p:cNvSpPr txBox="1"/>
              <p:nvPr/>
            </p:nvSpPr>
            <p:spPr>
              <a:xfrm rot="10800000" flipH="1" flipV="1">
                <a:off x="3154693" y="4877312"/>
                <a:ext cx="7147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𝑏</m:t>
                          </m:r>
                        </m:e>
                      </m:d>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𝑡</m:t>
                          </m:r>
                        </m:e>
                      </m:d>
                    </m:oMath>
                  </m:oMathPara>
                </a14:m>
                <a:endParaRPr lang="en-US" sz="2400" dirty="0"/>
              </a:p>
            </p:txBody>
          </p:sp>
        </mc:Choice>
        <mc:Fallback xmlns="">
          <p:sp>
            <p:nvSpPr>
              <p:cNvPr id="15" name="TextBox 14">
                <a:extLst>
                  <a:ext uri="{FF2B5EF4-FFF2-40B4-BE49-F238E27FC236}">
                    <a16:creationId xmlns:a16="http://schemas.microsoft.com/office/drawing/2014/main" id="{71CCEA18-8CC6-EA20-3AC9-C2CC26686333}"/>
                  </a:ext>
                </a:extLst>
              </p:cNvPr>
              <p:cNvSpPr txBox="1">
                <a:spLocks noRot="1" noChangeAspect="1" noMove="1" noResize="1" noEditPoints="1" noAdjustHandles="1" noChangeArrowheads="1" noChangeShapeType="1" noTextEdit="1"/>
              </p:cNvSpPr>
              <p:nvPr/>
            </p:nvSpPr>
            <p:spPr>
              <a:xfrm rot="10800000" flipH="1" flipV="1">
                <a:off x="3154693" y="4877312"/>
                <a:ext cx="714770" cy="461665"/>
              </a:xfrm>
              <a:prstGeom prst="rect">
                <a:avLst/>
              </a:prstGeom>
              <a:blipFill>
                <a:blip r:embed="rId7"/>
                <a:stretch>
                  <a:fillRect r="-10526"/>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D04FB065-2207-98A8-81DD-2C5F7F57AA17}"/>
              </a:ext>
            </a:extLst>
          </p:cNvPr>
          <p:cNvSpPr txBox="1"/>
          <p:nvPr/>
        </p:nvSpPr>
        <p:spPr>
          <a:xfrm>
            <a:off x="888948" y="4877312"/>
            <a:ext cx="2298323" cy="461665"/>
          </a:xfrm>
          <a:prstGeom prst="rect">
            <a:avLst/>
          </a:prstGeom>
          <a:noFill/>
        </p:spPr>
        <p:txBody>
          <a:bodyPr wrap="square" rtlCol="0">
            <a:spAutoFit/>
          </a:bodyPr>
          <a:lstStyle/>
          <a:p>
            <a:r>
              <a:rPr lang="en-US" sz="2400" dirty="0"/>
              <a:t>We are left with</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0422938-6E19-C49F-F53F-6DD78F4417FD}"/>
                  </a:ext>
                </a:extLst>
              </p:cNvPr>
              <p:cNvSpPr txBox="1"/>
              <p:nvPr/>
            </p:nvSpPr>
            <p:spPr>
              <a:xfrm>
                <a:off x="4600690" y="4895908"/>
                <a:ext cx="3094673" cy="490199"/>
              </a:xfrm>
              <a:prstGeom prst="rect">
                <a:avLst/>
              </a:prstGeom>
              <a:noFill/>
            </p:spPr>
            <p:txBody>
              <a:bodyPr wrap="square" rtlCol="0">
                <a:spAutoFit/>
              </a:bodyPr>
              <a:lstStyle/>
              <a:p>
                <a:r>
                  <a:rPr lang="en-US" sz="2400" dirty="0"/>
                  <a:t>For </a:t>
                </a:r>
                <a14:m>
                  <m:oMath xmlns:m="http://schemas.openxmlformats.org/officeDocument/2006/math">
                    <m: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r>
                      <m:rPr>
                        <m:lit/>
                      </m:rP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0,1</m:t>
                    </m:r>
                    <m:r>
                      <m:rPr>
                        <m:lit/>
                      </m:rP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𝑡</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endParaRPr lang="en-US" sz="2400" dirty="0"/>
              </a:p>
            </p:txBody>
          </p:sp>
        </mc:Choice>
        <mc:Fallback xmlns="">
          <p:sp>
            <p:nvSpPr>
              <p:cNvPr id="17" name="TextBox 16">
                <a:extLst>
                  <a:ext uri="{FF2B5EF4-FFF2-40B4-BE49-F238E27FC236}">
                    <a16:creationId xmlns:a16="http://schemas.microsoft.com/office/drawing/2014/main" id="{60422938-6E19-C49F-F53F-6DD78F4417FD}"/>
                  </a:ext>
                </a:extLst>
              </p:cNvPr>
              <p:cNvSpPr txBox="1">
                <a:spLocks noRot="1" noChangeAspect="1" noMove="1" noResize="1" noEditPoints="1" noAdjustHandles="1" noChangeArrowheads="1" noChangeShapeType="1" noTextEdit="1"/>
              </p:cNvSpPr>
              <p:nvPr/>
            </p:nvSpPr>
            <p:spPr>
              <a:xfrm>
                <a:off x="4600690" y="4895908"/>
                <a:ext cx="3094673" cy="490199"/>
              </a:xfrm>
              <a:prstGeom prst="rect">
                <a:avLst/>
              </a:prstGeom>
              <a:blipFill>
                <a:blip r:embed="rId8"/>
                <a:stretch>
                  <a:fillRect l="-3279" t="-7500" b="-225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C42997CE-38F3-3C1D-26FC-D40FED575028}"/>
              </a:ext>
            </a:extLst>
          </p:cNvPr>
          <p:cNvSpPr txBox="1"/>
          <p:nvPr/>
        </p:nvSpPr>
        <p:spPr>
          <a:xfrm>
            <a:off x="888948" y="5875449"/>
            <a:ext cx="10161359" cy="461665"/>
          </a:xfrm>
          <a:prstGeom prst="rect">
            <a:avLst/>
          </a:prstGeom>
          <a:noFill/>
        </p:spPr>
        <p:txBody>
          <a:bodyPr wrap="square" rtlCol="0">
            <a:spAutoFit/>
          </a:bodyPr>
          <a:lstStyle/>
          <a:p>
            <a:r>
              <a:rPr lang="en-US" sz="2400" dirty="0">
                <a:solidFill>
                  <a:srgbClr val="FF0000"/>
                </a:solidFill>
              </a:rPr>
              <a:t>Problem: We can’t detect which is the case, so can’t throw away a bad state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4C3A809-7141-E61C-C6B7-18FDD69C5E37}"/>
                  </a:ext>
                </a:extLst>
              </p:cNvPr>
              <p:cNvSpPr txBox="1"/>
              <p:nvPr/>
            </p:nvSpPr>
            <p:spPr>
              <a:xfrm>
                <a:off x="888948" y="5401637"/>
                <a:ext cx="5961031" cy="461665"/>
              </a:xfrm>
              <a:prstGeom prst="rect">
                <a:avLst/>
              </a:prstGeom>
              <a:noFill/>
            </p:spPr>
            <p:txBody>
              <a:bodyPr wrap="square" rtlCol="0">
                <a:spAutoFit/>
              </a:bodyPr>
              <a:lstStyle/>
              <a:p>
                <a:r>
                  <a:rPr lang="en-US" sz="2400" dirty="0"/>
                  <a:t>Probability of bad state: inverse poly in </a:t>
                </a:r>
                <a14:m>
                  <m:oMath xmlns:m="http://schemas.openxmlformats.org/officeDocument/2006/math">
                    <m:func>
                      <m:funcPr>
                        <m:ctrlPr>
                          <a:rPr lang="en-US" sz="2400" i="1" smtClean="0">
                            <a:solidFill>
                              <a:schemeClr val="accent5">
                                <a:lumMod val="75000"/>
                              </a:schemeClr>
                            </a:solidFill>
                            <a:latin typeface="Cambria Math" panose="02040503050406030204" pitchFamily="18" charset="0"/>
                          </a:rPr>
                        </m:ctrlPr>
                      </m:funcPr>
                      <m:fName>
                        <m:r>
                          <m:rPr>
                            <m:sty m:val="p"/>
                          </m:rPr>
                          <a:rPr lang="en-US" sz="2400" i="0" smtClean="0">
                            <a:solidFill>
                              <a:schemeClr val="accent5">
                                <a:lumMod val="75000"/>
                              </a:schemeClr>
                            </a:solidFill>
                            <a:latin typeface="Cambria Math" panose="02040503050406030204" pitchFamily="18" charset="0"/>
                          </a:rPr>
                          <m:t>log</m:t>
                        </m:r>
                      </m:fName>
                      <m:e>
                        <m:r>
                          <a:rPr lang="en-US" sz="2400" b="0" i="1" smtClean="0">
                            <a:solidFill>
                              <a:schemeClr val="accent5">
                                <a:lumMod val="75000"/>
                              </a:schemeClr>
                            </a:solidFill>
                            <a:latin typeface="Cambria Math" panose="02040503050406030204" pitchFamily="18" charset="0"/>
                          </a:rPr>
                          <m:t>𝑞</m:t>
                        </m:r>
                      </m:e>
                    </m:func>
                  </m:oMath>
                </a14:m>
                <a:r>
                  <a:rPr lang="en-US" sz="2400" dirty="0">
                    <a:solidFill>
                      <a:schemeClr val="accent5">
                        <a:lumMod val="75000"/>
                      </a:schemeClr>
                    </a:solidFill>
                  </a:rPr>
                  <a:t> </a:t>
                </a:r>
                <a:endParaRPr lang="en-US" sz="2400" dirty="0"/>
              </a:p>
            </p:txBody>
          </p:sp>
        </mc:Choice>
        <mc:Fallback xmlns="">
          <p:sp>
            <p:nvSpPr>
              <p:cNvPr id="19" name="TextBox 18">
                <a:extLst>
                  <a:ext uri="{FF2B5EF4-FFF2-40B4-BE49-F238E27FC236}">
                    <a16:creationId xmlns:a16="http://schemas.microsoft.com/office/drawing/2014/main" id="{B4C3A809-7141-E61C-C6B7-18FDD69C5E37}"/>
                  </a:ext>
                </a:extLst>
              </p:cNvPr>
              <p:cNvSpPr txBox="1">
                <a:spLocks noRot="1" noChangeAspect="1" noMove="1" noResize="1" noEditPoints="1" noAdjustHandles="1" noChangeArrowheads="1" noChangeShapeType="1" noTextEdit="1"/>
              </p:cNvSpPr>
              <p:nvPr/>
            </p:nvSpPr>
            <p:spPr>
              <a:xfrm>
                <a:off x="888948" y="5401637"/>
                <a:ext cx="5961031" cy="461665"/>
              </a:xfrm>
              <a:prstGeom prst="rect">
                <a:avLst/>
              </a:prstGeom>
              <a:blipFill>
                <a:blip r:embed="rId9"/>
                <a:stretch>
                  <a:fillRect l="-1702"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721650C-6209-87E7-5859-A12B6BE347BF}"/>
                  </a:ext>
                </a:extLst>
              </p:cNvPr>
              <p:cNvSpPr txBox="1"/>
              <p:nvPr/>
            </p:nvSpPr>
            <p:spPr>
              <a:xfrm>
                <a:off x="888949" y="6199106"/>
                <a:ext cx="10464852" cy="645048"/>
              </a:xfrm>
              <a:prstGeom prst="rect">
                <a:avLst/>
              </a:prstGeom>
              <a:noFill/>
            </p:spPr>
            <p:txBody>
              <a:bodyPr wrap="square" rtlCol="0">
                <a:spAutoFit/>
              </a:bodyPr>
              <a:lstStyle/>
              <a:p>
                <a14:m>
                  <m:oMath xmlns:m="http://schemas.openxmlformats.org/officeDocument/2006/math">
                    <m:r>
                      <a:rPr lang="en-US" sz="2400" b="0" i="1" smtClean="0">
                        <a:latin typeface="Cambria Math" panose="02040503050406030204" pitchFamily="18" charset="0"/>
                      </a:rPr>
                      <m:t>∴</m:t>
                    </m:r>
                  </m:oMath>
                </a14:m>
                <a:r>
                  <a:rPr lang="en-US" sz="2400" dirty="0"/>
                  <a:t> Can only produce poly many correct states </a:t>
                </a:r>
                <a:r>
                  <a:rPr lang="en-US" sz="2400" dirty="0" err="1"/>
                  <a:t>w.h.p</a:t>
                </a:r>
                <a:r>
                  <a:rPr lang="en-US" sz="2400" dirty="0"/>
                  <a:t>. instead of </a:t>
                </a:r>
                <a14:m>
                  <m:oMath xmlns:m="http://schemas.openxmlformats.org/officeDocument/2006/math">
                    <m:func>
                      <m:funcPr>
                        <m:ctrlPr>
                          <a:rPr lang="en-US" sz="2400" b="0" i="1" smtClean="0">
                            <a:solidFill>
                              <a:schemeClr val="accent5">
                                <a:lumMod val="75000"/>
                              </a:schemeClr>
                            </a:solidFill>
                            <a:latin typeface="Cambria Math" panose="02040503050406030204" pitchFamily="18" charset="0"/>
                          </a:rPr>
                        </m:ctrlPr>
                      </m:funcPr>
                      <m:fName>
                        <m:r>
                          <m:rPr>
                            <m:sty m:val="p"/>
                          </m:rPr>
                          <a:rPr lang="en-US" sz="2400" b="0" i="0" smtClean="0">
                            <a:solidFill>
                              <a:schemeClr val="accent5">
                                <a:lumMod val="75000"/>
                              </a:schemeClr>
                            </a:solidFill>
                            <a:latin typeface="Cambria Math" panose="02040503050406030204" pitchFamily="18" charset="0"/>
                          </a:rPr>
                          <m:t>exp</m:t>
                        </m:r>
                      </m:fName>
                      <m:e>
                        <m:d>
                          <m:dPr>
                            <m:ctrlPr>
                              <a:rPr lang="en-US" sz="2400" b="0" i="1" smtClean="0">
                                <a:solidFill>
                                  <a:schemeClr val="accent5">
                                    <a:lumMod val="75000"/>
                                  </a:schemeClr>
                                </a:solidFill>
                                <a:latin typeface="Cambria Math" panose="02040503050406030204" pitchFamily="18" charset="0"/>
                              </a:rPr>
                            </m:ctrlPr>
                          </m:dPr>
                          <m:e>
                            <m:r>
                              <m:rPr>
                                <m:sty m:val="p"/>
                              </m:rPr>
                              <a:rPr lang="en-US" sz="2400" b="0" i="0" smtClean="0">
                                <a:solidFill>
                                  <a:schemeClr val="accent5">
                                    <a:lumMod val="75000"/>
                                  </a:schemeClr>
                                </a:solidFill>
                                <a:latin typeface="Cambria Math" panose="02040503050406030204" pitchFamily="18" charset="0"/>
                              </a:rPr>
                              <m:t>Θ</m:t>
                            </m:r>
                            <m:d>
                              <m:dPr>
                                <m:ctrlPr>
                                  <a:rPr lang="en-US" sz="2400" b="0" i="1" smtClean="0">
                                    <a:solidFill>
                                      <a:schemeClr val="accent5">
                                        <a:lumMod val="75000"/>
                                      </a:schemeClr>
                                    </a:solidFill>
                                    <a:latin typeface="Cambria Math" panose="02040503050406030204" pitchFamily="18" charset="0"/>
                                  </a:rPr>
                                </m:ctrlPr>
                              </m:dPr>
                              <m:e>
                                <m:rad>
                                  <m:radPr>
                                    <m:degHide m:val="on"/>
                                    <m:ctrlPr>
                                      <a:rPr lang="en-US" sz="2400" b="0" i="1" smtClean="0">
                                        <a:solidFill>
                                          <a:schemeClr val="accent5">
                                            <a:lumMod val="75000"/>
                                          </a:schemeClr>
                                        </a:solidFill>
                                        <a:latin typeface="Cambria Math" panose="02040503050406030204" pitchFamily="18" charset="0"/>
                                      </a:rPr>
                                    </m:ctrlPr>
                                  </m:radPr>
                                  <m:deg/>
                                  <m:e>
                                    <m:func>
                                      <m:funcPr>
                                        <m:ctrlPr>
                                          <a:rPr lang="en-US" sz="2400" b="0" i="1" smtClean="0">
                                            <a:solidFill>
                                              <a:schemeClr val="accent5">
                                                <a:lumMod val="75000"/>
                                              </a:schemeClr>
                                            </a:solidFill>
                                            <a:latin typeface="Cambria Math" panose="02040503050406030204" pitchFamily="18" charset="0"/>
                                          </a:rPr>
                                        </m:ctrlPr>
                                      </m:funcPr>
                                      <m:fName>
                                        <m:r>
                                          <m:rPr>
                                            <m:sty m:val="p"/>
                                          </m:rPr>
                                          <a:rPr lang="en-US" sz="2400" b="0" i="0" smtClean="0">
                                            <a:solidFill>
                                              <a:schemeClr val="accent5">
                                                <a:lumMod val="75000"/>
                                              </a:schemeClr>
                                            </a:solidFill>
                                            <a:latin typeface="Cambria Math" panose="02040503050406030204" pitchFamily="18" charset="0"/>
                                          </a:rPr>
                                          <m:t>log</m:t>
                                        </m:r>
                                      </m:fName>
                                      <m:e>
                                        <m:r>
                                          <a:rPr lang="en-US" sz="2400" b="0" i="1" smtClean="0">
                                            <a:solidFill>
                                              <a:schemeClr val="accent5">
                                                <a:lumMod val="75000"/>
                                              </a:schemeClr>
                                            </a:solidFill>
                                            <a:latin typeface="Cambria Math" panose="02040503050406030204" pitchFamily="18" charset="0"/>
                                          </a:rPr>
                                          <m:t>𝑞</m:t>
                                        </m:r>
                                      </m:e>
                                    </m:func>
                                  </m:e>
                                </m:rad>
                              </m:e>
                            </m:d>
                          </m:e>
                        </m:d>
                      </m:e>
                    </m:func>
                  </m:oMath>
                </a14:m>
                <a:endParaRPr lang="en-US" sz="2400" dirty="0"/>
              </a:p>
            </p:txBody>
          </p:sp>
        </mc:Choice>
        <mc:Fallback xmlns="">
          <p:sp>
            <p:nvSpPr>
              <p:cNvPr id="20" name="TextBox 19">
                <a:extLst>
                  <a:ext uri="{FF2B5EF4-FFF2-40B4-BE49-F238E27FC236}">
                    <a16:creationId xmlns:a16="http://schemas.microsoft.com/office/drawing/2014/main" id="{4721650C-6209-87E7-5859-A12B6BE347BF}"/>
                  </a:ext>
                </a:extLst>
              </p:cNvPr>
              <p:cNvSpPr txBox="1">
                <a:spLocks noRot="1" noChangeAspect="1" noMove="1" noResize="1" noEditPoints="1" noAdjustHandles="1" noChangeArrowheads="1" noChangeShapeType="1" noTextEdit="1"/>
              </p:cNvSpPr>
              <p:nvPr/>
            </p:nvSpPr>
            <p:spPr>
              <a:xfrm>
                <a:off x="888949" y="6199106"/>
                <a:ext cx="10464852" cy="645048"/>
              </a:xfrm>
              <a:prstGeom prst="rect">
                <a:avLst/>
              </a:prstGeom>
              <a:blipFill>
                <a:blip r:embed="rId10"/>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F3C3D2E-C060-1B9D-305D-3758F37E9D84}"/>
                  </a:ext>
                </a:extLst>
              </p:cNvPr>
              <p:cNvSpPr txBox="1"/>
              <p:nvPr/>
            </p:nvSpPr>
            <p:spPr>
              <a:xfrm>
                <a:off x="6432947" y="1270157"/>
                <a:ext cx="5943600" cy="490199"/>
              </a:xfrm>
              <a:prstGeom prst="rect">
                <a:avLst/>
              </a:prstGeom>
              <a:noFill/>
            </p:spPr>
            <p:txBody>
              <a:bodyPr wrap="square" rtlCol="0">
                <a:spAutoFit/>
              </a:bodyPr>
              <a:lstStyle/>
              <a:p>
                <a14:m>
                  <m:oMath xmlns:m="http://schemas.openxmlformats.org/officeDocument/2006/math">
                    <m:r>
                      <m:rPr>
                        <m:sty m:val="p"/>
                      </m:rPr>
                      <a:rPr lang="en-US" sz="2400" b="0" i="0" smtClean="0">
                        <a:solidFill>
                          <a:srgbClr val="FF0000"/>
                        </a:solidFill>
                        <a:latin typeface="Cambria Math" panose="02040503050406030204" pitchFamily="18" charset="0"/>
                      </a:rPr>
                      <m:t>Φ</m:t>
                    </m:r>
                    <m:d>
                      <m:dPr>
                        <m:ctrlPr>
                          <a:rPr lang="en-US" sz="2400" b="0" i="1" smtClean="0">
                            <a:solidFill>
                              <a:srgbClr val="FF0000"/>
                            </a:solidFill>
                            <a:latin typeface="Cambria Math" panose="02040503050406030204" pitchFamily="18" charset="0"/>
                          </a:rPr>
                        </m:ctrlPr>
                      </m:dPr>
                      <m:e>
                        <m:r>
                          <a:rPr lang="en-US" sz="2400" b="1" i="1" smtClean="0">
                            <a:solidFill>
                              <a:srgbClr val="FF0000"/>
                            </a:solidFill>
                            <a:latin typeface="Cambria Math" panose="02040503050406030204" pitchFamily="18" charset="0"/>
                          </a:rPr>
                          <m:t>𝒗</m:t>
                        </m:r>
                      </m:e>
                    </m:d>
                    <m:r>
                      <a:rPr lang="en-US" sz="2400" b="0" i="1" smtClean="0">
                        <a:solidFill>
                          <a:srgbClr val="FF0000"/>
                        </a:solidFill>
                        <a:latin typeface="Cambria Math" panose="02040503050406030204" pitchFamily="18" charset="0"/>
                      </a:rPr>
                      <m:t>:</m:t>
                    </m:r>
                  </m:oMath>
                </a14:m>
                <a:r>
                  <a:rPr lang="en-US" sz="2400" dirty="0">
                    <a:solidFill>
                      <a:srgbClr val="FF0000"/>
                    </a:solidFill>
                  </a:rPr>
                  <a:t> hypercube corresponding to </a:t>
                </a:r>
                <a14:m>
                  <m:oMath xmlns:m="http://schemas.openxmlformats.org/officeDocument/2006/math">
                    <m:r>
                      <a:rPr lang="en-US" sz="2400" b="1" i="1" smtClean="0">
                        <a:solidFill>
                          <a:srgbClr val="FF0000"/>
                        </a:solidFill>
                        <a:latin typeface="Cambria Math" panose="02040503050406030204" pitchFamily="18" charset="0"/>
                      </a:rPr>
                      <m:t>𝒗</m:t>
                    </m:r>
                    <m:r>
                      <a:rPr lang="en-US" sz="2400" b="0" i="1" smtClean="0">
                        <a:solidFill>
                          <a:srgbClr val="FF0000"/>
                        </a:solidFill>
                        <a:latin typeface="Cambria Math" panose="02040503050406030204" pitchFamily="18" charset="0"/>
                      </a:rPr>
                      <m:t>∈</m:t>
                    </m:r>
                    <m:sSubSup>
                      <m:sSubSupPr>
                        <m:ctrlPr>
                          <a:rPr lang="en-US" sz="2400" b="0" i="1" smtClean="0">
                            <a:solidFill>
                              <a:srgbClr val="FF0000"/>
                            </a:solidFill>
                            <a:latin typeface="Cambria Math" panose="02040503050406030204" pitchFamily="18" charset="0"/>
                          </a:rPr>
                        </m:ctrlPr>
                      </m:sSubSupPr>
                      <m:e>
                        <m:r>
                          <a:rPr lang="en-US" sz="2400" b="0" i="1" smtClean="0">
                            <a:solidFill>
                              <a:srgbClr val="FF0000"/>
                            </a:solidFill>
                            <a:latin typeface="Cambria Math" panose="02040503050406030204" pitchFamily="18" charset="0"/>
                          </a:rPr>
                          <m:t>ℤ</m:t>
                        </m:r>
                      </m:e>
                      <m:sub>
                        <m:r>
                          <a:rPr lang="en-US" sz="2400" b="0" i="1" smtClean="0">
                            <a:solidFill>
                              <a:srgbClr val="FF0000"/>
                            </a:solidFill>
                            <a:latin typeface="Cambria Math" panose="02040503050406030204" pitchFamily="18" charset="0"/>
                          </a:rPr>
                          <m:t>𝑞</m:t>
                        </m:r>
                      </m:sub>
                      <m:sup>
                        <m:r>
                          <a:rPr lang="en-US" sz="2400" b="0" i="1" smtClean="0">
                            <a:solidFill>
                              <a:srgbClr val="FF0000"/>
                            </a:solidFill>
                            <a:latin typeface="Cambria Math" panose="02040503050406030204" pitchFamily="18" charset="0"/>
                          </a:rPr>
                          <m:t>𝑚</m:t>
                        </m:r>
                      </m:sup>
                    </m:sSubSup>
                  </m:oMath>
                </a14:m>
                <a:endParaRPr lang="en-US" sz="2400" dirty="0">
                  <a:solidFill>
                    <a:srgbClr val="FF0000"/>
                  </a:solidFill>
                </a:endParaRPr>
              </a:p>
            </p:txBody>
          </p:sp>
        </mc:Choice>
        <mc:Fallback xmlns="">
          <p:sp>
            <p:nvSpPr>
              <p:cNvPr id="3" name="TextBox 2">
                <a:extLst>
                  <a:ext uri="{FF2B5EF4-FFF2-40B4-BE49-F238E27FC236}">
                    <a16:creationId xmlns:a16="http://schemas.microsoft.com/office/drawing/2014/main" id="{FF3C3D2E-C060-1B9D-305D-3758F37E9D84}"/>
                  </a:ext>
                </a:extLst>
              </p:cNvPr>
              <p:cNvSpPr txBox="1">
                <a:spLocks noRot="1" noChangeAspect="1" noMove="1" noResize="1" noEditPoints="1" noAdjustHandles="1" noChangeArrowheads="1" noChangeShapeType="1" noTextEdit="1"/>
              </p:cNvSpPr>
              <p:nvPr/>
            </p:nvSpPr>
            <p:spPr>
              <a:xfrm>
                <a:off x="6432947" y="1270157"/>
                <a:ext cx="5943600" cy="490199"/>
              </a:xfrm>
              <a:prstGeom prst="rect">
                <a:avLst/>
              </a:prstGeom>
              <a:blipFill>
                <a:blip r:embed="rId11"/>
                <a:stretch>
                  <a:fillRect l="-213" t="-75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3328C8E-C153-9866-10C3-BF6D30DBCE80}"/>
                  </a:ext>
                </a:extLst>
              </p:cNvPr>
              <p:cNvSpPr txBox="1"/>
              <p:nvPr/>
            </p:nvSpPr>
            <p:spPr>
              <a:xfrm>
                <a:off x="7950870" y="808492"/>
                <a:ext cx="4032582" cy="461665"/>
              </a:xfrm>
              <a:prstGeom prst="rect">
                <a:avLst/>
              </a:prstGeom>
              <a:noFill/>
            </p:spPr>
            <p:txBody>
              <a:bodyPr wrap="square" rtlCol="0">
                <a:spAutoFit/>
              </a:bodyPr>
              <a:lstStyle/>
              <a:p>
                <a:r>
                  <a:rPr lang="en-US" sz="2400" b="1" dirty="0">
                    <a:solidFill>
                      <a:srgbClr val="FF0000"/>
                    </a:solidFill>
                  </a:rPr>
                  <a:t>RHS of LWE: </a:t>
                </a:r>
                <a14:m>
                  <m:oMath xmlns:m="http://schemas.openxmlformats.org/officeDocument/2006/math">
                    <m:r>
                      <a:rPr lang="en-US" sz="2400" b="1" i="1">
                        <a:solidFill>
                          <a:srgbClr val="FF0000"/>
                        </a:solidFill>
                        <a:latin typeface="Cambria Math" panose="02040503050406030204" pitchFamily="18" charset="0"/>
                      </a:rPr>
                      <m:t>𝒃</m:t>
                    </m:r>
                    <m:r>
                      <a:rPr lang="en-US" sz="2400" b="1"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𝑠</m:t>
                    </m:r>
                    <m:r>
                      <a:rPr lang="en-US" sz="2400" b="1" i="1">
                        <a:solidFill>
                          <a:srgbClr val="FF0000"/>
                        </a:solidFill>
                        <a:latin typeface="Cambria Math" panose="02040503050406030204" pitchFamily="18" charset="0"/>
                      </a:rPr>
                      <m:t>𝒂</m:t>
                    </m:r>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𝒆</m:t>
                    </m:r>
                  </m:oMath>
                </a14:m>
                <a:endParaRPr lang="en-US" sz="2400" dirty="0">
                  <a:solidFill>
                    <a:srgbClr val="FF0000"/>
                  </a:solidFill>
                </a:endParaRPr>
              </a:p>
            </p:txBody>
          </p:sp>
        </mc:Choice>
        <mc:Fallback xmlns="">
          <p:sp>
            <p:nvSpPr>
              <p:cNvPr id="14" name="TextBox 13">
                <a:extLst>
                  <a:ext uri="{FF2B5EF4-FFF2-40B4-BE49-F238E27FC236}">
                    <a16:creationId xmlns:a16="http://schemas.microsoft.com/office/drawing/2014/main" id="{D3328C8E-C153-9866-10C3-BF6D30DBCE80}"/>
                  </a:ext>
                </a:extLst>
              </p:cNvPr>
              <p:cNvSpPr txBox="1">
                <a:spLocks noRot="1" noChangeAspect="1" noMove="1" noResize="1" noEditPoints="1" noAdjustHandles="1" noChangeArrowheads="1" noChangeShapeType="1" noTextEdit="1"/>
              </p:cNvSpPr>
              <p:nvPr/>
            </p:nvSpPr>
            <p:spPr>
              <a:xfrm>
                <a:off x="7950870" y="808492"/>
                <a:ext cx="4032582" cy="461665"/>
              </a:xfrm>
              <a:prstGeom prst="rect">
                <a:avLst/>
              </a:prstGeom>
              <a:blipFill>
                <a:blip r:embed="rId12"/>
                <a:stretch>
                  <a:fillRect l="-2194" t="-8108" b="-29730"/>
                </a:stretch>
              </a:blipFill>
            </p:spPr>
            <p:txBody>
              <a:bodyPr/>
              <a:lstStyle/>
              <a:p>
                <a:r>
                  <a:rPr lang="en-US">
                    <a:noFill/>
                  </a:rPr>
                  <a:t> </a:t>
                </a:r>
              </a:p>
            </p:txBody>
          </p:sp>
        </mc:Fallback>
      </mc:AlternateContent>
    </p:spTree>
    <p:extLst>
      <p:ext uri="{BB962C8B-B14F-4D97-AF65-F5344CB8AC3E}">
        <p14:creationId xmlns:p14="http://schemas.microsoft.com/office/powerpoint/2010/main" val="133541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5" grpId="0"/>
      <p:bldP spid="16" grpId="0"/>
      <p:bldP spid="17" grpId="0"/>
      <p:bldP spid="18" grpId="0"/>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8E8F3D5-5799-E680-763A-9A33C601FD03}"/>
                  </a:ext>
                </a:extLst>
              </p:cNvPr>
              <p:cNvSpPr>
                <a:spLocks noGrp="1"/>
              </p:cNvSpPr>
              <p:nvPr>
                <p:ph type="title"/>
              </p:nvPr>
            </p:nvSpPr>
            <p:spPr/>
            <p:txBody>
              <a:bodyPr/>
              <a:lstStyle/>
              <a:p>
                <a:r>
                  <a:rPr lang="en-US" dirty="0"/>
                  <a:t>LWE </a:t>
                </a:r>
                <a14:m>
                  <m:oMath xmlns:m="http://schemas.openxmlformats.org/officeDocument/2006/math">
                    <m:r>
                      <a:rPr lang="en-US" b="0" i="1" smtClean="0">
                        <a:latin typeface="Cambria Math" panose="02040503050406030204" pitchFamily="18" charset="0"/>
                      </a:rPr>
                      <m:t>≡</m:t>
                    </m:r>
                  </m:oMath>
                </a14:m>
                <a:r>
                  <a:rPr lang="en-US" dirty="0"/>
                  <a:t> Extrapolated DCP</a:t>
                </a:r>
              </a:p>
            </p:txBody>
          </p:sp>
        </mc:Choice>
        <mc:Fallback xmlns="">
          <p:sp>
            <p:nvSpPr>
              <p:cNvPr id="2" name="Title 1">
                <a:extLst>
                  <a:ext uri="{FF2B5EF4-FFF2-40B4-BE49-F238E27FC236}">
                    <a16:creationId xmlns:a16="http://schemas.microsoft.com/office/drawing/2014/main" id="{88E8F3D5-5799-E680-763A-9A33C601FD03}"/>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DD768FB-AF6A-5187-7A6B-734EECD4FAFC}"/>
                  </a:ext>
                </a:extLst>
              </p:cNvPr>
              <p:cNvSpPr txBox="1"/>
              <p:nvPr/>
            </p:nvSpPr>
            <p:spPr>
              <a:xfrm>
                <a:off x="3186124" y="1690688"/>
                <a:ext cx="255929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0,</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𝑥</m:t>
                              </m:r>
                            </m:e>
                            <m:sub>
                              <m:r>
                                <a:rPr lang="en-US" sz="2400" b="0" i="1" smtClean="0">
                                  <a:solidFill>
                                    <a:schemeClr val="accent5">
                                      <a:lumMod val="75000"/>
                                    </a:schemeClr>
                                  </a:solidFill>
                                  <a:latin typeface="Cambria Math" panose="02040503050406030204" pitchFamily="18" charset="0"/>
                                </a:rPr>
                                <m:t>𝑘</m:t>
                              </m:r>
                            </m:sub>
                          </m:sSub>
                        </m:e>
                      </m:d>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1,</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𝑥</m:t>
                              </m:r>
                            </m:e>
                            <m:sub>
                              <m:r>
                                <a:rPr lang="en-US" sz="2400" b="0" i="1" smtClean="0">
                                  <a:solidFill>
                                    <a:schemeClr val="accent5">
                                      <a:lumMod val="75000"/>
                                    </a:schemeClr>
                                  </a:solidFill>
                                  <a:latin typeface="Cambria Math" panose="02040503050406030204" pitchFamily="18" charset="0"/>
                                </a:rPr>
                                <m:t>𝑘</m:t>
                              </m:r>
                            </m:sub>
                          </m:sSub>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𝑠</m:t>
                          </m:r>
                        </m:e>
                      </m:d>
                    </m:oMath>
                  </m:oMathPara>
                </a14:m>
                <a:endParaRPr lang="en-US" sz="2400" dirty="0"/>
              </a:p>
            </p:txBody>
          </p:sp>
        </mc:Choice>
        <mc:Fallback xmlns="">
          <p:sp>
            <p:nvSpPr>
              <p:cNvPr id="4" name="TextBox 3">
                <a:extLst>
                  <a:ext uri="{FF2B5EF4-FFF2-40B4-BE49-F238E27FC236}">
                    <a16:creationId xmlns:a16="http://schemas.microsoft.com/office/drawing/2014/main" id="{2DD768FB-AF6A-5187-7A6B-734EECD4FAFC}"/>
                  </a:ext>
                </a:extLst>
              </p:cNvPr>
              <p:cNvSpPr txBox="1">
                <a:spLocks noRot="1" noChangeAspect="1" noMove="1" noResize="1" noEditPoints="1" noAdjustHandles="1" noChangeArrowheads="1" noChangeShapeType="1" noTextEdit="1"/>
              </p:cNvSpPr>
              <p:nvPr/>
            </p:nvSpPr>
            <p:spPr>
              <a:xfrm>
                <a:off x="3186124" y="1690688"/>
                <a:ext cx="2559290" cy="369332"/>
              </a:xfrm>
              <a:prstGeom prst="rect">
                <a:avLst/>
              </a:prstGeom>
              <a:blipFill>
                <a:blip r:embed="rId3"/>
                <a:stretch>
                  <a:fillRect b="-1290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3A19248-40A5-053A-F2ED-E77900F7949B}"/>
              </a:ext>
            </a:extLst>
          </p:cNvPr>
          <p:cNvSpPr txBox="1"/>
          <p:nvPr/>
        </p:nvSpPr>
        <p:spPr>
          <a:xfrm>
            <a:off x="838200" y="1644954"/>
            <a:ext cx="1840832" cy="461665"/>
          </a:xfrm>
          <a:prstGeom prst="rect">
            <a:avLst/>
          </a:prstGeom>
          <a:noFill/>
        </p:spPr>
        <p:txBody>
          <a:bodyPr wrap="square" rtlCol="0">
            <a:spAutoFit/>
          </a:bodyPr>
          <a:lstStyle/>
          <a:p>
            <a:r>
              <a:rPr lang="en-US" sz="2400" dirty="0"/>
              <a:t>DCP states: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61FD31D-8EE9-B95B-65EF-2895C1CA3D47}"/>
                  </a:ext>
                </a:extLst>
              </p:cNvPr>
              <p:cNvSpPr txBox="1"/>
              <p:nvPr/>
            </p:nvSpPr>
            <p:spPr>
              <a:xfrm>
                <a:off x="5912344" y="1637941"/>
                <a:ext cx="2697918" cy="490199"/>
              </a:xfrm>
              <a:prstGeom prst="rect">
                <a:avLst/>
              </a:prstGeom>
              <a:noFill/>
            </p:spPr>
            <p:txBody>
              <a:bodyPr wrap="square" rtlCol="0">
                <a:spAutoFit/>
              </a:bodyPr>
              <a:lstStyle/>
              <a:p>
                <a:r>
                  <a:rPr lang="en-US" sz="2400" dirty="0"/>
                  <a:t>For a secret </a:t>
                </a:r>
                <a14:m>
                  <m:oMath xmlns:m="http://schemas.openxmlformats.org/officeDocument/2006/math">
                    <m:r>
                      <a:rPr lang="en-US" sz="2400" b="0" i="1" smtClean="0">
                        <a:solidFill>
                          <a:schemeClr val="accent5">
                            <a:lumMod val="75000"/>
                          </a:schemeClr>
                        </a:solidFill>
                        <a:latin typeface="Cambria Math" panose="02040503050406030204" pitchFamily="18" charset="0"/>
                      </a:rPr>
                      <m:t>𝑠</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oMath>
                </a14:m>
                <a:endParaRPr lang="en-US" sz="2400" dirty="0"/>
              </a:p>
            </p:txBody>
          </p:sp>
        </mc:Choice>
        <mc:Fallback xmlns="">
          <p:sp>
            <p:nvSpPr>
              <p:cNvPr id="6" name="TextBox 5">
                <a:extLst>
                  <a:ext uri="{FF2B5EF4-FFF2-40B4-BE49-F238E27FC236}">
                    <a16:creationId xmlns:a16="http://schemas.microsoft.com/office/drawing/2014/main" id="{C61FD31D-8EE9-B95B-65EF-2895C1CA3D47}"/>
                  </a:ext>
                </a:extLst>
              </p:cNvPr>
              <p:cNvSpPr txBox="1">
                <a:spLocks noRot="1" noChangeAspect="1" noMove="1" noResize="1" noEditPoints="1" noAdjustHandles="1" noChangeArrowheads="1" noChangeShapeType="1" noTextEdit="1"/>
              </p:cNvSpPr>
              <p:nvPr/>
            </p:nvSpPr>
            <p:spPr>
              <a:xfrm>
                <a:off x="5912344" y="1637941"/>
                <a:ext cx="2697918" cy="490199"/>
              </a:xfrm>
              <a:prstGeom prst="rect">
                <a:avLst/>
              </a:prstGeom>
              <a:blipFill>
                <a:blip r:embed="rId4"/>
                <a:stretch>
                  <a:fillRect l="-3756" t="-7692" b="-2564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F6D962A-69D7-236B-3505-D801278DEB68}"/>
              </a:ext>
            </a:extLst>
          </p:cNvPr>
          <p:cNvSpPr txBox="1"/>
          <p:nvPr/>
        </p:nvSpPr>
        <p:spPr>
          <a:xfrm>
            <a:off x="838200" y="2195946"/>
            <a:ext cx="3529124" cy="461665"/>
          </a:xfrm>
          <a:prstGeom prst="rect">
            <a:avLst/>
          </a:prstGeom>
          <a:noFill/>
        </p:spPr>
        <p:txBody>
          <a:bodyPr wrap="square" rtlCol="0">
            <a:spAutoFit/>
          </a:bodyPr>
          <a:lstStyle/>
          <a:p>
            <a:r>
              <a:rPr lang="en-US" sz="2400" dirty="0"/>
              <a:t>Extrapolated DCP states: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3FC9AB-3371-7897-FBE3-2AFC958972EF}"/>
                  </a:ext>
                </a:extLst>
              </p:cNvPr>
              <p:cNvSpPr txBox="1"/>
              <p:nvPr/>
            </p:nvSpPr>
            <p:spPr>
              <a:xfrm>
                <a:off x="4367324" y="2075032"/>
                <a:ext cx="2697918" cy="9380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ℤ</m:t>
                          </m:r>
                        </m:sub>
                        <m:sup/>
                        <m:e>
                          <m:r>
                            <a:rPr lang="en-US" sz="2400" b="0" i="1" smtClean="0">
                              <a:solidFill>
                                <a:schemeClr val="accent5">
                                  <a:lumMod val="75000"/>
                                </a:schemeClr>
                              </a:solidFill>
                              <a:latin typeface="Cambria Math" panose="02040503050406030204" pitchFamily="18" charset="0"/>
                            </a:rPr>
                            <m:t>𝑓</m:t>
                          </m:r>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𝑗</m:t>
                              </m:r>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sSub>
                            <m:sSubPr>
                              <m:ctrlPr>
                                <a:rPr lang="en-US" sz="2400" b="1" i="1" smtClean="0">
                                  <a:solidFill>
                                    <a:schemeClr val="accent5">
                                      <a:lumMod val="75000"/>
                                    </a:schemeClr>
                                  </a:solidFill>
                                  <a:latin typeface="Cambria Math" panose="02040503050406030204" pitchFamily="18" charset="0"/>
                                </a:rPr>
                              </m:ctrlPr>
                            </m:sSubPr>
                            <m:e>
                              <m:r>
                                <a:rPr lang="en-US" sz="2400" b="1" i="1" smtClean="0">
                                  <a:solidFill>
                                    <a:schemeClr val="accent5">
                                      <a:lumMod val="75000"/>
                                    </a:schemeClr>
                                  </a:solidFill>
                                  <a:latin typeface="Cambria Math" panose="02040503050406030204" pitchFamily="18" charset="0"/>
                                </a:rPr>
                                <m:t>𝒙</m:t>
                              </m:r>
                            </m:e>
                            <m:sub>
                              <m:r>
                                <a:rPr lang="en-US" sz="2400" b="1" i="1" smtClean="0">
                                  <a:solidFill>
                                    <a:schemeClr val="accent5">
                                      <a:lumMod val="75000"/>
                                    </a:schemeClr>
                                  </a:solidFill>
                                  <a:latin typeface="Cambria Math" panose="02040503050406030204" pitchFamily="18" charset="0"/>
                                </a:rPr>
                                <m:t>𝒌</m:t>
                              </m:r>
                            </m:sub>
                          </m:sSub>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𝒔</m:t>
                          </m:r>
                          <m:r>
                            <a:rPr lang="en-US" sz="2400" b="0" i="1" smtClean="0">
                              <a:solidFill>
                                <a:schemeClr val="accent5">
                                  <a:lumMod val="75000"/>
                                </a:schemeClr>
                              </a:solidFill>
                              <a:latin typeface="Cambria Math" panose="02040503050406030204" pitchFamily="18" charset="0"/>
                            </a:rPr>
                            <m:t>⟩</m:t>
                          </m:r>
                        </m:e>
                      </m:nary>
                    </m:oMath>
                  </m:oMathPara>
                </a14:m>
                <a:endParaRPr lang="en-US" sz="2400" dirty="0"/>
              </a:p>
            </p:txBody>
          </p:sp>
        </mc:Choice>
        <mc:Fallback xmlns="">
          <p:sp>
            <p:nvSpPr>
              <p:cNvPr id="8" name="TextBox 7">
                <a:extLst>
                  <a:ext uri="{FF2B5EF4-FFF2-40B4-BE49-F238E27FC236}">
                    <a16:creationId xmlns:a16="http://schemas.microsoft.com/office/drawing/2014/main" id="{FF3FC9AB-3371-7897-FBE3-2AFC958972EF}"/>
                  </a:ext>
                </a:extLst>
              </p:cNvPr>
              <p:cNvSpPr txBox="1">
                <a:spLocks noRot="1" noChangeAspect="1" noMove="1" noResize="1" noEditPoints="1" noAdjustHandles="1" noChangeArrowheads="1" noChangeShapeType="1" noTextEdit="1"/>
              </p:cNvSpPr>
              <p:nvPr/>
            </p:nvSpPr>
            <p:spPr>
              <a:xfrm>
                <a:off x="4367324" y="2075032"/>
                <a:ext cx="2697918" cy="938014"/>
              </a:xfrm>
              <a:prstGeom prst="rect">
                <a:avLst/>
              </a:prstGeom>
              <a:blipFill>
                <a:blip r:embed="rId5"/>
                <a:stretch>
                  <a:fillRect l="-41589" t="-141333" r="-3271" b="-189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63105AE-02E5-F2A4-D4F2-1A0223AD5B5D}"/>
                  </a:ext>
                </a:extLst>
              </p:cNvPr>
              <p:cNvSpPr txBox="1"/>
              <p:nvPr/>
            </p:nvSpPr>
            <p:spPr>
              <a:xfrm>
                <a:off x="7227690" y="2210166"/>
                <a:ext cx="2697918" cy="461665"/>
              </a:xfrm>
              <a:prstGeom prst="rect">
                <a:avLst/>
              </a:prstGeom>
              <a:noFill/>
            </p:spPr>
            <p:txBody>
              <a:bodyPr wrap="square" rtlCol="0">
                <a:spAutoFit/>
              </a:bodyPr>
              <a:lstStyle/>
              <a:p>
                <a:r>
                  <a:rPr lang="en-US" sz="2400" dirty="0"/>
                  <a:t>For some </a:t>
                </a:r>
                <a14:m>
                  <m:oMath xmlns:m="http://schemas.openxmlformats.org/officeDocument/2006/math">
                    <m:r>
                      <a:rPr lang="en-US" sz="2400" b="0" i="1" smtClean="0">
                        <a:solidFill>
                          <a:schemeClr val="accent5">
                            <a:lumMod val="75000"/>
                          </a:schemeClr>
                        </a:solidFill>
                        <a:latin typeface="Cambria Math" panose="02040503050406030204" pitchFamily="18" charset="0"/>
                      </a:rPr>
                      <m:t>𝑓</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ℤ</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ℂ</m:t>
                    </m:r>
                  </m:oMath>
                </a14:m>
                <a:endParaRPr lang="en-US" sz="2400" dirty="0"/>
              </a:p>
            </p:txBody>
          </p:sp>
        </mc:Choice>
        <mc:Fallback xmlns="">
          <p:sp>
            <p:nvSpPr>
              <p:cNvPr id="9" name="TextBox 8">
                <a:extLst>
                  <a:ext uri="{FF2B5EF4-FFF2-40B4-BE49-F238E27FC236}">
                    <a16:creationId xmlns:a16="http://schemas.microsoft.com/office/drawing/2014/main" id="{E63105AE-02E5-F2A4-D4F2-1A0223AD5B5D}"/>
                  </a:ext>
                </a:extLst>
              </p:cNvPr>
              <p:cNvSpPr txBox="1">
                <a:spLocks noRot="1" noChangeAspect="1" noMove="1" noResize="1" noEditPoints="1" noAdjustHandles="1" noChangeArrowheads="1" noChangeShapeType="1" noTextEdit="1"/>
              </p:cNvSpPr>
              <p:nvPr/>
            </p:nvSpPr>
            <p:spPr>
              <a:xfrm>
                <a:off x="7227690" y="2210166"/>
                <a:ext cx="2697918" cy="461665"/>
              </a:xfrm>
              <a:prstGeom prst="rect">
                <a:avLst/>
              </a:prstGeom>
              <a:blipFill>
                <a:blip r:embed="rId6"/>
                <a:stretch>
                  <a:fillRect l="-3756" t="-13514"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1682DD9-94E4-463B-EF88-97C394C9BBA9}"/>
                  </a:ext>
                </a:extLst>
              </p:cNvPr>
              <p:cNvSpPr txBox="1"/>
              <p:nvPr/>
            </p:nvSpPr>
            <p:spPr>
              <a:xfrm>
                <a:off x="838199" y="3004129"/>
                <a:ext cx="5739063" cy="461665"/>
              </a:xfrm>
              <a:prstGeom prst="rect">
                <a:avLst/>
              </a:prstGeom>
              <a:noFill/>
            </p:spPr>
            <p:txBody>
              <a:bodyPr wrap="square" rtlCol="0">
                <a:spAutoFit/>
              </a:bodyPr>
              <a:lstStyle/>
              <a:p>
                <a:r>
                  <a:rPr lang="en-US" sz="2400" dirty="0"/>
                  <a:t>Gaussian EDCP: </a:t>
                </a:r>
                <a14:m>
                  <m:oMath xmlns:m="http://schemas.openxmlformats.org/officeDocument/2006/math">
                    <m:r>
                      <a:rPr lang="en-US" sz="2400" b="0" i="1" smtClean="0">
                        <a:solidFill>
                          <a:schemeClr val="accent5">
                            <a:lumMod val="75000"/>
                          </a:schemeClr>
                        </a:solidFill>
                        <a:latin typeface="Cambria Math" panose="02040503050406030204" pitchFamily="18" charset="0"/>
                      </a:rPr>
                      <m:t>𝑓</m:t>
                    </m:r>
                  </m:oMath>
                </a14:m>
                <a:r>
                  <a:rPr lang="en-US" sz="2400" dirty="0"/>
                  <a:t> is a discrete Gaussian</a:t>
                </a:r>
              </a:p>
            </p:txBody>
          </p:sp>
        </mc:Choice>
        <mc:Fallback xmlns="">
          <p:sp>
            <p:nvSpPr>
              <p:cNvPr id="10" name="TextBox 9">
                <a:extLst>
                  <a:ext uri="{FF2B5EF4-FFF2-40B4-BE49-F238E27FC236}">
                    <a16:creationId xmlns:a16="http://schemas.microsoft.com/office/drawing/2014/main" id="{E1682DD9-94E4-463B-EF88-97C394C9BBA9}"/>
                  </a:ext>
                </a:extLst>
              </p:cNvPr>
              <p:cNvSpPr txBox="1">
                <a:spLocks noRot="1" noChangeAspect="1" noMove="1" noResize="1" noEditPoints="1" noAdjustHandles="1" noChangeArrowheads="1" noChangeShapeType="1" noTextEdit="1"/>
              </p:cNvSpPr>
              <p:nvPr/>
            </p:nvSpPr>
            <p:spPr>
              <a:xfrm>
                <a:off x="838199" y="3004129"/>
                <a:ext cx="5739063" cy="461665"/>
              </a:xfrm>
              <a:prstGeom prst="rect">
                <a:avLst/>
              </a:prstGeom>
              <a:blipFill>
                <a:blip r:embed="rId7"/>
                <a:stretch>
                  <a:fillRect l="-1545" t="-10526" b="-2631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A40FCAC-770D-7C80-288B-AD1D94401197}"/>
              </a:ext>
            </a:extLst>
          </p:cNvPr>
          <p:cNvSpPr txBox="1"/>
          <p:nvPr/>
        </p:nvSpPr>
        <p:spPr>
          <a:xfrm>
            <a:off x="838199" y="3515812"/>
            <a:ext cx="8402053" cy="461665"/>
          </a:xfrm>
          <a:prstGeom prst="rect">
            <a:avLst/>
          </a:prstGeom>
          <a:noFill/>
        </p:spPr>
        <p:txBody>
          <a:bodyPr wrap="square" rtlCol="0">
            <a:spAutoFit/>
          </a:bodyPr>
          <a:lstStyle/>
          <a:p>
            <a:r>
              <a:rPr lang="en-US" sz="2400" dirty="0"/>
              <a:t>[BKSW18]:  Quantum equivalence of LWE and Gaussian EDCP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6A129A4-D89B-6D35-C8AE-BCE75B32B479}"/>
                  </a:ext>
                </a:extLst>
              </p:cNvPr>
              <p:cNvSpPr txBox="1"/>
              <p:nvPr/>
            </p:nvSpPr>
            <p:spPr>
              <a:xfrm>
                <a:off x="838199" y="3987718"/>
                <a:ext cx="5931569" cy="461665"/>
              </a:xfrm>
              <a:prstGeom prst="rect">
                <a:avLst/>
              </a:prstGeom>
              <a:noFill/>
            </p:spPr>
            <p:txBody>
              <a:bodyPr wrap="square" rtlCol="0">
                <a:spAutoFit/>
              </a:bodyPr>
              <a:lstStyle/>
              <a:p>
                <a:r>
                  <a:rPr lang="en-US" sz="2400" dirty="0"/>
                  <a:t>LWE </a:t>
                </a:r>
                <a14:m>
                  <m:oMath xmlns:m="http://schemas.openxmlformats.org/officeDocument/2006/math">
                    <m:r>
                      <a:rPr lang="en-US" sz="2400" b="0" i="1" smtClean="0">
                        <a:latin typeface="Cambria Math" panose="02040503050406030204" pitchFamily="18" charset="0"/>
                      </a:rPr>
                      <m:t>→</m:t>
                    </m:r>
                  </m:oMath>
                </a14:m>
                <a:r>
                  <a:rPr lang="en-US" sz="2400" dirty="0"/>
                  <a:t> G-EDCP: Similar idea as LWE </a:t>
                </a:r>
                <a14:m>
                  <m:oMath xmlns:m="http://schemas.openxmlformats.org/officeDocument/2006/math">
                    <m:r>
                      <a:rPr lang="en-US" sz="2400" i="1">
                        <a:latin typeface="Cambria Math" panose="02040503050406030204" pitchFamily="18" charset="0"/>
                      </a:rPr>
                      <m:t>→</m:t>
                    </m:r>
                  </m:oMath>
                </a14:m>
                <a:r>
                  <a:rPr lang="en-US" sz="2400" dirty="0"/>
                  <a:t> DCP</a:t>
                </a:r>
              </a:p>
            </p:txBody>
          </p:sp>
        </mc:Choice>
        <mc:Fallback xmlns="">
          <p:sp>
            <p:nvSpPr>
              <p:cNvPr id="13" name="TextBox 12">
                <a:extLst>
                  <a:ext uri="{FF2B5EF4-FFF2-40B4-BE49-F238E27FC236}">
                    <a16:creationId xmlns:a16="http://schemas.microsoft.com/office/drawing/2014/main" id="{06A129A4-D89B-6D35-C8AE-BCE75B32B479}"/>
                  </a:ext>
                </a:extLst>
              </p:cNvPr>
              <p:cNvSpPr txBox="1">
                <a:spLocks noRot="1" noChangeAspect="1" noMove="1" noResize="1" noEditPoints="1" noAdjustHandles="1" noChangeArrowheads="1" noChangeShapeType="1" noTextEdit="1"/>
              </p:cNvSpPr>
              <p:nvPr/>
            </p:nvSpPr>
            <p:spPr>
              <a:xfrm>
                <a:off x="838199" y="3987718"/>
                <a:ext cx="5931569" cy="461665"/>
              </a:xfrm>
              <a:prstGeom prst="rect">
                <a:avLst/>
              </a:prstGeom>
              <a:blipFill>
                <a:blip r:embed="rId8"/>
                <a:stretch>
                  <a:fillRect l="-1493" t="-7895" r="-1279"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3BEC3EA-5DD8-6E6B-A0B1-F09FAE260C61}"/>
                  </a:ext>
                </a:extLst>
              </p:cNvPr>
              <p:cNvSpPr txBox="1"/>
              <p:nvPr/>
            </p:nvSpPr>
            <p:spPr>
              <a:xfrm>
                <a:off x="3442038" y="4536846"/>
                <a:ext cx="5134611"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a:rPr lang="en-US" sz="2400" b="0" i="1" smtClean="0">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𝜌</m:t>
                              </m:r>
                            </m:e>
                            <m:sub>
                              <m:r>
                                <a:rPr lang="en-US" sz="2400" i="1">
                                  <a:solidFill>
                                    <a:schemeClr val="accent5">
                                      <a:lumMod val="75000"/>
                                    </a:schemeClr>
                                  </a:solidFill>
                                  <a:latin typeface="Cambria Math" panose="02040503050406030204" pitchFamily="18" charset="0"/>
                                </a:rPr>
                                <m:t>𝑟</m:t>
                              </m:r>
                            </m:sub>
                          </m:sSub>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nary>
                            <m:naryPr>
                              <m:chr m:val="∑"/>
                              <m:supHide m:val="on"/>
                              <m:ctrlPr>
                                <a:rPr lang="en-US" sz="2400" i="1">
                                  <a:solidFill>
                                    <a:schemeClr val="accent5">
                                      <a:lumMod val="75000"/>
                                    </a:schemeClr>
                                  </a:solidFill>
                                  <a:latin typeface="Cambria Math" panose="02040503050406030204" pitchFamily="18" charset="0"/>
                                </a:rPr>
                              </m:ctrlPr>
                            </m:naryPr>
                            <m:sub>
                              <m:r>
                                <a:rPr lang="en-US" sz="2400" i="1">
                                  <a:solidFill>
                                    <a:schemeClr val="accent5">
                                      <a:lumMod val="75000"/>
                                    </a:schemeClr>
                                  </a:solidFill>
                                  <a:latin typeface="Cambria Math" panose="02040503050406030204" pitchFamily="18" charset="0"/>
                                </a:rPr>
                                <m:t>𝑡</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d>
                                <m:dPr>
                                  <m:begChr m:val="|"/>
                                  <m:endChr m:val="⟩"/>
                                  <m:ctrlPr>
                                    <a:rPr lang="en-US" sz="2400" i="1">
                                      <a:solidFill>
                                        <a:schemeClr val="accent5">
                                          <a:lumMod val="75000"/>
                                        </a:schemeClr>
                                      </a:solidFill>
                                      <a:latin typeface="Cambria Math" panose="02040503050406030204" pitchFamily="18" charset="0"/>
                                    </a:rPr>
                                  </m:ctrlPr>
                                </m:dPr>
                                <m:e>
                                  <m:sSup>
                                    <m:sSupPr>
                                      <m:ctrlPr>
                                        <a:rPr lang="en-US" sz="2400" b="0" i="1" smtClean="0">
                                          <a:solidFill>
                                            <a:schemeClr val="accent5">
                                              <a:lumMod val="75000"/>
                                            </a:schemeClr>
                                          </a:solidFill>
                                          <a:latin typeface="Cambria Math" panose="02040503050406030204" pitchFamily="18" charset="0"/>
                                        </a:rPr>
                                      </m:ctrlPr>
                                    </m:sSupPr>
                                    <m:e>
                                      <m:r>
                                        <a:rPr lang="en-US" sz="2400" i="1">
                                          <a:solidFill>
                                            <a:schemeClr val="accent5">
                                              <a:lumMod val="75000"/>
                                            </a:schemeClr>
                                          </a:solidFill>
                                          <a:latin typeface="Cambria Math" panose="02040503050406030204" pitchFamily="18" charset="0"/>
                                        </a:rPr>
                                        <m:t>𝑡</m:t>
                                      </m:r>
                                    </m:e>
                                    <m:sup>
                                      <m:r>
                                        <a:rPr lang="en-US" sz="2400" b="0" i="1" smtClean="0">
                                          <a:solidFill>
                                            <a:schemeClr val="accent5">
                                              <a:lumMod val="75000"/>
                                            </a:schemeClr>
                                          </a:solidFill>
                                          <a:latin typeface="Cambria Math" panose="02040503050406030204" pitchFamily="18" charset="0"/>
                                        </a:rPr>
                                        <m:t>′</m:t>
                                      </m:r>
                                    </m:sup>
                                  </m:sSup>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𝑗𝑠</m:t>
                                  </m:r>
                                </m:e>
                              </m:d>
                              <m:r>
                                <a:rPr lang="en-US" sz="2400" b="0" i="1" smtClean="0">
                                  <a:solidFill>
                                    <a:schemeClr val="accent5">
                                      <a:lumMod val="75000"/>
                                    </a:schemeClr>
                                  </a:solidFill>
                                  <a:latin typeface="Cambria Math" panose="02040503050406030204" pitchFamily="18" charset="0"/>
                                </a:rPr>
                                <m:t> </m:t>
                              </m:r>
                              <m:d>
                                <m:dPr>
                                  <m:begChr m:val="|"/>
                                  <m:endChr m:val="⟩"/>
                                  <m:ctrlPr>
                                    <a:rPr lang="en-US" sz="2400" i="1">
                                      <a:solidFill>
                                        <a:schemeClr val="accent5">
                                          <a:lumMod val="75000"/>
                                        </a:schemeClr>
                                      </a:solidFill>
                                      <a:latin typeface="Cambria Math" panose="02040503050406030204" pitchFamily="18" charset="0"/>
                                    </a:rPr>
                                  </m:ctrlPr>
                                </m:dPr>
                                <m:e>
                                  <m:r>
                                    <m:rPr>
                                      <m:sty m:val="p"/>
                                    </m:rPr>
                                    <a:rPr lang="en-US" sz="2400" b="0" i="0" smtClean="0">
                                      <a:solidFill>
                                        <a:schemeClr val="accent5">
                                          <a:lumMod val="75000"/>
                                        </a:schemeClr>
                                      </a:solidFill>
                                      <a:latin typeface="Cambria Math" panose="02040503050406030204" pitchFamily="18" charset="0"/>
                                    </a:rPr>
                                    <m:t>Φ</m:t>
                                  </m:r>
                                  <m:r>
                                    <a:rPr lang="en-US" sz="2400" b="1"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m:t>
                                  </m:r>
                                  <m:r>
                                    <a:rPr lang="en-US" sz="2400" b="1" i="1" smtClean="0">
                                      <a:solidFill>
                                        <a:schemeClr val="accent5">
                                          <a:lumMod val="75000"/>
                                        </a:schemeClr>
                                      </a:solidFill>
                                      <a:latin typeface="Cambria Math" panose="02040503050406030204" pitchFamily="18" charset="0"/>
                                    </a:rPr>
                                    <m:t>𝒆</m:t>
                                  </m:r>
                                  <m:r>
                                    <a:rPr lang="en-US" sz="2400" b="0" i="1" smtClean="0">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𝑡</m:t>
                                  </m:r>
                                  <m:r>
                                    <a:rPr lang="en-US" sz="2400" b="1" i="1" smtClean="0">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e>
                              </m:d>
                            </m:e>
                          </m:nary>
                        </m:e>
                      </m:nary>
                    </m:oMath>
                  </m:oMathPara>
                </a14:m>
                <a:endParaRPr lang="en-US" sz="2400" dirty="0"/>
              </a:p>
            </p:txBody>
          </p:sp>
        </mc:Choice>
        <mc:Fallback xmlns="">
          <p:sp>
            <p:nvSpPr>
              <p:cNvPr id="14" name="TextBox 13">
                <a:extLst>
                  <a:ext uri="{FF2B5EF4-FFF2-40B4-BE49-F238E27FC236}">
                    <a16:creationId xmlns:a16="http://schemas.microsoft.com/office/drawing/2014/main" id="{B3BEC3EA-5DD8-6E6B-A0B1-F09FAE260C61}"/>
                  </a:ext>
                </a:extLst>
              </p:cNvPr>
              <p:cNvSpPr txBox="1">
                <a:spLocks noRot="1" noChangeAspect="1" noMove="1" noResize="1" noEditPoints="1" noAdjustHandles="1" noChangeArrowheads="1" noChangeShapeType="1" noTextEdit="1"/>
              </p:cNvSpPr>
              <p:nvPr/>
            </p:nvSpPr>
            <p:spPr>
              <a:xfrm>
                <a:off x="3442038" y="4536846"/>
                <a:ext cx="5134611" cy="978345"/>
              </a:xfrm>
              <a:prstGeom prst="rect">
                <a:avLst/>
              </a:prstGeom>
              <a:blipFill>
                <a:blip r:embed="rId9"/>
                <a:stretch>
                  <a:fillRect l="-20741" t="-135897" b="-17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65765A5-5977-F158-4D2A-391E630750F5}"/>
                  </a:ext>
                </a:extLst>
              </p:cNvPr>
              <p:cNvSpPr txBox="1"/>
              <p:nvPr/>
            </p:nvSpPr>
            <p:spPr>
              <a:xfrm>
                <a:off x="6914287" y="2919501"/>
                <a:ext cx="3529125" cy="512320"/>
              </a:xfrm>
              <a:prstGeom prst="rect">
                <a:avLst/>
              </a:prstGeom>
              <a:noFill/>
            </p:spPr>
            <p:txBody>
              <a:bodyPr wrap="square" rtlCol="0">
                <a:spAutoFit/>
              </a:bodyPr>
              <a:lstStyle/>
              <a:p>
                <a14:m>
                  <m:oMath xmlns:m="http://schemas.openxmlformats.org/officeDocument/2006/math">
                    <m:r>
                      <a:rPr lang="en-US" sz="2400" b="0" i="1" smtClean="0">
                        <a:solidFill>
                          <a:schemeClr val="accent2"/>
                        </a:solidFill>
                        <a:latin typeface="Cambria Math" panose="02040503050406030204" pitchFamily="18" charset="0"/>
                      </a:rPr>
                      <m:t>𝑓</m:t>
                    </m:r>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𝑗</m:t>
                        </m:r>
                      </m:e>
                    </m:d>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𝜌</m:t>
                        </m:r>
                      </m:e>
                      <m:sub>
                        <m:r>
                          <a:rPr lang="en-US" sz="2400" b="0" i="1" smtClean="0">
                            <a:solidFill>
                              <a:schemeClr val="accent2"/>
                            </a:solidFill>
                            <a:latin typeface="Cambria Math" panose="02040503050406030204" pitchFamily="18" charset="0"/>
                          </a:rPr>
                          <m:t>𝑟</m:t>
                        </m:r>
                      </m:sub>
                    </m:sSub>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𝑗</m:t>
                        </m:r>
                      </m:e>
                    </m:d>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𝑒</m:t>
                        </m:r>
                      </m:e>
                      <m:sup>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𝜋</m:t>
                        </m:r>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𝑗</m:t>
                            </m:r>
                          </m:e>
                          <m:sup>
                            <m:r>
                              <a:rPr lang="en-US" sz="2400" b="0" i="1" smtClean="0">
                                <a:solidFill>
                                  <a:schemeClr val="accent2"/>
                                </a:solidFill>
                                <a:latin typeface="Cambria Math" panose="02040503050406030204" pitchFamily="18" charset="0"/>
                              </a:rPr>
                              <m:t>2</m:t>
                            </m:r>
                          </m:sup>
                        </m:sSup>
                        <m:r>
                          <a:rPr lang="en-US" sz="2400" b="0" i="1" smtClean="0">
                            <a:solidFill>
                              <a:schemeClr val="accent2"/>
                            </a:solidFill>
                            <a:latin typeface="Cambria Math" panose="02040503050406030204" pitchFamily="18" charset="0"/>
                          </a:rPr>
                          <m:t>/</m:t>
                        </m:r>
                        <m:sSup>
                          <m:sSupPr>
                            <m:ctrlPr>
                              <a:rPr lang="en-US" sz="2400" b="0" i="1" smtClean="0">
                                <a:solidFill>
                                  <a:schemeClr val="accent2"/>
                                </a:solidFill>
                                <a:latin typeface="Cambria Math" panose="02040503050406030204" pitchFamily="18" charset="0"/>
                              </a:rPr>
                            </m:ctrlPr>
                          </m:sSupPr>
                          <m:e>
                            <m:r>
                              <a:rPr lang="en-US" sz="2400" b="0" i="1" smtClean="0">
                                <a:solidFill>
                                  <a:schemeClr val="accent2"/>
                                </a:solidFill>
                                <a:latin typeface="Cambria Math" panose="02040503050406030204" pitchFamily="18" charset="0"/>
                              </a:rPr>
                              <m:t>𝑟</m:t>
                            </m:r>
                          </m:e>
                          <m:sup>
                            <m:r>
                              <a:rPr lang="en-US" sz="2400" b="0" i="1" smtClean="0">
                                <a:solidFill>
                                  <a:schemeClr val="accent2"/>
                                </a:solidFill>
                                <a:latin typeface="Cambria Math" panose="02040503050406030204" pitchFamily="18" charset="0"/>
                              </a:rPr>
                              <m:t>2</m:t>
                            </m:r>
                          </m:sup>
                        </m:sSup>
                      </m:sup>
                    </m:sSup>
                  </m:oMath>
                </a14:m>
                <a:r>
                  <a:rPr lang="en-US" sz="2400" dirty="0">
                    <a:solidFill>
                      <a:schemeClr val="accent5">
                        <a:lumMod val="75000"/>
                      </a:schemeClr>
                    </a:solidFill>
                  </a:rPr>
                  <a:t> </a:t>
                </a:r>
              </a:p>
            </p:txBody>
          </p:sp>
        </mc:Choice>
        <mc:Fallback xmlns="">
          <p:sp>
            <p:nvSpPr>
              <p:cNvPr id="15" name="TextBox 14">
                <a:extLst>
                  <a:ext uri="{FF2B5EF4-FFF2-40B4-BE49-F238E27FC236}">
                    <a16:creationId xmlns:a16="http://schemas.microsoft.com/office/drawing/2014/main" id="{E65765A5-5977-F158-4D2A-391E630750F5}"/>
                  </a:ext>
                </a:extLst>
              </p:cNvPr>
              <p:cNvSpPr txBox="1">
                <a:spLocks noRot="1" noChangeAspect="1" noMove="1" noResize="1" noEditPoints="1" noAdjustHandles="1" noChangeArrowheads="1" noChangeShapeType="1" noTextEdit="1"/>
              </p:cNvSpPr>
              <p:nvPr/>
            </p:nvSpPr>
            <p:spPr>
              <a:xfrm>
                <a:off x="6914287" y="2919501"/>
                <a:ext cx="3529125" cy="512320"/>
              </a:xfrm>
              <a:prstGeom prst="rect">
                <a:avLst/>
              </a:prstGeom>
              <a:blipFill>
                <a:blip r:embed="rId10"/>
                <a:stretch>
                  <a:fillRect l="-1434" b="-11905"/>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0DDFE6D2-12E9-5243-E3CC-E3E8740146A2}"/>
              </a:ext>
            </a:extLst>
          </p:cNvPr>
          <p:cNvSpPr txBox="1"/>
          <p:nvPr/>
        </p:nvSpPr>
        <p:spPr>
          <a:xfrm>
            <a:off x="838199" y="4744672"/>
            <a:ext cx="2687979" cy="461665"/>
          </a:xfrm>
          <a:prstGeom prst="rect">
            <a:avLst/>
          </a:prstGeom>
          <a:noFill/>
        </p:spPr>
        <p:txBody>
          <a:bodyPr wrap="square" rtlCol="0">
            <a:spAutoFit/>
          </a:bodyPr>
          <a:lstStyle/>
          <a:p>
            <a:r>
              <a:rPr lang="en-US" sz="2400" dirty="0"/>
              <a:t>This time start with</a:t>
            </a:r>
          </a:p>
        </p:txBody>
      </p:sp>
      <p:sp>
        <p:nvSpPr>
          <p:cNvPr id="17" name="TextBox 16">
            <a:extLst>
              <a:ext uri="{FF2B5EF4-FFF2-40B4-BE49-F238E27FC236}">
                <a16:creationId xmlns:a16="http://schemas.microsoft.com/office/drawing/2014/main" id="{660B5E89-844E-AF49-AC2A-CD49DE6E6632}"/>
              </a:ext>
            </a:extLst>
          </p:cNvPr>
          <p:cNvSpPr txBox="1"/>
          <p:nvPr/>
        </p:nvSpPr>
        <p:spPr>
          <a:xfrm>
            <a:off x="8678849" y="4579252"/>
            <a:ext cx="2878814" cy="830997"/>
          </a:xfrm>
          <a:prstGeom prst="rect">
            <a:avLst/>
          </a:prstGeom>
          <a:noFill/>
        </p:spPr>
        <p:txBody>
          <a:bodyPr wrap="square" rtlCol="0">
            <a:spAutoFit/>
          </a:bodyPr>
          <a:lstStyle/>
          <a:p>
            <a:r>
              <a:rPr lang="en-US" sz="2400" dirty="0"/>
              <a:t>and again measure last register</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192422C-46B3-E0A4-F72C-8D787D00447F}"/>
                  </a:ext>
                </a:extLst>
              </p:cNvPr>
              <p:cNvSpPr txBox="1"/>
              <p:nvPr/>
            </p:nvSpPr>
            <p:spPr>
              <a:xfrm>
                <a:off x="838199" y="5657919"/>
                <a:ext cx="9605213" cy="461665"/>
              </a:xfrm>
              <a:prstGeom prst="rect">
                <a:avLst/>
              </a:prstGeom>
              <a:noFill/>
            </p:spPr>
            <p:txBody>
              <a:bodyPr wrap="square" rtlCol="0">
                <a:spAutoFit/>
              </a:bodyPr>
              <a:lstStyle/>
              <a:p>
                <a:r>
                  <a:rPr lang="en-US" sz="2400" dirty="0">
                    <a:solidFill>
                      <a:srgbClr val="00B050"/>
                    </a:solidFill>
                  </a:rPr>
                  <a:t>Good Case</a:t>
                </a:r>
                <a:r>
                  <a:rPr lang="en-US" sz="2400" dirty="0"/>
                  <a:t>: For sufficiently large </a:t>
                </a:r>
                <a14:m>
                  <m:oMath xmlns:m="http://schemas.openxmlformats.org/officeDocument/2006/math">
                    <m:r>
                      <a:rPr lang="en-US" sz="2400" b="0" i="1" smtClean="0">
                        <a:solidFill>
                          <a:schemeClr val="accent5">
                            <a:lumMod val="75000"/>
                          </a:schemeClr>
                        </a:solidFill>
                        <a:latin typeface="Cambria Math" panose="02040503050406030204" pitchFamily="18" charset="0"/>
                      </a:rPr>
                      <m:t>𝑗</m:t>
                    </m:r>
                  </m:oMath>
                </a14:m>
                <a:r>
                  <a:rPr lang="en-US" sz="2400" dirty="0"/>
                  <a:t>, all </a:t>
                </a:r>
                <a14:m>
                  <m:oMath xmlns:m="http://schemas.openxmlformats.org/officeDocument/2006/math">
                    <m:r>
                      <a:rPr lang="en-US" sz="2400" i="1" smtClean="0">
                        <a:solidFill>
                          <a:schemeClr val="accent5">
                            <a:lumMod val="75000"/>
                          </a:schemeClr>
                        </a:solidFill>
                        <a:latin typeface="Cambria Math" panose="02040503050406030204" pitchFamily="18" charset="0"/>
                      </a:rPr>
                      <m:t>𝑗</m:t>
                    </m:r>
                    <m:r>
                      <a:rPr lang="en-US" sz="2400" b="1" i="1">
                        <a:solidFill>
                          <a:schemeClr val="accent5">
                            <a:lumMod val="75000"/>
                          </a:schemeClr>
                        </a:solidFill>
                        <a:latin typeface="Cambria Math" panose="02040503050406030204" pitchFamily="18" charset="0"/>
                      </a:rPr>
                      <m:t>𝒆</m:t>
                    </m:r>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𝑡</m:t>
                    </m:r>
                    <m:r>
                      <a:rPr lang="en-US" sz="2400" b="1"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𝒂</m:t>
                    </m:r>
                    <m:r>
                      <a:rPr lang="en-US" sz="2400" b="1" i="1">
                        <a:solidFill>
                          <a:schemeClr val="accent5">
                            <a:lumMod val="75000"/>
                          </a:schemeClr>
                        </a:solidFill>
                        <a:latin typeface="Cambria Math" panose="02040503050406030204" pitchFamily="18" charset="0"/>
                      </a:rPr>
                      <m:t> </m:t>
                    </m:r>
                  </m:oMath>
                </a14:m>
                <a:r>
                  <a:rPr lang="en-US" sz="2400" dirty="0"/>
                  <a:t>belong to the same cell</a:t>
                </a:r>
              </a:p>
            </p:txBody>
          </p:sp>
        </mc:Choice>
        <mc:Fallback xmlns="">
          <p:sp>
            <p:nvSpPr>
              <p:cNvPr id="18" name="TextBox 17">
                <a:extLst>
                  <a:ext uri="{FF2B5EF4-FFF2-40B4-BE49-F238E27FC236}">
                    <a16:creationId xmlns:a16="http://schemas.microsoft.com/office/drawing/2014/main" id="{0192422C-46B3-E0A4-F72C-8D787D00447F}"/>
                  </a:ext>
                </a:extLst>
              </p:cNvPr>
              <p:cNvSpPr txBox="1">
                <a:spLocks noRot="1" noChangeAspect="1" noMove="1" noResize="1" noEditPoints="1" noAdjustHandles="1" noChangeArrowheads="1" noChangeShapeType="1" noTextEdit="1"/>
              </p:cNvSpPr>
              <p:nvPr/>
            </p:nvSpPr>
            <p:spPr>
              <a:xfrm>
                <a:off x="838199" y="5657919"/>
                <a:ext cx="9605213" cy="461665"/>
              </a:xfrm>
              <a:prstGeom prst="rect">
                <a:avLst/>
              </a:prstGeom>
              <a:blipFill>
                <a:blip r:embed="rId11"/>
                <a:stretch>
                  <a:fillRect l="-923" t="-10811" b="-2973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4B7D8ED5-1B06-3900-1D7C-7959C5F54949}"/>
              </a:ext>
            </a:extLst>
          </p:cNvPr>
          <p:cNvSpPr txBox="1"/>
          <p:nvPr/>
        </p:nvSpPr>
        <p:spPr>
          <a:xfrm>
            <a:off x="838199" y="6136421"/>
            <a:ext cx="10464852" cy="461665"/>
          </a:xfrm>
          <a:prstGeom prst="rect">
            <a:avLst/>
          </a:prstGeom>
          <a:noFill/>
        </p:spPr>
        <p:txBody>
          <a:bodyPr wrap="square" rtlCol="0">
            <a:spAutoFit/>
          </a:bodyPr>
          <a:lstStyle/>
          <a:p>
            <a:r>
              <a:rPr lang="en-US" sz="2400" dirty="0"/>
              <a:t>Again, can only produce poly many correct states </a:t>
            </a:r>
            <a:r>
              <a:rPr lang="en-US" sz="2400" dirty="0" err="1"/>
              <a:t>w.h.p</a:t>
            </a:r>
            <a:r>
              <a:rPr lang="en-US" sz="2400" dirty="0"/>
              <a:t>. </a:t>
            </a:r>
          </a:p>
        </p:txBody>
      </p:sp>
    </p:spTree>
    <p:extLst>
      <p:ext uri="{BB962C8B-B14F-4D97-AF65-F5344CB8AC3E}">
        <p14:creationId xmlns:p14="http://schemas.microsoft.com/office/powerpoint/2010/main" val="297288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3" grpId="0"/>
      <p:bldP spid="14" grpId="0"/>
      <p:bldP spid="15"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64E669F-12E1-E46E-3AEF-D9076265B62F}"/>
                  </a:ext>
                </a:extLst>
              </p:cNvPr>
              <p:cNvSpPr>
                <a:spLocks noGrp="1"/>
              </p:cNvSpPr>
              <p:nvPr>
                <p:ph type="title"/>
              </p:nvPr>
            </p:nvSpPr>
            <p:spPr/>
            <p:txBody>
              <a:bodyPr/>
              <a:lstStyle/>
              <a:p>
                <a:r>
                  <a:rPr lang="en-US" dirty="0"/>
                  <a:t>LWE </a:t>
                </a:r>
                <a14:m>
                  <m:oMath xmlns:m="http://schemas.openxmlformats.org/officeDocument/2006/math">
                    <m:r>
                      <a:rPr lang="en-US" i="1">
                        <a:latin typeface="Cambria Math" panose="02040503050406030204" pitchFamily="18" charset="0"/>
                      </a:rPr>
                      <m:t>≡</m:t>
                    </m:r>
                  </m:oMath>
                </a14:m>
                <a:r>
                  <a:rPr lang="en-US" dirty="0"/>
                  <a:t> Extrapolated DCP</a:t>
                </a:r>
              </a:p>
            </p:txBody>
          </p:sp>
        </mc:Choice>
        <mc:Fallback xmlns="">
          <p:sp>
            <p:nvSpPr>
              <p:cNvPr id="2" name="Title 1">
                <a:extLst>
                  <a:ext uri="{FF2B5EF4-FFF2-40B4-BE49-F238E27FC236}">
                    <a16:creationId xmlns:a16="http://schemas.microsoft.com/office/drawing/2014/main" id="{C64E669F-12E1-E46E-3AEF-D9076265B62F}"/>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B777E02-74BB-2262-63CE-1A4265D97AB3}"/>
                  </a:ext>
                </a:extLst>
              </p:cNvPr>
              <p:cNvSpPr txBox="1"/>
              <p:nvPr/>
            </p:nvSpPr>
            <p:spPr>
              <a:xfrm>
                <a:off x="866528" y="1520342"/>
                <a:ext cx="2745945" cy="461665"/>
              </a:xfrm>
              <a:prstGeom prst="rect">
                <a:avLst/>
              </a:prstGeom>
              <a:noFill/>
            </p:spPr>
            <p:txBody>
              <a:bodyPr wrap="square" rtlCol="0">
                <a:spAutoFit/>
              </a:bodyPr>
              <a:lstStyle/>
              <a:p>
                <a:r>
                  <a:rPr lang="en-US" sz="2400" dirty="0"/>
                  <a:t>G-EDCP </a:t>
                </a:r>
                <a14:m>
                  <m:oMath xmlns:m="http://schemas.openxmlformats.org/officeDocument/2006/math">
                    <m:r>
                      <a:rPr lang="en-US" sz="2400" b="0" i="1" smtClean="0">
                        <a:latin typeface="Cambria Math" panose="02040503050406030204" pitchFamily="18" charset="0"/>
                      </a:rPr>
                      <m:t>→</m:t>
                    </m:r>
                  </m:oMath>
                </a14:m>
                <a:r>
                  <a:rPr lang="en-US" sz="2400" dirty="0"/>
                  <a:t> LWE:</a:t>
                </a:r>
              </a:p>
            </p:txBody>
          </p:sp>
        </mc:Choice>
        <mc:Fallback xmlns="">
          <p:sp>
            <p:nvSpPr>
              <p:cNvPr id="5" name="TextBox 4">
                <a:extLst>
                  <a:ext uri="{FF2B5EF4-FFF2-40B4-BE49-F238E27FC236}">
                    <a16:creationId xmlns:a16="http://schemas.microsoft.com/office/drawing/2014/main" id="{FB777E02-74BB-2262-63CE-1A4265D97AB3}"/>
                  </a:ext>
                </a:extLst>
              </p:cNvPr>
              <p:cNvSpPr txBox="1">
                <a:spLocks noRot="1" noChangeAspect="1" noMove="1" noResize="1" noEditPoints="1" noAdjustHandles="1" noChangeArrowheads="1" noChangeShapeType="1" noTextEdit="1"/>
              </p:cNvSpPr>
              <p:nvPr/>
            </p:nvSpPr>
            <p:spPr>
              <a:xfrm>
                <a:off x="866528" y="1520342"/>
                <a:ext cx="2745945" cy="461665"/>
              </a:xfrm>
              <a:prstGeom prst="rect">
                <a:avLst/>
              </a:prstGeom>
              <a:blipFill>
                <a:blip r:embed="rId4"/>
                <a:stretch>
                  <a:fillRect l="-3687" t="-10811" b="-324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EE643F-D98A-BB22-74DD-ED4AF7BE1D5C}"/>
                  </a:ext>
                </a:extLst>
              </p:cNvPr>
              <p:cNvSpPr txBox="1"/>
              <p:nvPr/>
            </p:nvSpPr>
            <p:spPr>
              <a:xfrm>
                <a:off x="4217865" y="2775771"/>
                <a:ext cx="3788024"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𝜌</m:t>
                              </m:r>
                            </m:e>
                            <m:sub>
                              <m:r>
                                <a:rPr lang="en-US" sz="2400" b="0" i="1" smtClean="0">
                                  <a:solidFill>
                                    <a:schemeClr val="accent5">
                                      <a:lumMod val="75000"/>
                                    </a:schemeClr>
                                  </a:solidFill>
                                  <a:latin typeface="Cambria Math" panose="02040503050406030204" pitchFamily="18" charset="0"/>
                                </a:rPr>
                                <m:t>𝑟</m:t>
                              </m:r>
                            </m:sub>
                          </m:sSub>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𝑗</m:t>
                              </m:r>
                            </m:e>
                          </m:d>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𝑗</m:t>
                              </m:r>
                            </m:e>
                          </m:d>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𝒙</m:t>
                          </m:r>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𝒔</m:t>
                          </m:r>
                          <m:r>
                            <a:rPr lang="en-US" sz="2400" b="1"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𝑚𝑜𝑑</m:t>
                          </m:r>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𝑞</m:t>
                          </m:r>
                          <m:r>
                            <a:rPr lang="en-US" sz="2400" b="0" i="1" smtClean="0">
                              <a:solidFill>
                                <a:schemeClr val="accent5">
                                  <a:lumMod val="75000"/>
                                </a:schemeClr>
                              </a:solidFill>
                              <a:latin typeface="Cambria Math" panose="02040503050406030204" pitchFamily="18" charset="0"/>
                            </a:rPr>
                            <m:t>⟩</m:t>
                          </m:r>
                        </m:e>
                      </m:nary>
                    </m:oMath>
                  </m:oMathPara>
                </a14:m>
                <a:endParaRPr lang="en-US" sz="2400" dirty="0"/>
              </a:p>
            </p:txBody>
          </p:sp>
        </mc:Choice>
        <mc:Fallback xmlns="">
          <p:sp>
            <p:nvSpPr>
              <p:cNvPr id="6" name="TextBox 5">
                <a:extLst>
                  <a:ext uri="{FF2B5EF4-FFF2-40B4-BE49-F238E27FC236}">
                    <a16:creationId xmlns:a16="http://schemas.microsoft.com/office/drawing/2014/main" id="{A5EE643F-D98A-BB22-74DD-ED4AF7BE1D5C}"/>
                  </a:ext>
                </a:extLst>
              </p:cNvPr>
              <p:cNvSpPr txBox="1">
                <a:spLocks noRot="1" noChangeAspect="1" noMove="1" noResize="1" noEditPoints="1" noAdjustHandles="1" noChangeArrowheads="1" noChangeShapeType="1" noTextEdit="1"/>
              </p:cNvSpPr>
              <p:nvPr/>
            </p:nvSpPr>
            <p:spPr>
              <a:xfrm>
                <a:off x="4217865" y="2775771"/>
                <a:ext cx="3788024" cy="978345"/>
              </a:xfrm>
              <a:prstGeom prst="rect">
                <a:avLst/>
              </a:prstGeom>
              <a:blipFill>
                <a:blip r:embed="rId5"/>
                <a:stretch>
                  <a:fillRect l="-28094" t="-135897" r="-2341" b="-17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3D876B6-B698-3C4D-EC9C-58683A82FE96}"/>
                  </a:ext>
                </a:extLst>
              </p:cNvPr>
              <p:cNvSpPr txBox="1"/>
              <p:nvPr/>
            </p:nvSpPr>
            <p:spPr>
              <a:xfrm>
                <a:off x="8598569" y="824324"/>
                <a:ext cx="2755232" cy="512320"/>
              </a:xfrm>
              <a:prstGeom prst="rect">
                <a:avLst/>
              </a:prstGeom>
              <a:noFill/>
            </p:spPr>
            <p:txBody>
              <a:bodyPr wrap="square">
                <a:spAutoFit/>
              </a:bodyPr>
              <a:lstStyle/>
              <a:p>
                <a14:m>
                  <m:oMath xmlns:m="http://schemas.openxmlformats.org/officeDocument/2006/math">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𝜌</m:t>
                        </m:r>
                      </m:e>
                      <m:sub>
                        <m:r>
                          <a:rPr lang="en-US" sz="2400" b="0" i="1" smtClean="0">
                            <a:solidFill>
                              <a:srgbClr val="FF0000"/>
                            </a:solidFill>
                            <a:latin typeface="Cambria Math" panose="02040503050406030204" pitchFamily="18" charset="0"/>
                          </a:rPr>
                          <m:t>𝑟</m:t>
                        </m:r>
                      </m:sub>
                    </m:sSub>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𝑗</m:t>
                        </m:r>
                      </m:e>
                    </m:d>
                    <m:r>
                      <a:rPr lang="en-US" sz="2400" b="0" i="1" smtClean="0">
                        <a:solidFill>
                          <a:srgbClr val="FF0000"/>
                        </a:solidFill>
                        <a:latin typeface="Cambria Math" panose="02040503050406030204" pitchFamily="18" charset="0"/>
                      </a:rPr>
                      <m:t>=</m:t>
                    </m:r>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𝑒</m:t>
                        </m:r>
                      </m:e>
                      <m:sup>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𝜋</m:t>
                        </m:r>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𝑗</m:t>
                            </m:r>
                          </m:e>
                          <m:sup>
                            <m:r>
                              <a:rPr lang="en-US" sz="2400" b="0" i="1" smtClean="0">
                                <a:solidFill>
                                  <a:srgbClr val="FF0000"/>
                                </a:solidFill>
                                <a:latin typeface="Cambria Math" panose="02040503050406030204" pitchFamily="18" charset="0"/>
                              </a:rPr>
                              <m:t>2</m:t>
                            </m:r>
                          </m:sup>
                        </m:sSup>
                        <m:r>
                          <a:rPr lang="en-US" sz="2400" b="0" i="1" smtClean="0">
                            <a:solidFill>
                              <a:srgbClr val="FF0000"/>
                            </a:solidFill>
                            <a:latin typeface="Cambria Math" panose="02040503050406030204" pitchFamily="18" charset="0"/>
                          </a:rPr>
                          <m:t>/</m:t>
                        </m:r>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𝑟</m:t>
                            </m:r>
                          </m:e>
                          <m:sup>
                            <m:r>
                              <a:rPr lang="en-US" sz="2400" b="0" i="1" smtClean="0">
                                <a:solidFill>
                                  <a:srgbClr val="FF0000"/>
                                </a:solidFill>
                                <a:latin typeface="Cambria Math" panose="02040503050406030204" pitchFamily="18" charset="0"/>
                              </a:rPr>
                              <m:t>2</m:t>
                            </m:r>
                          </m:sup>
                        </m:sSup>
                      </m:sup>
                    </m:sSup>
                  </m:oMath>
                </a14:m>
                <a:r>
                  <a:rPr lang="en-US" sz="2400" dirty="0">
                    <a:solidFill>
                      <a:srgbClr val="FF0000"/>
                    </a:solidFill>
                  </a:rPr>
                  <a:t> </a:t>
                </a:r>
              </a:p>
            </p:txBody>
          </p:sp>
        </mc:Choice>
        <mc:Fallback xmlns="">
          <p:sp>
            <p:nvSpPr>
              <p:cNvPr id="8" name="TextBox 7">
                <a:extLst>
                  <a:ext uri="{FF2B5EF4-FFF2-40B4-BE49-F238E27FC236}">
                    <a16:creationId xmlns:a16="http://schemas.microsoft.com/office/drawing/2014/main" id="{73D876B6-B698-3C4D-EC9C-58683A82FE96}"/>
                  </a:ext>
                </a:extLst>
              </p:cNvPr>
              <p:cNvSpPr txBox="1">
                <a:spLocks noRot="1" noChangeAspect="1" noMove="1" noResize="1" noEditPoints="1" noAdjustHandles="1" noChangeArrowheads="1" noChangeShapeType="1" noTextEdit="1"/>
              </p:cNvSpPr>
              <p:nvPr/>
            </p:nvSpPr>
            <p:spPr>
              <a:xfrm>
                <a:off x="8598569" y="824324"/>
                <a:ext cx="2755232" cy="512320"/>
              </a:xfrm>
              <a:prstGeom prst="rect">
                <a:avLst/>
              </a:prstGeom>
              <a:blipFill>
                <a:blip r:embed="rId6"/>
                <a:stretch>
                  <a:fillRect l="-917" b="-1190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62CCE1B-DFC2-EFC4-31C7-01342336E60E}"/>
              </a:ext>
            </a:extLst>
          </p:cNvPr>
          <p:cNvSpPr txBox="1"/>
          <p:nvPr/>
        </p:nvSpPr>
        <p:spPr>
          <a:xfrm>
            <a:off x="866528" y="2917399"/>
            <a:ext cx="3302859" cy="461665"/>
          </a:xfrm>
          <a:prstGeom prst="rect">
            <a:avLst/>
          </a:prstGeom>
          <a:noFill/>
        </p:spPr>
        <p:txBody>
          <a:bodyPr wrap="square" rtlCol="0">
            <a:spAutoFit/>
          </a:bodyPr>
          <a:lstStyle/>
          <a:p>
            <a:r>
              <a:rPr lang="en-US" sz="2400" dirty="0"/>
              <a:t>Given a G-EDCP state: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8B7D28F-613B-BBC8-9A8F-26D153FEA667}"/>
                  </a:ext>
                </a:extLst>
              </p:cNvPr>
              <p:cNvSpPr txBox="1"/>
              <p:nvPr/>
            </p:nvSpPr>
            <p:spPr>
              <a:xfrm>
                <a:off x="1201090" y="4005378"/>
                <a:ext cx="2633734" cy="56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brk m:alnAt="2"/>
                            </m:rPr>
                            <a:rPr lang="en-US" sz="2400" b="0" i="0" smtClean="0">
                              <a:latin typeface="Cambria Math" panose="02040503050406030204" pitchFamily="18" charset="0"/>
                            </a:rPr>
                            <m:t>Q</m:t>
                          </m:r>
                          <m:r>
                            <m:rPr>
                              <m:nor/>
                            </m:rPr>
                            <a:rPr lang="en-US" sz="2400" b="0" i="0" smtClean="0">
                              <a:latin typeface="Cambria Math" panose="02040503050406030204" pitchFamily="18" charset="0"/>
                            </a:rPr>
                            <m:t>FT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on</m:t>
                          </m:r>
                          <m:r>
                            <m:rPr>
                              <m:nor/>
                            </m:rPr>
                            <a:rPr lang="en-US" sz="2400" b="0" i="0" smtClean="0">
                              <a:latin typeface="Cambria Math" panose="02040503050406030204" pitchFamily="18" charset="0"/>
                            </a:rPr>
                            <m:t> 2</m:t>
                          </m:r>
                          <m:r>
                            <m:rPr>
                              <m:nor/>
                            </m:rPr>
                            <a:rPr lang="en-US" sz="2400" b="0" i="0" baseline="30000" smtClean="0">
                              <a:latin typeface="Cambria Math" panose="02040503050406030204" pitchFamily="18" charset="0"/>
                            </a:rPr>
                            <m:t>nd</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register</m:t>
                          </m:r>
                          <m:r>
                            <m:rPr>
                              <m:nor/>
                            </m:rPr>
                            <a:rPr lang="en-US" sz="2400" b="0" i="0" smtClean="0">
                              <a:latin typeface="Cambria Math" panose="02040503050406030204" pitchFamily="18" charset="0"/>
                            </a:rPr>
                            <m:t> </m:t>
                          </m:r>
                        </m:e>
                      </m:groupChr>
                    </m:oMath>
                  </m:oMathPara>
                </a14:m>
                <a:endParaRPr lang="en-US" sz="2400" dirty="0"/>
              </a:p>
            </p:txBody>
          </p:sp>
        </mc:Choice>
        <mc:Fallback xmlns="">
          <p:sp>
            <p:nvSpPr>
              <p:cNvPr id="11" name="TextBox 10">
                <a:extLst>
                  <a:ext uri="{FF2B5EF4-FFF2-40B4-BE49-F238E27FC236}">
                    <a16:creationId xmlns:a16="http://schemas.microsoft.com/office/drawing/2014/main" id="{B8B7D28F-613B-BBC8-9A8F-26D153FEA667}"/>
                  </a:ext>
                </a:extLst>
              </p:cNvPr>
              <p:cNvSpPr txBox="1">
                <a:spLocks noRot="1" noChangeAspect="1" noMove="1" noResize="1" noEditPoints="1" noAdjustHandles="1" noChangeArrowheads="1" noChangeShapeType="1" noTextEdit="1"/>
              </p:cNvSpPr>
              <p:nvPr/>
            </p:nvSpPr>
            <p:spPr>
              <a:xfrm>
                <a:off x="1201090" y="4005378"/>
                <a:ext cx="2633734" cy="561436"/>
              </a:xfrm>
              <a:prstGeom prst="rect">
                <a:avLst/>
              </a:prstGeom>
              <a:blipFill>
                <a:blip r:embed="rId7"/>
                <a:stretch>
                  <a:fillRect l="-3365" t="-15556" r="-43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9FE86B5-FCB5-D58B-1630-A8A77A6ED4B0}"/>
                  </a:ext>
                </a:extLst>
              </p:cNvPr>
              <p:cNvSpPr txBox="1"/>
              <p:nvPr/>
            </p:nvSpPr>
            <p:spPr>
              <a:xfrm>
                <a:off x="4217865" y="3888902"/>
                <a:ext cx="3985515" cy="10008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b="1" i="1" smtClean="0">
                              <a:solidFill>
                                <a:schemeClr val="accent5">
                                  <a:lumMod val="75000"/>
                                </a:schemeClr>
                              </a:solidFill>
                              <a:latin typeface="Cambria Math" panose="02040503050406030204" pitchFamily="18" charset="0"/>
                            </a:rPr>
                            <m:t>𝒂</m:t>
                          </m:r>
                          <m:r>
                            <a:rPr lang="en-US" sz="2400" b="0" i="1" smtClean="0">
                              <a:solidFill>
                                <a:schemeClr val="accent5">
                                  <a:lumMod val="75000"/>
                                </a:schemeClr>
                              </a:solidFill>
                              <a:latin typeface="Cambria Math" panose="02040503050406030204" pitchFamily="18" charset="0"/>
                            </a:rPr>
                            <m:t>∈</m:t>
                          </m:r>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𝑛</m:t>
                              </m:r>
                            </m:sup>
                          </m:sSubSup>
                        </m:sub>
                        <m:sup/>
                        <m:e>
                          <m:nary>
                            <m:naryPr>
                              <m:chr m:val="∑"/>
                              <m:supHide m:val="on"/>
                              <m:ctrlPr>
                                <a:rPr lang="en-US" sz="2400" i="1">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sSubSup>
                                <m:sSubSupPr>
                                  <m:ctrlPr>
                                    <a:rPr lang="en-US" sz="2400" b="0" i="1" smtClean="0">
                                      <a:solidFill>
                                        <a:schemeClr val="accent5">
                                          <a:lumMod val="75000"/>
                                        </a:schemeClr>
                                      </a:solidFill>
                                      <a:latin typeface="Cambria Math" panose="02040503050406030204" pitchFamily="18" charset="0"/>
                                    </a:rPr>
                                  </m:ctrlPr>
                                </m:sSubSupPr>
                                <m:e>
                                  <m:r>
                                    <a:rPr lang="en-US" sz="2400" b="0" i="1" smtClean="0">
                                      <a:solidFill>
                                        <a:schemeClr val="accent5">
                                          <a:lumMod val="75000"/>
                                        </a:schemeClr>
                                      </a:solidFill>
                                      <a:latin typeface="Cambria Math" panose="02040503050406030204" pitchFamily="18" charset="0"/>
                                    </a:rPr>
                                    <m:t>𝜔</m:t>
                                  </m:r>
                                </m:e>
                                <m:sub>
                                  <m:r>
                                    <a:rPr lang="en-US" sz="2400" b="0" i="1" smtClean="0">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m:t>
                                  </m:r>
                                  <m:r>
                                    <m:rPr>
                                      <m:brk m:alnAt="7"/>
                                    </m:rPr>
                                    <a:rPr lang="en-US" sz="2400" b="1" i="1">
                                      <a:solidFill>
                                        <a:schemeClr val="accent5">
                                          <a:lumMod val="75000"/>
                                        </a:schemeClr>
                                      </a:solidFill>
                                      <a:latin typeface="Cambria Math" panose="02040503050406030204" pitchFamily="18" charset="0"/>
                                    </a:rPr>
                                    <m:t>𝒂</m:t>
                                  </m:r>
                                  <m:r>
                                    <a:rPr lang="en-US" sz="2400" b="0" i="1" smtClean="0">
                                      <a:solidFill>
                                        <a:schemeClr val="accent5">
                                          <a:lumMod val="75000"/>
                                        </a:schemeClr>
                                      </a:solidFill>
                                      <a:latin typeface="Cambria Math" panose="02040503050406030204" pitchFamily="18" charset="0"/>
                                    </a:rPr>
                                    <m:t>,</m:t>
                                  </m:r>
                                  <m:d>
                                    <m:dPr>
                                      <m:ctrlPr>
                                        <a:rPr lang="en-US" sz="2400" b="0" i="1" smtClean="0">
                                          <a:solidFill>
                                            <a:schemeClr val="accent5">
                                              <a:lumMod val="75000"/>
                                            </a:schemeClr>
                                          </a:solidFill>
                                          <a:latin typeface="Cambria Math" panose="02040503050406030204" pitchFamily="18" charset="0"/>
                                        </a:rPr>
                                      </m:ctrlPr>
                                    </m:dPr>
                                    <m:e>
                                      <m:r>
                                        <a:rPr lang="en-US" sz="2400" b="1" i="1" smtClean="0">
                                          <a:solidFill>
                                            <a:schemeClr val="accent5">
                                              <a:lumMod val="75000"/>
                                            </a:schemeClr>
                                          </a:solidFill>
                                          <a:latin typeface="Cambria Math" panose="02040503050406030204" pitchFamily="18" charset="0"/>
                                        </a:rPr>
                                        <m:t>𝒙</m:t>
                                      </m:r>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𝒔</m:t>
                                      </m:r>
                                    </m:e>
                                  </m:d>
                                  <m:r>
                                    <a:rPr lang="en-US" sz="2400" b="0" i="1" smtClean="0">
                                      <a:solidFill>
                                        <a:schemeClr val="accent5">
                                          <a:lumMod val="75000"/>
                                        </a:schemeClr>
                                      </a:solidFill>
                                      <a:latin typeface="Cambria Math" panose="02040503050406030204" pitchFamily="18" charset="0"/>
                                    </a:rPr>
                                    <m:t>⟩</m:t>
                                  </m:r>
                                </m:sup>
                              </m:sSubSup>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𝜌</m:t>
                                  </m:r>
                                </m:e>
                                <m:sub>
                                  <m:r>
                                    <a:rPr lang="en-US" sz="2400" i="1">
                                      <a:solidFill>
                                        <a:schemeClr val="accent5">
                                          <a:lumMod val="75000"/>
                                        </a:schemeClr>
                                      </a:solidFill>
                                      <a:latin typeface="Cambria Math" panose="02040503050406030204" pitchFamily="18" charset="0"/>
                                    </a:rPr>
                                    <m:t>𝑟</m:t>
                                  </m:r>
                                </m:sub>
                              </m:sSub>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r>
                                <a:rPr lang="en-US" sz="2400" b="1" i="1">
                                  <a:solidFill>
                                    <a:schemeClr val="accent5">
                                      <a:lumMod val="75000"/>
                                    </a:schemeClr>
                                  </a:solidFill>
                                  <a:latin typeface="Cambria Math" panose="02040503050406030204" pitchFamily="18" charset="0"/>
                                </a:rPr>
                                <m:t>|</m:t>
                              </m:r>
                              <m:r>
                                <m:rPr>
                                  <m:brk m:alnAt="7"/>
                                </m:rPr>
                                <a:rPr lang="en-US" sz="2400" b="1" i="1">
                                  <a:solidFill>
                                    <a:schemeClr val="accent5">
                                      <a:lumMod val="75000"/>
                                    </a:schemeClr>
                                  </a:solidFill>
                                  <a:latin typeface="Cambria Math" panose="02040503050406030204" pitchFamily="18" charset="0"/>
                                </a:rPr>
                                <m:t>𝒂</m:t>
                              </m:r>
                              <m:r>
                                <a:rPr lang="en-US" sz="2400" i="1">
                                  <a:solidFill>
                                    <a:schemeClr val="accent5">
                                      <a:lumMod val="75000"/>
                                    </a:schemeClr>
                                  </a:solidFill>
                                  <a:latin typeface="Cambria Math" panose="02040503050406030204" pitchFamily="18" charset="0"/>
                                </a:rPr>
                                <m:t>⟩</m:t>
                              </m:r>
                            </m:e>
                          </m:nary>
                        </m:e>
                      </m:nary>
                    </m:oMath>
                  </m:oMathPara>
                </a14:m>
                <a:endParaRPr lang="en-US" sz="2400" dirty="0"/>
              </a:p>
            </p:txBody>
          </p:sp>
        </mc:Choice>
        <mc:Fallback xmlns="">
          <p:sp>
            <p:nvSpPr>
              <p:cNvPr id="12" name="TextBox 11">
                <a:extLst>
                  <a:ext uri="{FF2B5EF4-FFF2-40B4-BE49-F238E27FC236}">
                    <a16:creationId xmlns:a16="http://schemas.microsoft.com/office/drawing/2014/main" id="{39FE86B5-FCB5-D58B-1630-A8A77A6ED4B0}"/>
                  </a:ext>
                </a:extLst>
              </p:cNvPr>
              <p:cNvSpPr txBox="1">
                <a:spLocks noRot="1" noChangeAspect="1" noMove="1" noResize="1" noEditPoints="1" noAdjustHandles="1" noChangeArrowheads="1" noChangeShapeType="1" noTextEdit="1"/>
              </p:cNvSpPr>
              <p:nvPr/>
            </p:nvSpPr>
            <p:spPr>
              <a:xfrm>
                <a:off x="4217865" y="3888902"/>
                <a:ext cx="3985515" cy="1000851"/>
              </a:xfrm>
              <a:prstGeom prst="rect">
                <a:avLst/>
              </a:prstGeom>
              <a:blipFill>
                <a:blip r:embed="rId8"/>
                <a:stretch>
                  <a:fillRect l="-26349" t="-134177" r="-2222" b="-174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D4FE8A-6481-0641-9F06-8F1EA4D87F7D}"/>
                  </a:ext>
                </a:extLst>
              </p:cNvPr>
              <p:cNvSpPr txBox="1"/>
              <p:nvPr/>
            </p:nvSpPr>
            <p:spPr>
              <a:xfrm>
                <a:off x="1201090" y="5149454"/>
                <a:ext cx="2745945" cy="56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rPr>
                            <a:rPr lang="en-US" sz="2400" b="0" i="0" smtClean="0">
                              <a:latin typeface="Cambria Math" panose="02040503050406030204" pitchFamily="18" charset="0"/>
                            </a:rPr>
                            <m:t>Measure</m:t>
                          </m:r>
                          <m:r>
                            <m:rPr>
                              <m:nor/>
                            </m:rPr>
                            <a:rPr lang="en-US" sz="2400" b="0" i="0" smtClean="0">
                              <a:latin typeface="Cambria Math" panose="02040503050406030204" pitchFamily="18" charset="0"/>
                            </a:rPr>
                            <m:t> 2</m:t>
                          </m:r>
                          <m:r>
                            <m:rPr>
                              <m:nor/>
                            </m:rPr>
                            <a:rPr lang="en-US" sz="2400" b="0" i="0" baseline="30000" smtClean="0">
                              <a:latin typeface="Cambria Math" panose="02040503050406030204" pitchFamily="18" charset="0"/>
                            </a:rPr>
                            <m:t>nd</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register</m:t>
                          </m:r>
                        </m:e>
                      </m:groupChr>
                    </m:oMath>
                  </m:oMathPara>
                </a14:m>
                <a:endParaRPr lang="en-US" sz="2400" dirty="0"/>
              </a:p>
            </p:txBody>
          </p:sp>
        </mc:Choice>
        <mc:Fallback xmlns="">
          <p:sp>
            <p:nvSpPr>
              <p:cNvPr id="13" name="TextBox 12">
                <a:extLst>
                  <a:ext uri="{FF2B5EF4-FFF2-40B4-BE49-F238E27FC236}">
                    <a16:creationId xmlns:a16="http://schemas.microsoft.com/office/drawing/2014/main" id="{6CD4FE8A-6481-0641-9F06-8F1EA4D87F7D}"/>
                  </a:ext>
                </a:extLst>
              </p:cNvPr>
              <p:cNvSpPr txBox="1">
                <a:spLocks noRot="1" noChangeAspect="1" noMove="1" noResize="1" noEditPoints="1" noAdjustHandles="1" noChangeArrowheads="1" noChangeShapeType="1" noTextEdit="1"/>
              </p:cNvSpPr>
              <p:nvPr/>
            </p:nvSpPr>
            <p:spPr>
              <a:xfrm>
                <a:off x="1201090" y="5149454"/>
                <a:ext cx="2745945" cy="561436"/>
              </a:xfrm>
              <a:prstGeom prst="rect">
                <a:avLst/>
              </a:prstGeom>
              <a:blipFill>
                <a:blip r:embed="rId9"/>
                <a:stretch>
                  <a:fillRect l="-2304" t="-15556" r="-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C6D26E6-9BAC-6CC0-028C-21E9C6CD5E55}"/>
                  </a:ext>
                </a:extLst>
              </p:cNvPr>
              <p:cNvSpPr txBox="1"/>
              <p:nvPr/>
            </p:nvSpPr>
            <p:spPr>
              <a:xfrm>
                <a:off x="4217865" y="4975751"/>
                <a:ext cx="3333028"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 </m:t>
                      </m:r>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sSubSup>
                            <m:sSubSupPr>
                              <m:ctrlPr>
                                <a:rPr lang="en-US" sz="2400" i="1">
                                  <a:solidFill>
                                    <a:schemeClr val="accent5">
                                      <a:lumMod val="75000"/>
                                    </a:schemeClr>
                                  </a:solidFill>
                                  <a:latin typeface="Cambria Math" panose="02040503050406030204" pitchFamily="18" charset="0"/>
                                </a:rPr>
                              </m:ctrlPr>
                            </m:sSubSupPr>
                            <m:e>
                              <m:r>
                                <a:rPr lang="en-US" sz="2400" i="1">
                                  <a:solidFill>
                                    <a:schemeClr val="accent5">
                                      <a:lumMod val="75000"/>
                                    </a:schemeClr>
                                  </a:solidFill>
                                  <a:latin typeface="Cambria Math" panose="02040503050406030204" pitchFamily="18" charset="0"/>
                                </a:rPr>
                                <m:t>𝜔</m:t>
                              </m:r>
                            </m:e>
                            <m:sub>
                              <m:r>
                                <a:rPr lang="en-US" sz="2400" i="1">
                                  <a:solidFill>
                                    <a:schemeClr val="accent5">
                                      <a:lumMod val="75000"/>
                                    </a:schemeClr>
                                  </a:solidFill>
                                  <a:latin typeface="Cambria Math" panose="02040503050406030204" pitchFamily="18" charset="0"/>
                                </a:rPr>
                                <m:t>𝑞</m:t>
                              </m:r>
                            </m:sub>
                            <m:sup>
                              <m:r>
                                <a:rPr lang="en-US" sz="2400" i="1">
                                  <a:solidFill>
                                    <a:schemeClr val="accent5">
                                      <a:lumMod val="75000"/>
                                    </a:schemeClr>
                                  </a:solidFill>
                                  <a:latin typeface="Cambria Math" panose="02040503050406030204" pitchFamily="18" charset="0"/>
                                </a:rPr>
                                <m:t>⟨</m:t>
                              </m:r>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i="1">
                                  <a:solidFill>
                                    <a:schemeClr val="accent5">
                                      <a:lumMod val="75000"/>
                                    </a:schemeClr>
                                  </a:solidFill>
                                  <a:latin typeface="Cambria Math" panose="02040503050406030204" pitchFamily="18" charset="0"/>
                                </a:rPr>
                                <m:t>,</m:t>
                              </m:r>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𝒔</m:t>
                                  </m:r>
                                </m:e>
                              </m:d>
                              <m:r>
                                <a:rPr lang="en-US" sz="2400" i="1">
                                  <a:solidFill>
                                    <a:schemeClr val="accent5">
                                      <a:lumMod val="75000"/>
                                    </a:schemeClr>
                                  </a:solidFill>
                                  <a:latin typeface="Cambria Math" panose="02040503050406030204" pitchFamily="18" charset="0"/>
                                </a:rPr>
                                <m:t>⟩</m:t>
                              </m:r>
                            </m:sup>
                          </m:sSubSup>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𝜌</m:t>
                              </m:r>
                            </m:e>
                            <m:sub>
                              <m:r>
                                <a:rPr lang="en-US" sz="2400" i="1">
                                  <a:solidFill>
                                    <a:schemeClr val="accent5">
                                      <a:lumMod val="75000"/>
                                    </a:schemeClr>
                                  </a:solidFill>
                                  <a:latin typeface="Cambria Math" panose="02040503050406030204" pitchFamily="18" charset="0"/>
                                </a:rPr>
                                <m:t>𝑟</m:t>
                              </m:r>
                            </m:sub>
                          </m:sSub>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e>
                      </m:nary>
                    </m:oMath>
                  </m:oMathPara>
                </a14:m>
                <a:endParaRPr lang="en-US" sz="2400" dirty="0"/>
              </a:p>
            </p:txBody>
          </p:sp>
        </mc:Choice>
        <mc:Fallback xmlns="">
          <p:sp>
            <p:nvSpPr>
              <p:cNvPr id="14" name="TextBox 13">
                <a:extLst>
                  <a:ext uri="{FF2B5EF4-FFF2-40B4-BE49-F238E27FC236}">
                    <a16:creationId xmlns:a16="http://schemas.microsoft.com/office/drawing/2014/main" id="{8C6D26E6-9BAC-6CC0-028C-21E9C6CD5E55}"/>
                  </a:ext>
                </a:extLst>
              </p:cNvPr>
              <p:cNvSpPr txBox="1">
                <a:spLocks noRot="1" noChangeAspect="1" noMove="1" noResize="1" noEditPoints="1" noAdjustHandles="1" noChangeArrowheads="1" noChangeShapeType="1" noTextEdit="1"/>
              </p:cNvSpPr>
              <p:nvPr/>
            </p:nvSpPr>
            <p:spPr>
              <a:xfrm>
                <a:off x="4217865" y="4975751"/>
                <a:ext cx="3333028" cy="978345"/>
              </a:xfrm>
              <a:prstGeom prst="rect">
                <a:avLst/>
              </a:prstGeom>
              <a:blipFill>
                <a:blip r:embed="rId10"/>
                <a:stretch>
                  <a:fillRect l="-16730" t="-135897" b="-179487"/>
                </a:stretch>
              </a:blipFill>
            </p:spPr>
            <p:txBody>
              <a:bodyPr/>
              <a:lstStyle/>
              <a:p>
                <a:r>
                  <a:rPr lang="en-US">
                    <a:noFill/>
                  </a:rPr>
                  <a:t> </a:t>
                </a:r>
              </a:p>
            </p:txBody>
          </p:sp>
        </mc:Fallback>
      </mc:AlternateContent>
      <p:sp>
        <p:nvSpPr>
          <p:cNvPr id="15" name="Bent Up Arrow 14">
            <a:extLst>
              <a:ext uri="{FF2B5EF4-FFF2-40B4-BE49-F238E27FC236}">
                <a16:creationId xmlns:a16="http://schemas.microsoft.com/office/drawing/2014/main" id="{FE842D48-9858-D21F-567E-59EAAE491DE6}"/>
              </a:ext>
            </a:extLst>
          </p:cNvPr>
          <p:cNvSpPr/>
          <p:nvPr/>
        </p:nvSpPr>
        <p:spPr>
          <a:xfrm rot="10800000" flipV="1">
            <a:off x="4330073" y="5710890"/>
            <a:ext cx="2362267" cy="538574"/>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TextBox 15">
            <a:extLst>
              <a:ext uri="{FF2B5EF4-FFF2-40B4-BE49-F238E27FC236}">
                <a16:creationId xmlns:a16="http://schemas.microsoft.com/office/drawing/2014/main" id="{73039E1B-CB7D-37F8-CE8D-FBD67481EBB2}"/>
              </a:ext>
            </a:extLst>
          </p:cNvPr>
          <p:cNvSpPr txBox="1"/>
          <p:nvPr/>
        </p:nvSpPr>
        <p:spPr>
          <a:xfrm>
            <a:off x="6804547" y="5833966"/>
            <a:ext cx="2137870" cy="830997"/>
          </a:xfrm>
          <a:prstGeom prst="rect">
            <a:avLst/>
          </a:prstGeom>
          <a:noFill/>
        </p:spPr>
        <p:txBody>
          <a:bodyPr wrap="square" rtlCol="0">
            <a:spAutoFit/>
          </a:bodyPr>
          <a:lstStyle/>
          <a:p>
            <a:r>
              <a:rPr lang="en-US" sz="2400" dirty="0">
                <a:solidFill>
                  <a:schemeClr val="accent6"/>
                </a:solidFill>
              </a:rPr>
              <a:t>LHS of LWE sample</a:t>
            </a:r>
          </a:p>
        </p:txBody>
      </p:sp>
      <p:sp>
        <p:nvSpPr>
          <p:cNvPr id="3" name="TextBox 2">
            <a:extLst>
              <a:ext uri="{FF2B5EF4-FFF2-40B4-BE49-F238E27FC236}">
                <a16:creationId xmlns:a16="http://schemas.microsoft.com/office/drawing/2014/main" id="{5023F0D7-79D9-842C-6749-3050DA418307}"/>
              </a:ext>
            </a:extLst>
          </p:cNvPr>
          <p:cNvSpPr txBox="1"/>
          <p:nvPr/>
        </p:nvSpPr>
        <p:spPr>
          <a:xfrm>
            <a:off x="3277911" y="2002397"/>
            <a:ext cx="8050138" cy="461665"/>
          </a:xfrm>
          <a:prstGeom prst="rect">
            <a:avLst/>
          </a:prstGeom>
          <a:noFill/>
        </p:spPr>
        <p:txBody>
          <a:bodyPr wrap="square" rtlCol="0">
            <a:spAutoFit/>
          </a:bodyPr>
          <a:lstStyle/>
          <a:p>
            <a:r>
              <a:rPr lang="en-US" sz="2400" dirty="0"/>
              <a:t>Want to utilize the Gaussian amplitudes to get LWE samples </a:t>
            </a:r>
          </a:p>
        </p:txBody>
      </p:sp>
    </p:spTree>
    <p:extLst>
      <p:ext uri="{BB962C8B-B14F-4D97-AF65-F5344CB8AC3E}">
        <p14:creationId xmlns:p14="http://schemas.microsoft.com/office/powerpoint/2010/main" val="103288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1" grpId="0"/>
      <p:bldP spid="12" grpId="0"/>
      <p:bldP spid="13" grpId="0"/>
      <p:bldP spid="14" grpId="0"/>
      <p:bldP spid="15" grpId="0" animBg="1"/>
      <p:bldP spid="16"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7614FF7-A3CB-B326-9ACD-CF2FE9D40D75}"/>
                  </a:ext>
                </a:extLst>
              </p:cNvPr>
              <p:cNvSpPr>
                <a:spLocks noGrp="1"/>
              </p:cNvSpPr>
              <p:nvPr>
                <p:ph type="title"/>
              </p:nvPr>
            </p:nvSpPr>
            <p:spPr/>
            <p:txBody>
              <a:bodyPr/>
              <a:lstStyle/>
              <a:p>
                <a:r>
                  <a:rPr lang="en-US" dirty="0"/>
                  <a:t>LWE </a:t>
                </a:r>
                <a14:m>
                  <m:oMath xmlns:m="http://schemas.openxmlformats.org/officeDocument/2006/math">
                    <m:r>
                      <a:rPr lang="en-US" i="1">
                        <a:latin typeface="Cambria Math" panose="02040503050406030204" pitchFamily="18" charset="0"/>
                      </a:rPr>
                      <m:t>≡</m:t>
                    </m:r>
                  </m:oMath>
                </a14:m>
                <a:r>
                  <a:rPr lang="en-US" dirty="0"/>
                  <a:t> Extrapolated DCP</a:t>
                </a:r>
              </a:p>
            </p:txBody>
          </p:sp>
        </mc:Choice>
        <mc:Fallback xmlns="">
          <p:sp>
            <p:nvSpPr>
              <p:cNvPr id="2" name="Title 1">
                <a:extLst>
                  <a:ext uri="{FF2B5EF4-FFF2-40B4-BE49-F238E27FC236}">
                    <a16:creationId xmlns:a16="http://schemas.microsoft.com/office/drawing/2014/main" id="{27614FF7-A3CB-B326-9ACD-CF2FE9D40D75}"/>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B2ED4A-BCFF-F5A6-8607-2AAC67932F26}"/>
                  </a:ext>
                </a:extLst>
              </p:cNvPr>
              <p:cNvSpPr txBox="1"/>
              <p:nvPr/>
            </p:nvSpPr>
            <p:spPr>
              <a:xfrm>
                <a:off x="1288990" y="2727141"/>
                <a:ext cx="2641749" cy="56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brk m:alnAt="2"/>
                            </m:rPr>
                            <a:rPr lang="en-US" sz="2400" b="0" i="0" smtClean="0">
                              <a:latin typeface="Cambria Math" panose="02040503050406030204" pitchFamily="18" charset="0"/>
                            </a:rPr>
                            <m:t>Q</m:t>
                          </m:r>
                          <m:r>
                            <m:rPr>
                              <m:nor/>
                            </m:rPr>
                            <a:rPr lang="en-US" sz="2400" b="0" i="0" smtClean="0">
                              <a:latin typeface="Cambria Math" panose="02040503050406030204" pitchFamily="18" charset="0"/>
                            </a:rPr>
                            <m:t>FT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on</m:t>
                          </m:r>
                          <m:r>
                            <m:rPr>
                              <m:nor/>
                            </m:rPr>
                            <a:rPr lang="en-US" sz="2400" b="0" i="0" smtClean="0">
                              <a:latin typeface="Cambria Math" panose="02040503050406030204" pitchFamily="18" charset="0"/>
                            </a:rPr>
                            <m:t> 1</m:t>
                          </m:r>
                          <m:r>
                            <m:rPr>
                              <m:nor/>
                            </m:rPr>
                            <a:rPr lang="en-US" sz="2400" b="0" i="0" smtClean="0">
                              <a:latin typeface="Cambria Math" panose="02040503050406030204" pitchFamily="18" charset="0"/>
                            </a:rPr>
                            <m:t>st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register</m:t>
                          </m:r>
                          <m:r>
                            <m:rPr>
                              <m:nor/>
                            </m:rPr>
                            <a:rPr lang="en-US" sz="2400" b="0" i="0" smtClean="0">
                              <a:latin typeface="Cambria Math" panose="02040503050406030204" pitchFamily="18" charset="0"/>
                            </a:rPr>
                            <m:t> </m:t>
                          </m:r>
                        </m:e>
                      </m:groupChr>
                    </m:oMath>
                  </m:oMathPara>
                </a14:m>
                <a:endParaRPr lang="en-US" sz="2400" dirty="0"/>
              </a:p>
            </p:txBody>
          </p:sp>
        </mc:Choice>
        <mc:Fallback xmlns="">
          <p:sp>
            <p:nvSpPr>
              <p:cNvPr id="4" name="TextBox 3">
                <a:extLst>
                  <a:ext uri="{FF2B5EF4-FFF2-40B4-BE49-F238E27FC236}">
                    <a16:creationId xmlns:a16="http://schemas.microsoft.com/office/drawing/2014/main" id="{EDB2ED4A-BCFF-F5A6-8607-2AAC67932F26}"/>
                  </a:ext>
                </a:extLst>
              </p:cNvPr>
              <p:cNvSpPr txBox="1">
                <a:spLocks noRot="1" noChangeAspect="1" noMove="1" noResize="1" noEditPoints="1" noAdjustHandles="1" noChangeArrowheads="1" noChangeShapeType="1" noTextEdit="1"/>
              </p:cNvSpPr>
              <p:nvPr/>
            </p:nvSpPr>
            <p:spPr>
              <a:xfrm>
                <a:off x="1288990" y="2727141"/>
                <a:ext cx="2641749" cy="561436"/>
              </a:xfrm>
              <a:prstGeom prst="rect">
                <a:avLst/>
              </a:prstGeom>
              <a:blipFill>
                <a:blip r:embed="rId3"/>
                <a:stretch>
                  <a:fillRect l="-3349" t="-15556" r="-43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915F10-7F5C-9268-5720-09410A9A8C08}"/>
                  </a:ext>
                </a:extLst>
              </p:cNvPr>
              <p:cNvSpPr txBox="1"/>
              <p:nvPr/>
            </p:nvSpPr>
            <p:spPr>
              <a:xfrm>
                <a:off x="4097649" y="2548567"/>
                <a:ext cx="4124912"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 </m:t>
                      </m:r>
                      <m:nary>
                        <m:naryPr>
                          <m:chr m:val="∑"/>
                          <m:supHide m:val="on"/>
                          <m:ctrlPr>
                            <a:rPr lang="en-US" sz="2400" b="0" i="1" smtClean="0">
                              <a:solidFill>
                                <a:schemeClr val="accent5">
                                  <a:lumMod val="75000"/>
                                </a:schemeClr>
                              </a:solidFill>
                              <a:latin typeface="Cambria Math" panose="02040503050406030204" pitchFamily="18" charset="0"/>
                            </a:rPr>
                          </m:ctrlPr>
                        </m:naryPr>
                        <m:sub>
                          <m:r>
                            <m:rPr>
                              <m:brk m:alnAt="7"/>
                            </m:rP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nary>
                            <m:naryPr>
                              <m:chr m:val="∑"/>
                              <m:supHide m:val="on"/>
                              <m:ctrlPr>
                                <a:rPr lang="en-US" sz="2400" i="1">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ℤ</m:t>
                              </m:r>
                            </m:sub>
                            <m:sup/>
                            <m:e>
                              <m:sSubSup>
                                <m:sSubSupPr>
                                  <m:ctrlPr>
                                    <a:rPr lang="en-US" sz="2400" i="1">
                                      <a:solidFill>
                                        <a:schemeClr val="accent5">
                                          <a:lumMod val="75000"/>
                                        </a:schemeClr>
                                      </a:solidFill>
                                      <a:latin typeface="Cambria Math" panose="02040503050406030204" pitchFamily="18" charset="0"/>
                                    </a:rPr>
                                  </m:ctrlPr>
                                </m:sSubSupPr>
                                <m:e>
                                  <m:r>
                                    <a:rPr lang="en-US" sz="2400" i="1">
                                      <a:solidFill>
                                        <a:schemeClr val="accent5">
                                          <a:lumMod val="75000"/>
                                        </a:schemeClr>
                                      </a:solidFill>
                                      <a:latin typeface="Cambria Math" panose="02040503050406030204" pitchFamily="18" charset="0"/>
                                    </a:rPr>
                                    <m:t>𝜔</m:t>
                                  </m:r>
                                </m:e>
                                <m:sub>
                                  <m:r>
                                    <a:rPr lang="en-US" sz="2400" i="1">
                                      <a:solidFill>
                                        <a:schemeClr val="accent5">
                                          <a:lumMod val="75000"/>
                                        </a:schemeClr>
                                      </a:solidFill>
                                      <a:latin typeface="Cambria Math" panose="02040503050406030204" pitchFamily="18" charset="0"/>
                                    </a:rPr>
                                    <m:t>𝑞</m:t>
                                  </m:r>
                                </m:sub>
                                <m:sup>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d>
                                    <m:dPr>
                                      <m:begChr m:val="⟨"/>
                                      <m:endChr m:val="⟩"/>
                                      <m:ctrlPr>
                                        <a:rPr lang="en-US" sz="2400" b="0" i="1">
                                          <a:solidFill>
                                            <a:schemeClr val="accent5">
                                              <a:lumMod val="75000"/>
                                            </a:schemeClr>
                                          </a:solidFill>
                                          <a:latin typeface="Cambria Math" panose="02040503050406030204" pitchFamily="18" charset="0"/>
                                        </a:rPr>
                                      </m:ctrlPr>
                                    </m:dPr>
                                    <m:e>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 </m:t>
                                      </m:r>
                                      <m:r>
                                        <a:rPr lang="en-US" sz="2400" b="1" i="1" smtClean="0">
                                          <a:solidFill>
                                            <a:schemeClr val="accent5">
                                              <a:lumMod val="75000"/>
                                            </a:schemeClr>
                                          </a:solidFill>
                                          <a:latin typeface="Cambria Math" panose="02040503050406030204" pitchFamily="18" charset="0"/>
                                        </a:rPr>
                                        <m:t>𝒔</m:t>
                                      </m:r>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sup>
                              </m:sSubSup>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𝜌</m:t>
                                  </m:r>
                                </m:e>
                                <m:sub>
                                  <m:r>
                                    <a:rPr lang="en-US" sz="2400" i="1">
                                      <a:solidFill>
                                        <a:schemeClr val="accent5">
                                          <a:lumMod val="75000"/>
                                        </a:schemeClr>
                                      </a:solidFill>
                                      <a:latin typeface="Cambria Math" panose="02040503050406030204" pitchFamily="18" charset="0"/>
                                    </a:rPr>
                                    <m:t>𝑟</m:t>
                                  </m:r>
                                </m:sub>
                              </m:sSub>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𝑏</m:t>
                                  </m:r>
                                </m:e>
                              </m:d>
                            </m:e>
                          </m:nary>
                        </m:e>
                      </m:nary>
                    </m:oMath>
                  </m:oMathPara>
                </a14:m>
                <a:endParaRPr lang="en-US" sz="2400" dirty="0"/>
              </a:p>
            </p:txBody>
          </p:sp>
        </mc:Choice>
        <mc:Fallback xmlns="">
          <p:sp>
            <p:nvSpPr>
              <p:cNvPr id="5" name="TextBox 4">
                <a:extLst>
                  <a:ext uri="{FF2B5EF4-FFF2-40B4-BE49-F238E27FC236}">
                    <a16:creationId xmlns:a16="http://schemas.microsoft.com/office/drawing/2014/main" id="{11915F10-7F5C-9268-5720-09410A9A8C08}"/>
                  </a:ext>
                </a:extLst>
              </p:cNvPr>
              <p:cNvSpPr txBox="1">
                <a:spLocks noRot="1" noChangeAspect="1" noMove="1" noResize="1" noEditPoints="1" noAdjustHandles="1" noChangeArrowheads="1" noChangeShapeType="1" noTextEdit="1"/>
              </p:cNvSpPr>
              <p:nvPr/>
            </p:nvSpPr>
            <p:spPr>
              <a:xfrm>
                <a:off x="4097649" y="2548567"/>
                <a:ext cx="4124912" cy="978345"/>
              </a:xfrm>
              <a:prstGeom prst="rect">
                <a:avLst/>
              </a:prstGeom>
              <a:blipFill>
                <a:blip r:embed="rId4"/>
                <a:stretch>
                  <a:fillRect l="-12883" t="-135897" b="-179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08C720-3982-4406-F733-D52D089D0C51}"/>
                  </a:ext>
                </a:extLst>
              </p:cNvPr>
              <p:cNvSpPr txBox="1"/>
              <p:nvPr/>
            </p:nvSpPr>
            <p:spPr>
              <a:xfrm>
                <a:off x="3638992" y="3820712"/>
                <a:ext cx="2917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7008C720-3982-4406-F733-D52D089D0C51}"/>
                  </a:ext>
                </a:extLst>
              </p:cNvPr>
              <p:cNvSpPr txBox="1">
                <a:spLocks noRot="1" noChangeAspect="1" noMove="1" noResize="1" noEditPoints="1" noAdjustHandles="1" noChangeArrowheads="1" noChangeShapeType="1" noTextEdit="1"/>
              </p:cNvSpPr>
              <p:nvPr/>
            </p:nvSpPr>
            <p:spPr>
              <a:xfrm>
                <a:off x="3638992" y="3820712"/>
                <a:ext cx="291747" cy="369332"/>
              </a:xfrm>
              <a:prstGeom prst="rect">
                <a:avLst/>
              </a:prstGeom>
              <a:blipFill>
                <a:blip r:embed="rId5"/>
                <a:stretch>
                  <a:fillRect l="-12500" r="-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609F9D-CE50-356E-99D4-572337741FB0}"/>
                  </a:ext>
                </a:extLst>
              </p:cNvPr>
              <p:cNvSpPr txBox="1"/>
              <p:nvPr/>
            </p:nvSpPr>
            <p:spPr>
              <a:xfrm>
                <a:off x="4097649" y="3608903"/>
                <a:ext cx="4862485" cy="10016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 </m:t>
                      </m:r>
                      <m:nary>
                        <m:naryPr>
                          <m:chr m:val="∑"/>
                          <m:supHide m:val="on"/>
                          <m:ctrlPr>
                            <a:rPr lang="en-US" sz="2400" b="0" i="1" smtClean="0">
                              <a:solidFill>
                                <a:schemeClr val="accent5">
                                  <a:lumMod val="75000"/>
                                </a:schemeClr>
                              </a:solidFill>
                              <a:latin typeface="Cambria Math" panose="02040503050406030204" pitchFamily="18" charset="0"/>
                            </a:rPr>
                          </m:ctrlPr>
                        </m:naryPr>
                        <m:sub>
                          <m:r>
                            <m:rPr>
                              <m:brk m:alnAt="7"/>
                            </m:rP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nary>
                            <m:naryPr>
                              <m:chr m:val="∑"/>
                              <m:supHide m:val="on"/>
                              <m:ctrlPr>
                                <a:rPr lang="en-US" sz="2400" i="1">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ℤ</m:t>
                              </m:r>
                            </m:sub>
                            <m:sup/>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𝜌</m:t>
                                  </m:r>
                                </m:e>
                                <m:sub>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𝑟</m:t>
                                  </m:r>
                                </m:sub>
                              </m:sSub>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f>
                                    <m:fPr>
                                      <m:ctrlPr>
                                        <a:rPr lang="en-US" sz="2400" b="0" i="1" smtClean="0">
                                          <a:solidFill>
                                            <a:schemeClr val="accent5">
                                              <a:lumMod val="75000"/>
                                            </a:schemeClr>
                                          </a:solidFill>
                                          <a:latin typeface="Cambria Math" panose="02040503050406030204" pitchFamily="18" charset="0"/>
                                        </a:rPr>
                                      </m:ctrlPr>
                                    </m:fPr>
                                    <m:num>
                                      <m:d>
                                        <m:dPr>
                                          <m:begChr m:val="⟨"/>
                                          <m:endChr m:val="⟩"/>
                                          <m:ctrlPr>
                                            <a:rPr lang="en-US" sz="2400" i="1">
                                              <a:solidFill>
                                                <a:schemeClr val="accent5">
                                                  <a:lumMod val="75000"/>
                                                </a:schemeClr>
                                              </a:solidFill>
                                              <a:latin typeface="Cambria Math" panose="02040503050406030204" pitchFamily="18" charset="0"/>
                                            </a:rPr>
                                          </m:ctrlPr>
                                        </m:dPr>
                                        <m:e>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a:solidFill>
                                                <a:schemeClr val="accent5">
                                                  <a:lumMod val="75000"/>
                                                </a:schemeClr>
                                              </a:solidFill>
                                              <a:latin typeface="Cambria Math" panose="02040503050406030204" pitchFamily="18" charset="0"/>
                                            </a:rPr>
                                            <m:t>, </m:t>
                                          </m:r>
                                          <m:r>
                                            <a:rPr lang="en-US" sz="2400" b="1" i="1">
                                              <a:solidFill>
                                                <a:schemeClr val="accent5">
                                                  <a:lumMod val="75000"/>
                                                </a:schemeClr>
                                              </a:solidFill>
                                              <a:latin typeface="Cambria Math" panose="02040503050406030204" pitchFamily="18" charset="0"/>
                                            </a:rPr>
                                            <m:t>𝒔</m:t>
                                          </m:r>
                                        </m:e>
                                      </m:d>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𝑏</m:t>
                                      </m:r>
                                    </m:num>
                                    <m:den>
                                      <m:r>
                                        <a:rPr lang="en-US" sz="2400" b="0" i="1" smtClean="0">
                                          <a:solidFill>
                                            <a:schemeClr val="accent5">
                                              <a:lumMod val="75000"/>
                                            </a:schemeClr>
                                          </a:solidFill>
                                          <a:latin typeface="Cambria Math" panose="02040503050406030204" pitchFamily="18" charset="0"/>
                                        </a:rPr>
                                        <m:t>𝑞</m:t>
                                      </m:r>
                                    </m:den>
                                  </m:f>
                                </m:e>
                              </m:d>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𝑏</m:t>
                                  </m:r>
                                </m:e>
                              </m:d>
                            </m:e>
                          </m:nary>
                        </m:e>
                      </m:nary>
                    </m:oMath>
                  </m:oMathPara>
                </a14:m>
                <a:endParaRPr lang="en-US" sz="2400" dirty="0"/>
              </a:p>
            </p:txBody>
          </p:sp>
        </mc:Choice>
        <mc:Fallback xmlns="">
          <p:sp>
            <p:nvSpPr>
              <p:cNvPr id="7" name="TextBox 6">
                <a:extLst>
                  <a:ext uri="{FF2B5EF4-FFF2-40B4-BE49-F238E27FC236}">
                    <a16:creationId xmlns:a16="http://schemas.microsoft.com/office/drawing/2014/main" id="{20609F9D-CE50-356E-99D4-572337741FB0}"/>
                  </a:ext>
                </a:extLst>
              </p:cNvPr>
              <p:cNvSpPr txBox="1">
                <a:spLocks noRot="1" noChangeAspect="1" noMove="1" noResize="1" noEditPoints="1" noAdjustHandles="1" noChangeArrowheads="1" noChangeShapeType="1" noTextEdit="1"/>
              </p:cNvSpPr>
              <p:nvPr/>
            </p:nvSpPr>
            <p:spPr>
              <a:xfrm>
                <a:off x="4097649" y="3608903"/>
                <a:ext cx="4862485" cy="1001684"/>
              </a:xfrm>
              <a:prstGeom prst="rect">
                <a:avLst/>
              </a:prstGeom>
              <a:blipFill>
                <a:blip r:embed="rId6"/>
                <a:stretch>
                  <a:fillRect l="-10938" t="-131646" b="-177215"/>
                </a:stretch>
              </a:blipFill>
            </p:spPr>
            <p:txBody>
              <a:bodyPr/>
              <a:lstStyle/>
              <a:p>
                <a:r>
                  <a:rPr lang="en-US">
                    <a:noFill/>
                  </a:rPr>
                  <a:t> </a:t>
                </a:r>
              </a:p>
            </p:txBody>
          </p:sp>
        </mc:Fallback>
      </mc:AlternateContent>
      <p:sp>
        <p:nvSpPr>
          <p:cNvPr id="8" name="Bent Up Arrow 7">
            <a:extLst>
              <a:ext uri="{FF2B5EF4-FFF2-40B4-BE49-F238E27FC236}">
                <a16:creationId xmlns:a16="http://schemas.microsoft.com/office/drawing/2014/main" id="{27D95ACD-19DB-4DEF-E163-406FC06704A8}"/>
              </a:ext>
            </a:extLst>
          </p:cNvPr>
          <p:cNvSpPr/>
          <p:nvPr/>
        </p:nvSpPr>
        <p:spPr>
          <a:xfrm>
            <a:off x="1716209" y="4159210"/>
            <a:ext cx="2068656" cy="308771"/>
          </a:xfrm>
          <a:prstGeom prst="bentUpArrow">
            <a:avLst>
              <a:gd name="adj1" fmla="val 0"/>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TextBox 8">
            <a:extLst>
              <a:ext uri="{FF2B5EF4-FFF2-40B4-BE49-F238E27FC236}">
                <a16:creationId xmlns:a16="http://schemas.microsoft.com/office/drawing/2014/main" id="{796BC901-A5A6-6F45-545D-6F2D03BBDB23}"/>
              </a:ext>
            </a:extLst>
          </p:cNvPr>
          <p:cNvSpPr txBox="1"/>
          <p:nvPr/>
        </p:nvSpPr>
        <p:spPr>
          <a:xfrm>
            <a:off x="308928" y="4062164"/>
            <a:ext cx="1750305" cy="830997"/>
          </a:xfrm>
          <a:prstGeom prst="rect">
            <a:avLst/>
          </a:prstGeom>
          <a:noFill/>
        </p:spPr>
        <p:txBody>
          <a:bodyPr wrap="square" rtlCol="0">
            <a:spAutoFit/>
          </a:bodyPr>
          <a:lstStyle/>
          <a:p>
            <a:r>
              <a:rPr lang="en-US" sz="2400" dirty="0"/>
              <a:t>Poisson Summation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BB174CF-A597-75B8-8910-DD0E97429257}"/>
                  </a:ext>
                </a:extLst>
              </p:cNvPr>
              <p:cNvSpPr txBox="1"/>
              <p:nvPr/>
            </p:nvSpPr>
            <p:spPr>
              <a:xfrm>
                <a:off x="3639126" y="4632077"/>
                <a:ext cx="5321008"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  </m:t>
                      </m:r>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a:solidFill>
                            <a:schemeClr val="accent5">
                              <a:lumMod val="75000"/>
                            </a:schemeClr>
                          </a:solidFill>
                          <a:latin typeface="Cambria Math" panose="02040503050406030204" pitchFamily="18" charset="0"/>
                        </a:rPr>
                        <m:t> ,</m:t>
                      </m:r>
                      <m:nary>
                        <m:naryPr>
                          <m:chr m:val="∑"/>
                          <m:supHide m:val="on"/>
                          <m:ctrlPr>
                            <a:rPr lang="en-US" sz="2400" i="1">
                              <a:solidFill>
                                <a:schemeClr val="accent5">
                                  <a:lumMod val="75000"/>
                                </a:schemeClr>
                              </a:solidFill>
                              <a:latin typeface="Cambria Math" panose="02040503050406030204" pitchFamily="18" charset="0"/>
                            </a:rPr>
                          </m:ctrlPr>
                        </m:naryPr>
                        <m:sub>
                          <m:r>
                            <a:rPr lang="en-US" sz="2400" b="0" i="1" smtClean="0">
                              <a:solidFill>
                                <a:schemeClr val="accent5">
                                  <a:lumMod val="75000"/>
                                </a:schemeClr>
                              </a:solidFill>
                              <a:latin typeface="Cambria Math" panose="02040503050406030204" pitchFamily="18" charset="0"/>
                            </a:rPr>
                            <m:t>𝑒</m:t>
                          </m:r>
                          <m:r>
                            <a:rPr lang="en-US" sz="2400" i="1">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ℤ</m:t>
                          </m:r>
                        </m:sub>
                        <m:sup/>
                        <m:e>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𝜌</m:t>
                              </m:r>
                            </m:e>
                            <m:sub>
                              <m:r>
                                <a:rPr lang="en-US" sz="2400" b="0" i="1" smtClean="0">
                                  <a:solidFill>
                                    <a:schemeClr val="accent5">
                                      <a:lumMod val="75000"/>
                                    </a:schemeClr>
                                  </a:solidFill>
                                  <a:latin typeface="Cambria Math" panose="02040503050406030204" pitchFamily="18" charset="0"/>
                                </a:rPr>
                                <m:t>1/</m:t>
                              </m:r>
                              <m:r>
                                <a:rPr lang="en-US" sz="2400" b="0" i="1" smtClean="0">
                                  <a:solidFill>
                                    <a:schemeClr val="accent5">
                                      <a:lumMod val="75000"/>
                                    </a:schemeClr>
                                  </a:solidFill>
                                  <a:latin typeface="Cambria Math" panose="02040503050406030204" pitchFamily="18" charset="0"/>
                                </a:rPr>
                                <m:t>𝑟</m:t>
                              </m:r>
                            </m:sub>
                          </m:sSub>
                          <m:d>
                            <m:dPr>
                              <m:ctrlPr>
                                <a:rPr lang="en-US" sz="2400" i="1">
                                  <a:solidFill>
                                    <a:schemeClr val="accent5">
                                      <a:lumMod val="75000"/>
                                    </a:schemeClr>
                                  </a:solidFill>
                                  <a:latin typeface="Cambria Math" panose="02040503050406030204" pitchFamily="18" charset="0"/>
                                </a:rPr>
                              </m:ctrlPr>
                            </m:dPr>
                            <m:e>
                              <m:f>
                                <m:fPr>
                                  <m:ctrlPr>
                                    <a:rPr lang="en-US" sz="2400" i="1">
                                      <a:solidFill>
                                        <a:schemeClr val="accent5">
                                          <a:lumMod val="75000"/>
                                        </a:schemeClr>
                                      </a:solidFill>
                                      <a:latin typeface="Cambria Math" panose="02040503050406030204" pitchFamily="18" charset="0"/>
                                    </a:rPr>
                                  </m:ctrlPr>
                                </m:fPr>
                                <m:num>
                                  <m:r>
                                    <a:rPr lang="en-US" sz="2400" i="1" smtClean="0">
                                      <a:solidFill>
                                        <a:schemeClr val="accent5">
                                          <a:lumMod val="75000"/>
                                        </a:schemeClr>
                                      </a:solidFill>
                                      <a:latin typeface="Cambria Math" panose="02040503050406030204" pitchFamily="18" charset="0"/>
                                    </a:rPr>
                                    <m:t>𝑒</m:t>
                                  </m:r>
                                </m:num>
                                <m:den>
                                  <m:r>
                                    <a:rPr lang="en-US" sz="2400" i="1">
                                      <a:solidFill>
                                        <a:schemeClr val="accent5">
                                          <a:lumMod val="75000"/>
                                        </a:schemeClr>
                                      </a:solidFill>
                                      <a:latin typeface="Cambria Math" panose="02040503050406030204" pitchFamily="18" charset="0"/>
                                    </a:rPr>
                                    <m:t>𝑞</m:t>
                                  </m:r>
                                </m:den>
                              </m:f>
                            </m:e>
                          </m:d>
                          <m:d>
                            <m:dPr>
                              <m:begChr m:val="|"/>
                              <m:endChr m:val="⟩"/>
                              <m:ctrlPr>
                                <a:rPr lang="en-US" sz="2400" i="1">
                                  <a:solidFill>
                                    <a:schemeClr val="accent5">
                                      <a:lumMod val="75000"/>
                                    </a:schemeClr>
                                  </a:solidFill>
                                  <a:latin typeface="Cambria Math" panose="02040503050406030204" pitchFamily="18" charset="0"/>
                                </a:rPr>
                              </m:ctrlPr>
                            </m:dPr>
                            <m:e>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m:t>
                                  </m:r>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a:solidFill>
                                        <a:schemeClr val="accent5">
                                          <a:lumMod val="75000"/>
                                        </a:schemeClr>
                                      </a:solidFill>
                                      <a:latin typeface="Cambria Math" panose="02040503050406030204" pitchFamily="18" charset="0"/>
                                    </a:rPr>
                                    <m:t>, </m:t>
                                  </m:r>
                                  <m:r>
                                    <a:rPr lang="en-US" sz="2400" b="1" i="1">
                                      <a:solidFill>
                                        <a:schemeClr val="accent5">
                                          <a:lumMod val="75000"/>
                                        </a:schemeClr>
                                      </a:solidFill>
                                      <a:latin typeface="Cambria Math" panose="02040503050406030204" pitchFamily="18" charset="0"/>
                                    </a:rPr>
                                    <m:t>𝒔</m:t>
                                  </m:r>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𝑒</m:t>
                              </m:r>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𝑚𝑜𝑑</m:t>
                              </m:r>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𝑞</m:t>
                              </m:r>
                            </m:e>
                          </m:d>
                        </m:e>
                      </m:nary>
                    </m:oMath>
                  </m:oMathPara>
                </a14:m>
                <a:endParaRPr lang="en-US" sz="2400" dirty="0"/>
              </a:p>
            </p:txBody>
          </p:sp>
        </mc:Choice>
        <mc:Fallback xmlns="">
          <p:sp>
            <p:nvSpPr>
              <p:cNvPr id="10" name="TextBox 9">
                <a:extLst>
                  <a:ext uri="{FF2B5EF4-FFF2-40B4-BE49-F238E27FC236}">
                    <a16:creationId xmlns:a16="http://schemas.microsoft.com/office/drawing/2014/main" id="{BBB174CF-A597-75B8-8910-DD0E97429257}"/>
                  </a:ext>
                </a:extLst>
              </p:cNvPr>
              <p:cNvSpPr txBox="1">
                <a:spLocks noRot="1" noChangeAspect="1" noMove="1" noResize="1" noEditPoints="1" noAdjustHandles="1" noChangeArrowheads="1" noChangeShapeType="1" noTextEdit="1"/>
              </p:cNvSpPr>
              <p:nvPr/>
            </p:nvSpPr>
            <p:spPr>
              <a:xfrm>
                <a:off x="3639126" y="4632077"/>
                <a:ext cx="5321008" cy="896207"/>
              </a:xfrm>
              <a:prstGeom prst="rect">
                <a:avLst/>
              </a:prstGeom>
              <a:blipFill>
                <a:blip r:embed="rId7"/>
                <a:stretch>
                  <a:fillRect l="-2857" t="-147222" b="-201389"/>
                </a:stretch>
              </a:blipFill>
            </p:spPr>
            <p:txBody>
              <a:bodyPr/>
              <a:lstStyle/>
              <a:p>
                <a:r>
                  <a:rPr lang="en-US">
                    <a:noFill/>
                  </a:rPr>
                  <a:t> </a:t>
                </a:r>
              </a:p>
            </p:txBody>
          </p:sp>
        </mc:Fallback>
      </mc:AlternateContent>
      <p:sp>
        <p:nvSpPr>
          <p:cNvPr id="11" name="Bent Up Arrow 10">
            <a:extLst>
              <a:ext uri="{FF2B5EF4-FFF2-40B4-BE49-F238E27FC236}">
                <a16:creationId xmlns:a16="http://schemas.microsoft.com/office/drawing/2014/main" id="{B75A4DBA-6F1B-84C4-172F-07A58792A849}"/>
              </a:ext>
            </a:extLst>
          </p:cNvPr>
          <p:cNvSpPr/>
          <p:nvPr/>
        </p:nvSpPr>
        <p:spPr>
          <a:xfrm>
            <a:off x="1716209" y="5143977"/>
            <a:ext cx="2068656" cy="210789"/>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347E529-4799-6061-05AF-430FF8C80ECC}"/>
                  </a:ext>
                </a:extLst>
              </p:cNvPr>
              <p:cNvSpPr txBox="1"/>
              <p:nvPr/>
            </p:nvSpPr>
            <p:spPr>
              <a:xfrm>
                <a:off x="308928" y="5321553"/>
                <a:ext cx="296087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𝑒</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𝑞𝑗</m:t>
                      </m:r>
                      <m:r>
                        <a:rPr lang="en-US" sz="2400" b="0" i="1" smtClean="0">
                          <a:solidFill>
                            <a:schemeClr val="accent2"/>
                          </a:solidFill>
                          <a:latin typeface="Cambria Math" panose="02040503050406030204" pitchFamily="18" charset="0"/>
                        </a:rPr>
                        <m:t>+</m:t>
                      </m:r>
                      <m:d>
                        <m:dPr>
                          <m:begChr m:val="⟨"/>
                          <m:endChr m:val="⟩"/>
                          <m:ctrlPr>
                            <a:rPr lang="en-US" sz="2400" i="1">
                              <a:solidFill>
                                <a:schemeClr val="accent2"/>
                              </a:solidFill>
                              <a:latin typeface="Cambria Math" panose="02040503050406030204" pitchFamily="18" charset="0"/>
                            </a:rPr>
                          </m:ctrlPr>
                        </m:dPr>
                        <m:e>
                          <m:sSub>
                            <m:sSubPr>
                              <m:ctrlPr>
                                <a:rPr lang="en-US" sz="2400" b="1" i="1">
                                  <a:solidFill>
                                    <a:schemeClr val="accent2"/>
                                  </a:solidFill>
                                  <a:latin typeface="Cambria Math" panose="02040503050406030204" pitchFamily="18" charset="0"/>
                                </a:rPr>
                              </m:ctrlPr>
                            </m:sSubPr>
                            <m:e>
                              <m:r>
                                <m:rPr>
                                  <m:brk m:alnAt="7"/>
                                </m:rPr>
                                <a:rPr lang="en-US" sz="2400" b="1" i="1">
                                  <a:solidFill>
                                    <a:schemeClr val="accent2"/>
                                  </a:solidFill>
                                  <a:latin typeface="Cambria Math" panose="02040503050406030204" pitchFamily="18" charset="0"/>
                                </a:rPr>
                                <m:t>𝒂</m:t>
                              </m:r>
                            </m:e>
                            <m:sub>
                              <m:r>
                                <m:rPr>
                                  <m:brk m:alnAt="7"/>
                                </m:rPr>
                                <a:rPr lang="en-US" sz="2400" b="1" i="1">
                                  <a:solidFill>
                                    <a:schemeClr val="accent2"/>
                                  </a:solidFill>
                                  <a:latin typeface="Cambria Math" panose="02040503050406030204" pitchFamily="18" charset="0"/>
                                </a:rPr>
                                <m:t>𝒌</m:t>
                              </m:r>
                            </m:sub>
                          </m:sSub>
                          <m:r>
                            <a:rPr lang="en-US" sz="2400" b="1" i="1">
                              <a:solidFill>
                                <a:schemeClr val="accent2"/>
                              </a:solidFill>
                              <a:latin typeface="Cambria Math" panose="02040503050406030204" pitchFamily="18" charset="0"/>
                            </a:rPr>
                            <m:t>, </m:t>
                          </m:r>
                          <m:r>
                            <a:rPr lang="en-US" sz="2400" b="1" i="1">
                              <a:solidFill>
                                <a:schemeClr val="accent2"/>
                              </a:solidFill>
                              <a:latin typeface="Cambria Math" panose="02040503050406030204" pitchFamily="18" charset="0"/>
                            </a:rPr>
                            <m:t>𝒔</m:t>
                          </m:r>
                        </m:e>
                      </m:d>
                      <m:r>
                        <a:rPr lang="en-US" sz="2400" i="1">
                          <a:solidFill>
                            <a:schemeClr val="accent2"/>
                          </a:solidFill>
                          <a:latin typeface="Cambria Math" panose="02040503050406030204" pitchFamily="18" charset="0"/>
                        </a:rPr>
                        <m:t>+</m:t>
                      </m:r>
                      <m:r>
                        <a:rPr lang="en-US" sz="2400" i="1">
                          <a:solidFill>
                            <a:schemeClr val="accent2"/>
                          </a:solidFill>
                          <a:latin typeface="Cambria Math" panose="02040503050406030204" pitchFamily="18" charset="0"/>
                        </a:rPr>
                        <m:t>𝑏</m:t>
                      </m:r>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9347E529-4799-6061-05AF-430FF8C80ECC}"/>
                  </a:ext>
                </a:extLst>
              </p:cNvPr>
              <p:cNvSpPr txBox="1">
                <a:spLocks noRot="1" noChangeAspect="1" noMove="1" noResize="1" noEditPoints="1" noAdjustHandles="1" noChangeArrowheads="1" noChangeShapeType="1" noTextEdit="1"/>
              </p:cNvSpPr>
              <p:nvPr/>
            </p:nvSpPr>
            <p:spPr>
              <a:xfrm>
                <a:off x="308928" y="5321553"/>
                <a:ext cx="2960877" cy="461665"/>
              </a:xfrm>
              <a:prstGeom prst="rect">
                <a:avLst/>
              </a:prstGeom>
              <a:blipFill>
                <a:blip r:embed="rId8"/>
                <a:stretch>
                  <a:fillRect b="-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4C6324-3499-0D25-7194-427B676B4A98}"/>
                  </a:ext>
                </a:extLst>
              </p:cNvPr>
              <p:cNvSpPr txBox="1"/>
              <p:nvPr/>
            </p:nvSpPr>
            <p:spPr>
              <a:xfrm>
                <a:off x="3629862" y="5654087"/>
                <a:ext cx="1259960" cy="558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400" i="1" smtClean="0">
                              <a:latin typeface="Cambria Math" panose="02040503050406030204" pitchFamily="18" charset="0"/>
                            </a:rPr>
                          </m:ctrlPr>
                        </m:groupChrPr>
                        <m:e>
                          <m:r>
                            <m:rPr>
                              <m:nor/>
                            </m:rPr>
                            <a:rPr lang="en-US" sz="2400" b="0" i="0" smtClean="0">
                              <a:latin typeface="Cambria Math" panose="02040503050406030204" pitchFamily="18" charset="0"/>
                            </a:rPr>
                            <m:t>Measure</m:t>
                          </m:r>
                          <m:r>
                            <m:rPr>
                              <m:nor/>
                            </m:rPr>
                            <a:rPr lang="en-US" sz="2400" b="0" i="0" smtClean="0">
                              <a:latin typeface="Cambria Math" panose="02040503050406030204" pitchFamily="18" charset="0"/>
                            </a:rPr>
                            <m:t> </m:t>
                          </m:r>
                        </m:e>
                      </m:groupChr>
                    </m:oMath>
                  </m:oMathPara>
                </a14:m>
                <a:endParaRPr lang="en-US" sz="2400" dirty="0"/>
              </a:p>
            </p:txBody>
          </p:sp>
        </mc:Choice>
        <mc:Fallback xmlns="">
          <p:sp>
            <p:nvSpPr>
              <p:cNvPr id="13" name="TextBox 12">
                <a:extLst>
                  <a:ext uri="{FF2B5EF4-FFF2-40B4-BE49-F238E27FC236}">
                    <a16:creationId xmlns:a16="http://schemas.microsoft.com/office/drawing/2014/main" id="{024C6324-3499-0D25-7194-427B676B4A98}"/>
                  </a:ext>
                </a:extLst>
              </p:cNvPr>
              <p:cNvSpPr txBox="1">
                <a:spLocks noRot="1" noChangeAspect="1" noMove="1" noResize="1" noEditPoints="1" noAdjustHandles="1" noChangeArrowheads="1" noChangeShapeType="1" noTextEdit="1"/>
              </p:cNvSpPr>
              <p:nvPr/>
            </p:nvSpPr>
            <p:spPr>
              <a:xfrm>
                <a:off x="3629862" y="5654087"/>
                <a:ext cx="1259960" cy="558999"/>
              </a:xfrm>
              <a:prstGeom prst="rect">
                <a:avLst/>
              </a:prstGeom>
              <a:blipFill>
                <a:blip r:embed="rId9"/>
                <a:stretch>
                  <a:fillRect l="-5000" t="-15556" r="-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9060EE7-60F8-6F92-256B-54B9D382BD75}"/>
                  </a:ext>
                </a:extLst>
              </p:cNvPr>
              <p:cNvSpPr txBox="1"/>
              <p:nvPr/>
            </p:nvSpPr>
            <p:spPr>
              <a:xfrm>
                <a:off x="4994754" y="5785651"/>
                <a:ext cx="322780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a:solidFill>
                            <a:schemeClr val="accent5">
                              <a:lumMod val="75000"/>
                            </a:schemeClr>
                          </a:solidFill>
                          <a:latin typeface="Cambria Math" panose="02040503050406030204" pitchFamily="18" charset="0"/>
                        </a:rPr>
                        <m:t> ,</m:t>
                      </m:r>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m:t>
                          </m:r>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a:solidFill>
                                <a:schemeClr val="accent5">
                                  <a:lumMod val="75000"/>
                                </a:schemeClr>
                              </a:solidFill>
                              <a:latin typeface="Cambria Math" panose="02040503050406030204" pitchFamily="18" charset="0"/>
                            </a:rPr>
                            <m:t>, </m:t>
                          </m:r>
                          <m:r>
                            <a:rPr lang="en-US" sz="2400" b="1" i="1">
                              <a:solidFill>
                                <a:schemeClr val="accent5">
                                  <a:lumMod val="75000"/>
                                </a:schemeClr>
                              </a:solidFill>
                              <a:latin typeface="Cambria Math" panose="02040503050406030204" pitchFamily="18" charset="0"/>
                            </a:rPr>
                            <m:t>𝒔</m:t>
                          </m:r>
                        </m:e>
                      </m:d>
                      <m:r>
                        <a:rPr lang="en-US" sz="2400" i="1">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𝑒</m:t>
                          </m:r>
                        </m:e>
                        <m:sub>
                          <m:r>
                            <a:rPr lang="en-US" sz="2400" b="0" i="1" smtClean="0">
                              <a:solidFill>
                                <a:schemeClr val="accent5">
                                  <a:lumMod val="75000"/>
                                </a:schemeClr>
                              </a:solidFill>
                              <a:latin typeface="Cambria Math" panose="02040503050406030204" pitchFamily="18" charset="0"/>
                            </a:rPr>
                            <m:t>𝑘</m:t>
                          </m:r>
                        </m:sub>
                      </m:sSub>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𝑚𝑜𝑑</m:t>
                      </m:r>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𝑞</m:t>
                      </m:r>
                    </m:oMath>
                  </m:oMathPara>
                </a14:m>
                <a:endParaRPr lang="en-US" sz="2400" dirty="0"/>
              </a:p>
            </p:txBody>
          </p:sp>
        </mc:Choice>
        <mc:Fallback xmlns="">
          <p:sp>
            <p:nvSpPr>
              <p:cNvPr id="14" name="TextBox 13">
                <a:extLst>
                  <a:ext uri="{FF2B5EF4-FFF2-40B4-BE49-F238E27FC236}">
                    <a16:creationId xmlns:a16="http://schemas.microsoft.com/office/drawing/2014/main" id="{D9060EE7-60F8-6F92-256B-54B9D382BD75}"/>
                  </a:ext>
                </a:extLst>
              </p:cNvPr>
              <p:cNvSpPr txBox="1">
                <a:spLocks noRot="1" noChangeAspect="1" noMove="1" noResize="1" noEditPoints="1" noAdjustHandles="1" noChangeArrowheads="1" noChangeShapeType="1" noTextEdit="1"/>
              </p:cNvSpPr>
              <p:nvPr/>
            </p:nvSpPr>
            <p:spPr>
              <a:xfrm>
                <a:off x="4994754" y="5785651"/>
                <a:ext cx="3227807" cy="369332"/>
              </a:xfrm>
              <a:prstGeom prst="rect">
                <a:avLst/>
              </a:prstGeom>
              <a:blipFill>
                <a:blip r:embed="rId10"/>
                <a:stretch>
                  <a:fillRect l="-1176" t="-10000" r="-1569" b="-36667"/>
                </a:stretch>
              </a:blipFill>
            </p:spPr>
            <p:txBody>
              <a:bodyPr/>
              <a:lstStyle/>
              <a:p>
                <a:r>
                  <a:rPr lang="en-US">
                    <a:noFill/>
                  </a:rPr>
                  <a:t> </a:t>
                </a:r>
              </a:p>
            </p:txBody>
          </p:sp>
        </mc:Fallback>
      </mc:AlternateContent>
      <p:sp>
        <p:nvSpPr>
          <p:cNvPr id="15" name="Bent Up Arrow 14">
            <a:extLst>
              <a:ext uri="{FF2B5EF4-FFF2-40B4-BE49-F238E27FC236}">
                <a16:creationId xmlns:a16="http://schemas.microsoft.com/office/drawing/2014/main" id="{35AC0799-4C86-F7A4-509C-3212AEFC8F42}"/>
              </a:ext>
            </a:extLst>
          </p:cNvPr>
          <p:cNvSpPr/>
          <p:nvPr/>
        </p:nvSpPr>
        <p:spPr>
          <a:xfrm rot="10800000" flipV="1">
            <a:off x="6456447" y="3043331"/>
            <a:ext cx="1949159" cy="461665"/>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TextBox 15">
            <a:extLst>
              <a:ext uri="{FF2B5EF4-FFF2-40B4-BE49-F238E27FC236}">
                <a16:creationId xmlns:a16="http://schemas.microsoft.com/office/drawing/2014/main" id="{004544E6-C041-06E4-ED2F-B3CA04D96908}"/>
              </a:ext>
            </a:extLst>
          </p:cNvPr>
          <p:cNvSpPr txBox="1"/>
          <p:nvPr/>
        </p:nvSpPr>
        <p:spPr>
          <a:xfrm>
            <a:off x="8405607" y="3187826"/>
            <a:ext cx="3362428" cy="461665"/>
          </a:xfrm>
          <a:prstGeom prst="rect">
            <a:avLst/>
          </a:prstGeom>
          <a:noFill/>
        </p:spPr>
        <p:txBody>
          <a:bodyPr wrap="square" rtlCol="0">
            <a:spAutoFit/>
          </a:bodyPr>
          <a:lstStyle/>
          <a:p>
            <a:r>
              <a:rPr lang="en-US" sz="2400" dirty="0"/>
              <a:t>Like RHS of LWE sample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54EA534-A696-E58F-68B6-294C5DAE5983}"/>
                  </a:ext>
                </a:extLst>
              </p:cNvPr>
              <p:cNvSpPr txBox="1"/>
              <p:nvPr/>
            </p:nvSpPr>
            <p:spPr>
              <a:xfrm>
                <a:off x="4889822" y="6178386"/>
                <a:ext cx="4005346" cy="584134"/>
              </a:xfrm>
              <a:prstGeom prst="rect">
                <a:avLst/>
              </a:prstGeom>
              <a:noFill/>
            </p:spPr>
            <p:txBody>
              <a:bodyPr wrap="square" lIns="0" tIns="0" rIns="0" bIns="0" rtlCol="0">
                <a:spAutoFit/>
              </a:bodyPr>
              <a:lstStyle/>
              <a:p>
                <a14:m>
                  <m:oMath xmlns:m="http://schemas.openxmlformats.org/officeDocument/2006/math">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ℙ</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𝑒</m:t>
                        </m:r>
                      </m:e>
                      <m:sub>
                        <m:r>
                          <a:rPr lang="en-US" sz="2400" b="0" i="1" smtClean="0">
                            <a:solidFill>
                              <a:schemeClr val="accent6"/>
                            </a:solidFill>
                            <a:latin typeface="Cambria Math" panose="02040503050406030204" pitchFamily="18" charset="0"/>
                          </a:rPr>
                          <m:t>𝑘</m:t>
                        </m:r>
                      </m:sub>
                    </m:sSub>
                    <m:r>
                      <a:rPr lang="en-US" sz="2400" b="0" i="1" smtClean="0">
                        <a:solidFill>
                          <a:schemeClr val="accent6"/>
                        </a:solidFill>
                        <a:latin typeface="Cambria Math" panose="02040503050406030204" pitchFamily="18" charset="0"/>
                      </a:rPr>
                      <m:t>]=</m:t>
                    </m:r>
                    <m:sSubSup>
                      <m:sSubSupPr>
                        <m:ctrlPr>
                          <a:rPr lang="en-US" sz="2400" b="0" i="1" smtClean="0">
                            <a:solidFill>
                              <a:schemeClr val="accent6"/>
                            </a:solidFill>
                            <a:latin typeface="Cambria Math" panose="02040503050406030204" pitchFamily="18" charset="0"/>
                          </a:rPr>
                        </m:ctrlPr>
                      </m:sSubSupPr>
                      <m:e>
                        <m:r>
                          <a:rPr lang="en-US" sz="2400" i="1">
                            <a:solidFill>
                              <a:schemeClr val="accent6"/>
                            </a:solidFill>
                            <a:latin typeface="Cambria Math" panose="02040503050406030204" pitchFamily="18" charset="0"/>
                          </a:rPr>
                          <m:t>𝜌</m:t>
                        </m:r>
                      </m:e>
                      <m:sub>
                        <m:r>
                          <a:rPr lang="en-US" sz="2400" b="0" i="1" smtClean="0">
                            <a:solidFill>
                              <a:schemeClr val="accent6"/>
                            </a:solidFill>
                            <a:latin typeface="Cambria Math" panose="02040503050406030204" pitchFamily="18" charset="0"/>
                          </a:rPr>
                          <m:t>1/</m:t>
                        </m:r>
                        <m:r>
                          <a:rPr lang="en-US" sz="2400" b="0" i="1" smtClean="0">
                            <a:solidFill>
                              <a:schemeClr val="accent6"/>
                            </a:solidFill>
                            <a:latin typeface="Cambria Math" panose="02040503050406030204" pitchFamily="18" charset="0"/>
                          </a:rPr>
                          <m:t>𝑟</m:t>
                        </m:r>
                      </m:sub>
                      <m:sup>
                        <m:r>
                          <a:rPr lang="en-US" sz="2400" b="0" i="1" smtClean="0">
                            <a:solidFill>
                              <a:schemeClr val="accent6"/>
                            </a:solidFill>
                            <a:latin typeface="Cambria Math" panose="02040503050406030204" pitchFamily="18" charset="0"/>
                          </a:rPr>
                          <m:t>2</m:t>
                        </m:r>
                      </m:sup>
                    </m:sSubSup>
                    <m:d>
                      <m:dPr>
                        <m:ctrlPr>
                          <a:rPr lang="en-US" sz="2400" i="1">
                            <a:solidFill>
                              <a:schemeClr val="accent6"/>
                            </a:solidFill>
                            <a:latin typeface="Cambria Math" panose="02040503050406030204" pitchFamily="18" charset="0"/>
                          </a:rPr>
                        </m:ctrlPr>
                      </m:dPr>
                      <m:e>
                        <m:f>
                          <m:fPr>
                            <m:ctrlPr>
                              <a:rPr lang="en-US" sz="2400" i="1">
                                <a:solidFill>
                                  <a:schemeClr val="accent6"/>
                                </a:solidFill>
                                <a:latin typeface="Cambria Math" panose="02040503050406030204" pitchFamily="18" charset="0"/>
                              </a:rPr>
                            </m:ctrlPr>
                          </m:fPr>
                          <m:num>
                            <m:sSub>
                              <m:sSubPr>
                                <m:ctrlPr>
                                  <a:rPr lang="en-US" sz="2400" b="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𝑒</m:t>
                                </m:r>
                              </m:e>
                              <m:sub>
                                <m:r>
                                  <a:rPr lang="en-US" sz="2400" b="0" i="1" smtClean="0">
                                    <a:solidFill>
                                      <a:schemeClr val="accent6"/>
                                    </a:solidFill>
                                    <a:latin typeface="Cambria Math" panose="02040503050406030204" pitchFamily="18" charset="0"/>
                                  </a:rPr>
                                  <m:t>𝑘</m:t>
                                </m:r>
                              </m:sub>
                            </m:sSub>
                          </m:num>
                          <m:den>
                            <m:r>
                              <a:rPr lang="en-US" sz="2400" i="1">
                                <a:solidFill>
                                  <a:schemeClr val="accent6"/>
                                </a:solidFill>
                                <a:latin typeface="Cambria Math" panose="02040503050406030204" pitchFamily="18" charset="0"/>
                              </a:rPr>
                              <m:t>𝑞</m:t>
                            </m:r>
                          </m:den>
                        </m:f>
                      </m:e>
                    </m:d>
                  </m:oMath>
                </a14:m>
                <a:r>
                  <a:rPr lang="en-US" sz="2400" dirty="0">
                    <a:solidFill>
                      <a:schemeClr val="accent6"/>
                    </a:solidFill>
                  </a:rPr>
                  <a:t>   = </a:t>
                </a:r>
                <a14:m>
                  <m:oMath xmlns:m="http://schemas.openxmlformats.org/officeDocument/2006/math">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𝜌</m:t>
                        </m:r>
                      </m:e>
                      <m:sub>
                        <m:f>
                          <m:fPr>
                            <m:ctrlPr>
                              <a:rPr lang="en-US" sz="2400" b="0" i="1" smtClean="0">
                                <a:solidFill>
                                  <a:schemeClr val="accent6"/>
                                </a:solidFill>
                                <a:latin typeface="Cambria Math" panose="02040503050406030204" pitchFamily="18" charset="0"/>
                              </a:rPr>
                            </m:ctrlPr>
                          </m:fPr>
                          <m:num>
                            <m:r>
                              <a:rPr lang="en-US" sz="2400" b="0" i="1" smtClean="0">
                                <a:solidFill>
                                  <a:schemeClr val="accent6"/>
                                </a:solidFill>
                                <a:latin typeface="Cambria Math" panose="02040503050406030204" pitchFamily="18" charset="0"/>
                              </a:rPr>
                              <m:t>𝑞</m:t>
                            </m:r>
                          </m:num>
                          <m:den>
                            <m:r>
                              <a:rPr lang="en-US" sz="2400" b="0" i="1" smtClean="0">
                                <a:solidFill>
                                  <a:schemeClr val="accent6"/>
                                </a:solidFill>
                                <a:latin typeface="Cambria Math" panose="02040503050406030204" pitchFamily="18" charset="0"/>
                              </a:rPr>
                              <m:t>𝑟</m:t>
                            </m:r>
                            <m:rad>
                              <m:radPr>
                                <m:degHide m:val="on"/>
                                <m:ctrlPr>
                                  <a:rPr lang="en-US" sz="2400" b="0" i="1" smtClean="0">
                                    <a:solidFill>
                                      <a:schemeClr val="accent6"/>
                                    </a:solidFill>
                                    <a:latin typeface="Cambria Math" panose="02040503050406030204" pitchFamily="18" charset="0"/>
                                  </a:rPr>
                                </m:ctrlPr>
                              </m:radPr>
                              <m:deg/>
                              <m:e>
                                <m:r>
                                  <a:rPr lang="en-US" sz="2400" b="0" i="1" smtClean="0">
                                    <a:solidFill>
                                      <a:schemeClr val="accent6"/>
                                    </a:solidFill>
                                    <a:latin typeface="Cambria Math" panose="02040503050406030204" pitchFamily="18" charset="0"/>
                                  </a:rPr>
                                  <m:t>2</m:t>
                                </m:r>
                              </m:e>
                            </m:rad>
                          </m:den>
                        </m:f>
                      </m:sub>
                    </m:sSub>
                    <m:d>
                      <m:dPr>
                        <m:ctrlPr>
                          <a:rPr lang="en-US" sz="2400" i="1">
                            <a:solidFill>
                              <a:schemeClr val="accent6"/>
                            </a:solidFill>
                            <a:latin typeface="Cambria Math" panose="02040503050406030204" pitchFamily="18" charset="0"/>
                          </a:rPr>
                        </m:ctrlPr>
                      </m:dPr>
                      <m:e>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𝑒</m:t>
                            </m:r>
                          </m:e>
                          <m:sub>
                            <m:r>
                              <a:rPr lang="en-US" sz="2400" b="0" i="1" smtClean="0">
                                <a:solidFill>
                                  <a:schemeClr val="accent6"/>
                                </a:solidFill>
                                <a:latin typeface="Cambria Math" panose="02040503050406030204" pitchFamily="18" charset="0"/>
                              </a:rPr>
                              <m:t>𝑘</m:t>
                            </m:r>
                          </m:sub>
                        </m:sSub>
                      </m:e>
                    </m:d>
                  </m:oMath>
                </a14:m>
                <a:endParaRPr lang="en-US" sz="2400" dirty="0">
                  <a:solidFill>
                    <a:schemeClr val="accent6"/>
                  </a:solidFill>
                </a:endParaRPr>
              </a:p>
            </p:txBody>
          </p:sp>
        </mc:Choice>
        <mc:Fallback xmlns="">
          <p:sp>
            <p:nvSpPr>
              <p:cNvPr id="17" name="TextBox 16">
                <a:extLst>
                  <a:ext uri="{FF2B5EF4-FFF2-40B4-BE49-F238E27FC236}">
                    <a16:creationId xmlns:a16="http://schemas.microsoft.com/office/drawing/2014/main" id="{454EA534-A696-E58F-68B6-294C5DAE5983}"/>
                  </a:ext>
                </a:extLst>
              </p:cNvPr>
              <p:cNvSpPr txBox="1">
                <a:spLocks noRot="1" noChangeAspect="1" noMove="1" noResize="1" noEditPoints="1" noAdjustHandles="1" noChangeArrowheads="1" noChangeShapeType="1" noTextEdit="1"/>
              </p:cNvSpPr>
              <p:nvPr/>
            </p:nvSpPr>
            <p:spPr>
              <a:xfrm>
                <a:off x="4889822" y="6178386"/>
                <a:ext cx="4005346" cy="584134"/>
              </a:xfrm>
              <a:prstGeom prst="rect">
                <a:avLst/>
              </a:prstGeom>
              <a:blipFill>
                <a:blip r:embed="rId11"/>
                <a:stretch>
                  <a:fillRect l="-2524" t="-6383"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3C3CED4-F9BE-4FA7-2669-BE757E882E01}"/>
                  </a:ext>
                </a:extLst>
              </p:cNvPr>
              <p:cNvSpPr txBox="1"/>
              <p:nvPr/>
            </p:nvSpPr>
            <p:spPr>
              <a:xfrm>
                <a:off x="5988651" y="1319533"/>
                <a:ext cx="6250868" cy="1357872"/>
              </a:xfrm>
              <a:prstGeom prst="rect">
                <a:avLst/>
              </a:prstGeom>
              <a:noFill/>
            </p:spPr>
            <p:txBody>
              <a:bodyPr wrap="square" rtlCol="0">
                <a:spAutoFit/>
              </a:bodyPr>
              <a:lstStyle/>
              <a:p>
                <a:r>
                  <a:rPr lang="en-US" sz="2400" dirty="0">
                    <a:solidFill>
                      <a:srgbClr val="FF0000"/>
                    </a:solidFill>
                  </a:rPr>
                  <a:t>Poisson Summation: </a:t>
                </a:r>
              </a:p>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𝜌</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ℤ</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𝑢</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𝑟</m:t>
                      </m:r>
                      <m:nary>
                        <m:naryPr>
                          <m:chr m:val="∑"/>
                          <m:supHide m:val="on"/>
                          <m:ctrlPr>
                            <a:rPr lang="en-US" sz="2400" b="0" i="1" smtClean="0">
                              <a:solidFill>
                                <a:srgbClr val="FF0000"/>
                              </a:solidFill>
                              <a:latin typeface="Cambria Math" panose="02040503050406030204" pitchFamily="18" charset="0"/>
                            </a:rPr>
                          </m:ctrlPr>
                        </m:naryPr>
                        <m:sub>
                          <m:r>
                            <m:rPr>
                              <m:brk m:alnAt="7"/>
                            </m:rP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ℤ</m:t>
                          </m:r>
                        </m:sub>
                        <m:sup/>
                        <m:e>
                          <m:func>
                            <m:funcPr>
                              <m:ctrlPr>
                                <a:rPr lang="en-US" sz="2400" b="0" i="1" smtClean="0">
                                  <a:solidFill>
                                    <a:srgbClr val="FF0000"/>
                                  </a:solidFill>
                                  <a:latin typeface="Cambria Math" panose="02040503050406030204" pitchFamily="18" charset="0"/>
                                </a:rPr>
                              </m:ctrlPr>
                            </m:funcPr>
                            <m:fName>
                              <m:r>
                                <m:rPr>
                                  <m:sty m:val="p"/>
                                </m:rPr>
                                <a:rPr lang="en-US" sz="2400" b="0" i="0" smtClean="0">
                                  <a:solidFill>
                                    <a:srgbClr val="FF0000"/>
                                  </a:solidFill>
                                  <a:latin typeface="Cambria Math" panose="02040503050406030204" pitchFamily="18" charset="0"/>
                                </a:rPr>
                                <m:t>exp</m:t>
                              </m:r>
                            </m:fName>
                            <m:e>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2</m:t>
                                  </m:r>
                                  <m:r>
                                    <a:rPr lang="en-US" sz="2400" b="0" i="1" smtClean="0">
                                      <a:solidFill>
                                        <a:srgbClr val="FF0000"/>
                                      </a:solidFill>
                                      <a:latin typeface="Cambria Math" panose="02040503050406030204" pitchFamily="18" charset="0"/>
                                    </a:rPr>
                                    <m:t>𝜋𝜄</m:t>
                                  </m:r>
                                  <m:r>
                                    <a:rPr lang="en-US" sz="2400" b="0" i="1" smtClean="0">
                                      <a:solidFill>
                                        <a:srgbClr val="FF0000"/>
                                      </a:solidFill>
                                      <a:latin typeface="Cambria Math" panose="02040503050406030204" pitchFamily="18" charset="0"/>
                                    </a:rPr>
                                    <m:t>𝑥𝑢</m:t>
                                  </m:r>
                                </m:e>
                              </m:d>
                            </m:e>
                          </m:func>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𝜌</m:t>
                              </m:r>
                            </m:e>
                            <m:sub>
                              <m:r>
                                <a:rPr lang="en-US" sz="2400" b="0" i="1" smtClean="0">
                                  <a:solidFill>
                                    <a:srgbClr val="FF0000"/>
                                  </a:solidFill>
                                  <a:latin typeface="Cambria Math" panose="02040503050406030204" pitchFamily="18" charset="0"/>
                                </a:rPr>
                                <m:t>1/</m:t>
                              </m:r>
                              <m:r>
                                <a:rPr lang="en-US" sz="2400" b="0" i="1" smtClean="0">
                                  <a:solidFill>
                                    <a:srgbClr val="FF0000"/>
                                  </a:solidFill>
                                  <a:latin typeface="Cambria Math" panose="02040503050406030204" pitchFamily="18" charset="0"/>
                                </a:rPr>
                                <m:t>𝑟</m:t>
                              </m:r>
                            </m:sub>
                          </m:sSub>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e>
                      </m:nary>
                    </m:oMath>
                  </m:oMathPara>
                </a14:m>
                <a:endParaRPr lang="en-US" sz="2400" dirty="0">
                  <a:solidFill>
                    <a:srgbClr val="FF0000"/>
                  </a:solidFill>
                </a:endParaRPr>
              </a:p>
            </p:txBody>
          </p:sp>
        </mc:Choice>
        <mc:Fallback xmlns="">
          <p:sp>
            <p:nvSpPr>
              <p:cNvPr id="18" name="TextBox 17">
                <a:extLst>
                  <a:ext uri="{FF2B5EF4-FFF2-40B4-BE49-F238E27FC236}">
                    <a16:creationId xmlns:a16="http://schemas.microsoft.com/office/drawing/2014/main" id="{D3C3CED4-F9BE-4FA7-2669-BE757E882E01}"/>
                  </a:ext>
                </a:extLst>
              </p:cNvPr>
              <p:cNvSpPr txBox="1">
                <a:spLocks noRot="1" noChangeAspect="1" noMove="1" noResize="1" noEditPoints="1" noAdjustHandles="1" noChangeArrowheads="1" noChangeShapeType="1" noTextEdit="1"/>
              </p:cNvSpPr>
              <p:nvPr/>
            </p:nvSpPr>
            <p:spPr>
              <a:xfrm>
                <a:off x="5988651" y="1319533"/>
                <a:ext cx="6250868" cy="1357872"/>
              </a:xfrm>
              <a:prstGeom prst="rect">
                <a:avLst/>
              </a:prstGeom>
              <a:blipFill>
                <a:blip r:embed="rId12"/>
                <a:stretch>
                  <a:fillRect l="-1420" t="-67593" b="-1314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F158B20-210C-0F80-67D8-057F9D154513}"/>
                  </a:ext>
                </a:extLst>
              </p:cNvPr>
              <p:cNvSpPr txBox="1"/>
              <p:nvPr/>
            </p:nvSpPr>
            <p:spPr>
              <a:xfrm>
                <a:off x="888362" y="1545398"/>
                <a:ext cx="3333028" cy="978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b="1"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 </m:t>
                      </m:r>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sSubSup>
                            <m:sSubSupPr>
                              <m:ctrlPr>
                                <a:rPr lang="en-US" sz="2400" i="1">
                                  <a:solidFill>
                                    <a:schemeClr val="accent5">
                                      <a:lumMod val="75000"/>
                                    </a:schemeClr>
                                  </a:solidFill>
                                  <a:latin typeface="Cambria Math" panose="02040503050406030204" pitchFamily="18" charset="0"/>
                                </a:rPr>
                              </m:ctrlPr>
                            </m:sSubSupPr>
                            <m:e>
                              <m:r>
                                <a:rPr lang="en-US" sz="2400" i="1">
                                  <a:solidFill>
                                    <a:schemeClr val="accent5">
                                      <a:lumMod val="75000"/>
                                    </a:schemeClr>
                                  </a:solidFill>
                                  <a:latin typeface="Cambria Math" panose="02040503050406030204" pitchFamily="18" charset="0"/>
                                </a:rPr>
                                <m:t>𝜔</m:t>
                              </m:r>
                            </m:e>
                            <m:sub>
                              <m:r>
                                <a:rPr lang="en-US" sz="2400" i="1">
                                  <a:solidFill>
                                    <a:schemeClr val="accent5">
                                      <a:lumMod val="75000"/>
                                    </a:schemeClr>
                                  </a:solidFill>
                                  <a:latin typeface="Cambria Math" panose="02040503050406030204" pitchFamily="18" charset="0"/>
                                </a:rPr>
                                <m:t>𝑞</m:t>
                              </m:r>
                            </m:sub>
                            <m:sup>
                              <m:r>
                                <a:rPr lang="en-US" sz="2400" i="1">
                                  <a:solidFill>
                                    <a:schemeClr val="accent5">
                                      <a:lumMod val="75000"/>
                                    </a:schemeClr>
                                  </a:solidFill>
                                  <a:latin typeface="Cambria Math" panose="02040503050406030204" pitchFamily="18" charset="0"/>
                                </a:rPr>
                                <m:t>⟨</m:t>
                              </m:r>
                              <m:sSub>
                                <m:sSubPr>
                                  <m:ctrlPr>
                                    <a:rPr lang="en-US" sz="2400" b="1" i="1">
                                      <a:solidFill>
                                        <a:schemeClr val="accent5">
                                          <a:lumMod val="75000"/>
                                        </a:schemeClr>
                                      </a:solidFill>
                                      <a:latin typeface="Cambria Math" panose="02040503050406030204" pitchFamily="18" charset="0"/>
                                    </a:rPr>
                                  </m:ctrlPr>
                                </m:sSubPr>
                                <m:e>
                                  <m:r>
                                    <m:rPr>
                                      <m:brk m:alnAt="7"/>
                                    </m:rPr>
                                    <a:rPr lang="en-US" sz="2400" b="1" i="1">
                                      <a:solidFill>
                                        <a:schemeClr val="accent5">
                                          <a:lumMod val="75000"/>
                                        </a:schemeClr>
                                      </a:solidFill>
                                      <a:latin typeface="Cambria Math" panose="02040503050406030204" pitchFamily="18" charset="0"/>
                                    </a:rPr>
                                    <m:t>𝒂</m:t>
                                  </m:r>
                                </m:e>
                                <m:sub>
                                  <m:r>
                                    <m:rPr>
                                      <m:brk m:alnAt="7"/>
                                    </m:rPr>
                                    <a:rPr lang="en-US" sz="2400" b="1" i="1">
                                      <a:solidFill>
                                        <a:schemeClr val="accent5">
                                          <a:lumMod val="75000"/>
                                        </a:schemeClr>
                                      </a:solidFill>
                                      <a:latin typeface="Cambria Math" panose="02040503050406030204" pitchFamily="18" charset="0"/>
                                    </a:rPr>
                                    <m:t>𝒌</m:t>
                                  </m:r>
                                </m:sub>
                              </m:sSub>
                              <m:r>
                                <a:rPr lang="en-US" sz="2400" i="1">
                                  <a:solidFill>
                                    <a:schemeClr val="accent5">
                                      <a:lumMod val="75000"/>
                                    </a:schemeClr>
                                  </a:solidFill>
                                  <a:latin typeface="Cambria Math" panose="02040503050406030204" pitchFamily="18" charset="0"/>
                                </a:rPr>
                                <m:t>,</m:t>
                              </m:r>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r>
                                    <a:rPr lang="en-US" sz="2400"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𝒔</m:t>
                                  </m:r>
                                </m:e>
                              </m:d>
                              <m:r>
                                <a:rPr lang="en-US" sz="2400" i="1">
                                  <a:solidFill>
                                    <a:schemeClr val="accent5">
                                      <a:lumMod val="75000"/>
                                    </a:schemeClr>
                                  </a:solidFill>
                                  <a:latin typeface="Cambria Math" panose="02040503050406030204" pitchFamily="18" charset="0"/>
                                </a:rPr>
                                <m:t>⟩</m:t>
                              </m:r>
                            </m:sup>
                          </m:sSubSup>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𝜌</m:t>
                              </m:r>
                            </m:e>
                            <m:sub>
                              <m:r>
                                <a:rPr lang="en-US" sz="2400" i="1">
                                  <a:solidFill>
                                    <a:schemeClr val="accent5">
                                      <a:lumMod val="75000"/>
                                    </a:schemeClr>
                                  </a:solidFill>
                                  <a:latin typeface="Cambria Math" panose="02040503050406030204" pitchFamily="18" charset="0"/>
                                </a:rPr>
                                <m:t>𝑟</m:t>
                              </m:r>
                            </m:sub>
                          </m:sSub>
                          <m:d>
                            <m:dPr>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𝑗</m:t>
                              </m:r>
                            </m:e>
                          </m:d>
                        </m:e>
                      </m:nary>
                    </m:oMath>
                  </m:oMathPara>
                </a14:m>
                <a:endParaRPr lang="en-US" sz="2400" dirty="0"/>
              </a:p>
            </p:txBody>
          </p:sp>
        </mc:Choice>
        <mc:Fallback xmlns="">
          <p:sp>
            <p:nvSpPr>
              <p:cNvPr id="19" name="TextBox 18">
                <a:extLst>
                  <a:ext uri="{FF2B5EF4-FFF2-40B4-BE49-F238E27FC236}">
                    <a16:creationId xmlns:a16="http://schemas.microsoft.com/office/drawing/2014/main" id="{1F158B20-210C-0F80-67D8-057F9D154513}"/>
                  </a:ext>
                </a:extLst>
              </p:cNvPr>
              <p:cNvSpPr txBox="1">
                <a:spLocks noRot="1" noChangeAspect="1" noMove="1" noResize="1" noEditPoints="1" noAdjustHandles="1" noChangeArrowheads="1" noChangeShapeType="1" noTextEdit="1"/>
              </p:cNvSpPr>
              <p:nvPr/>
            </p:nvSpPr>
            <p:spPr>
              <a:xfrm>
                <a:off x="888362" y="1545398"/>
                <a:ext cx="3333028" cy="978345"/>
              </a:xfrm>
              <a:prstGeom prst="rect">
                <a:avLst/>
              </a:prstGeom>
              <a:blipFill>
                <a:blip r:embed="rId13"/>
                <a:stretch>
                  <a:fillRect l="-16730" t="-135897" b="-178205"/>
                </a:stretch>
              </a:blipFill>
            </p:spPr>
            <p:txBody>
              <a:bodyPr/>
              <a:lstStyle/>
              <a:p>
                <a:r>
                  <a:rPr lang="en-US">
                    <a:noFill/>
                  </a:rPr>
                  <a:t> </a:t>
                </a:r>
              </a:p>
            </p:txBody>
          </p:sp>
        </mc:Fallback>
      </mc:AlternateContent>
    </p:spTree>
    <p:extLst>
      <p:ext uri="{BB962C8B-B14F-4D97-AF65-F5344CB8AC3E}">
        <p14:creationId xmlns:p14="http://schemas.microsoft.com/office/powerpoint/2010/main" val="429221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animBg="1"/>
      <p:bldP spid="9" grpId="0"/>
      <p:bldP spid="10" grpId="0"/>
      <p:bldP spid="11" grpId="0" animBg="1"/>
      <p:bldP spid="12" grpId="0"/>
      <p:bldP spid="13" grpId="0"/>
      <p:bldP spid="14" grpId="0"/>
      <p:bldP spid="15" grpId="0" animBg="1"/>
      <p:bldP spid="16" grpId="0"/>
      <p:bldP spid="17"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4597F85-8F86-5A37-63F2-ED39B0958D98}"/>
                  </a:ext>
                </a:extLst>
              </p:cNvPr>
              <p:cNvSpPr>
                <a:spLocks noGrp="1"/>
              </p:cNvSpPr>
              <p:nvPr>
                <p:ph type="title"/>
              </p:nvPr>
            </p:nvSpPr>
            <p:spPr/>
            <p:txBody>
              <a:bodyPr/>
              <a:lstStyle/>
              <a:p>
                <a:r>
                  <a:rPr lang="en-US" dirty="0"/>
                  <a:t>S</a:t>
                </a:r>
                <a14:m>
                  <m:oMath xmlns:m="http://schemas.openxmlformats.org/officeDocument/2006/math">
                    <m:r>
                      <a:rPr lang="en-US" b="0" i="1" smtClean="0">
                        <a:latin typeface="Cambria Math" panose="02040503050406030204" pitchFamily="18" charset="0"/>
                      </a:rPr>
                      <m:t>|</m:t>
                    </m:r>
                  </m:oMath>
                </a14:m>
                <a:r>
                  <a:rPr lang="en-US" dirty="0"/>
                  <a:t>LWE</a:t>
                </a:r>
                <a14:m>
                  <m:oMath xmlns:m="http://schemas.openxmlformats.org/officeDocument/2006/math">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34597F85-8F86-5A37-63F2-ED39B0958D98}"/>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672F7C5-1BA7-E09E-4F69-C266C995543F}"/>
                  </a:ext>
                </a:extLst>
              </p:cNvPr>
              <p:cNvSpPr>
                <a:spLocks noGrp="1"/>
              </p:cNvSpPr>
              <p:nvPr>
                <p:ph idx="1"/>
              </p:nvPr>
            </p:nvSpPr>
            <p:spPr>
              <a:xfrm>
                <a:off x="838200" y="1690689"/>
                <a:ext cx="9573126" cy="1844121"/>
              </a:xfrm>
            </p:spPr>
            <p:txBody>
              <a:bodyPr>
                <a:noAutofit/>
              </a:bodyPr>
              <a:lstStyle/>
              <a:p>
                <a:pPr marL="0" indent="0">
                  <a:buNone/>
                </a:pPr>
                <a:r>
                  <a:rPr lang="en-US" sz="2400" dirty="0"/>
                  <a:t>Another attempt at quantum algorithms for LWE </a:t>
                </a:r>
              </a:p>
              <a:p>
                <a:pPr marL="0" indent="0">
                  <a:buNone/>
                </a:pPr>
                <a:r>
                  <a:rPr lang="en-US" sz="2400" dirty="0"/>
                  <a:t>Chen, Liu and </a:t>
                </a:r>
                <a:r>
                  <a:rPr lang="en-US" sz="2400" dirty="0" err="1"/>
                  <a:t>Zhandry</a:t>
                </a:r>
                <a:r>
                  <a:rPr lang="en-US" sz="2400" dirty="0"/>
                  <a:t> [CLZ22] defined quantum versions of LWE.</a:t>
                </a:r>
              </a:p>
              <a:p>
                <a14:m>
                  <m:oMath xmlns:m="http://schemas.openxmlformats.org/officeDocument/2006/math">
                    <m:r>
                      <a:rPr lang="en-US" sz="2400" b="0" i="1" smtClean="0">
                        <a:latin typeface="Cambria Math" panose="02040503050406030204" pitchFamily="18" charset="0"/>
                      </a:rPr>
                      <m:t>𝑆</m:t>
                    </m:r>
                    <m:r>
                      <a:rPr lang="en-US" sz="2400" b="0" i="1" smtClean="0">
                        <a:latin typeface="Cambria Math" panose="02040503050406030204" pitchFamily="18" charset="0"/>
                      </a:rPr>
                      <m:t>|</m:t>
                    </m:r>
                    <m:r>
                      <a:rPr lang="en-US" sz="2400" b="0" i="1" smtClean="0">
                        <a:latin typeface="Cambria Math" panose="02040503050406030204" pitchFamily="18" charset="0"/>
                      </a:rPr>
                      <m:t>𝐿𝑊𝐸</m:t>
                    </m:r>
                    <m:r>
                      <a:rPr lang="en-US" sz="2400" b="0" i="1" smtClean="0">
                        <a:latin typeface="Cambria Math" panose="02040503050406030204" pitchFamily="18" charset="0"/>
                      </a:rPr>
                      <m:t>⟩</m:t>
                    </m:r>
                  </m:oMath>
                </a14:m>
                <a:r>
                  <a:rPr lang="en-US" sz="2400" dirty="0"/>
                  <a:t>: Instead of </a:t>
                </a:r>
                <a14:m>
                  <m:oMath xmlns:m="http://schemas.openxmlformats.org/officeDocument/2006/math">
                    <m:r>
                      <a:rPr lang="en-US" sz="2400" b="0" i="1" smtClean="0">
                        <a:solidFill>
                          <a:schemeClr val="accent5">
                            <a:lumMod val="75000"/>
                          </a:schemeClr>
                        </a:solidFill>
                        <a:latin typeface="Cambria Math" panose="02040503050406030204" pitchFamily="18" charset="0"/>
                      </a:rPr>
                      <m:t>𝑏</m:t>
                    </m:r>
                    <m:r>
                      <a:rPr lang="en-US" sz="2400" b="0" i="1" smtClean="0">
                        <a:solidFill>
                          <a:schemeClr val="accent5">
                            <a:lumMod val="75000"/>
                          </a:schemeClr>
                        </a:solidFill>
                        <a:latin typeface="Cambria Math" panose="02040503050406030204" pitchFamily="18" charset="0"/>
                      </a:rPr>
                      <m:t>=</m:t>
                    </m:r>
                    <m:d>
                      <m:dPr>
                        <m:begChr m:val="⟨"/>
                        <m:endChr m:val="⟩"/>
                        <m:ctrlPr>
                          <a:rPr lang="en-US" sz="2400" b="0" i="1" smtClean="0">
                            <a:solidFill>
                              <a:schemeClr val="accent5">
                                <a:lumMod val="75000"/>
                              </a:schemeClr>
                            </a:solidFill>
                            <a:latin typeface="Cambria Math" panose="02040503050406030204" pitchFamily="18" charset="0"/>
                          </a:rPr>
                        </m:ctrlPr>
                      </m:dPr>
                      <m:e>
                        <m:r>
                          <a:rPr lang="en-US" sz="2400" b="1" i="1">
                            <a:solidFill>
                              <a:schemeClr val="accent5">
                                <a:lumMod val="75000"/>
                              </a:schemeClr>
                            </a:solidFill>
                            <a:latin typeface="Cambria Math" panose="02040503050406030204" pitchFamily="18" charset="0"/>
                          </a:rPr>
                          <m:t>𝒂</m:t>
                        </m:r>
                        <m:r>
                          <a:rPr lang="en-US" sz="2400" b="1"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𝒔</m:t>
                        </m:r>
                      </m:e>
                    </m:d>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𝑒</m:t>
                    </m:r>
                  </m:oMath>
                </a14:m>
                <a:r>
                  <a:rPr lang="en-US" sz="2400" dirty="0"/>
                  <a:t>, give a quantum state</a:t>
                </a:r>
              </a:p>
              <a:p>
                <a:pPr lvl="1"/>
                <a:r>
                  <a:rPr lang="en-US" b="0" dirty="0"/>
                  <a:t>Samples: </a:t>
                </a:r>
                <a14:m>
                  <m:oMath xmlns:m="http://schemas.openxmlformats.org/officeDocument/2006/math">
                    <m:r>
                      <a:rPr lang="en-US" b="1" i="1" smtClean="0">
                        <a:solidFill>
                          <a:schemeClr val="accent5">
                            <a:lumMod val="75000"/>
                          </a:schemeClr>
                        </a:solidFill>
                        <a:latin typeface="Cambria Math" panose="02040503050406030204" pitchFamily="18" charset="0"/>
                      </a:rPr>
                      <m:t>𝒂</m:t>
                    </m:r>
                    <m:r>
                      <a:rPr lang="en-US" b="0" i="1" smtClean="0">
                        <a:solidFill>
                          <a:schemeClr val="accent5">
                            <a:lumMod val="75000"/>
                          </a:schemeClr>
                        </a:solidFill>
                        <a:latin typeface="Cambria Math" panose="02040503050406030204" pitchFamily="18" charset="0"/>
                      </a:rPr>
                      <m:t>←</m:t>
                    </m:r>
                    <m:sSubSup>
                      <m:sSubSupPr>
                        <m:ctrlPr>
                          <a:rPr lang="en-US" b="0" i="1" smtClean="0">
                            <a:solidFill>
                              <a:schemeClr val="accent5">
                                <a:lumMod val="75000"/>
                              </a:schemeClr>
                            </a:solidFill>
                            <a:latin typeface="Cambria Math" panose="02040503050406030204" pitchFamily="18" charset="0"/>
                          </a:rPr>
                        </m:ctrlPr>
                      </m:sSubSupPr>
                      <m:e>
                        <m:r>
                          <a:rPr lang="en-US" b="0" i="1" smtClean="0">
                            <a:solidFill>
                              <a:schemeClr val="accent5">
                                <a:lumMod val="75000"/>
                              </a:schemeClr>
                            </a:solidFill>
                            <a:latin typeface="Cambria Math" panose="02040503050406030204" pitchFamily="18" charset="0"/>
                          </a:rPr>
                          <m:t>ℤ</m:t>
                        </m:r>
                      </m:e>
                      <m:sub>
                        <m:r>
                          <a:rPr lang="en-US" b="0" i="1" smtClean="0">
                            <a:solidFill>
                              <a:schemeClr val="accent5">
                                <a:lumMod val="75000"/>
                              </a:schemeClr>
                            </a:solidFill>
                            <a:latin typeface="Cambria Math" panose="02040503050406030204" pitchFamily="18" charset="0"/>
                          </a:rPr>
                          <m:t>𝑞</m:t>
                        </m:r>
                      </m:sub>
                      <m:sup>
                        <m:r>
                          <a:rPr lang="en-US" b="0" i="1" smtClean="0">
                            <a:solidFill>
                              <a:schemeClr val="accent5">
                                <a:lumMod val="75000"/>
                              </a:schemeClr>
                            </a:solidFill>
                            <a:latin typeface="Cambria Math" panose="02040503050406030204" pitchFamily="18" charset="0"/>
                          </a:rPr>
                          <m:t>𝑛</m:t>
                        </m:r>
                      </m:sup>
                    </m:sSubSup>
                    <m:r>
                      <a:rPr lang="en-US" b="0" i="1" smtClean="0">
                        <a:solidFill>
                          <a:schemeClr val="accent5">
                            <a:lumMod val="75000"/>
                          </a:schemeClr>
                        </a:solidFill>
                        <a:latin typeface="Cambria Math" panose="02040503050406030204" pitchFamily="18" charset="0"/>
                      </a:rPr>
                      <m:t>,  </m:t>
                    </m:r>
                    <m:d>
                      <m:dPr>
                        <m:begChr m:val="|"/>
                        <m:endChr m:val="⟩"/>
                        <m:ctrlPr>
                          <a:rPr lang="en-US" b="0" i="1" smtClean="0">
                            <a:solidFill>
                              <a:schemeClr val="accent5">
                                <a:lumMod val="75000"/>
                              </a:schemeClr>
                            </a:solidFill>
                            <a:latin typeface="Cambria Math" panose="02040503050406030204" pitchFamily="18" charset="0"/>
                          </a:rPr>
                        </m:ctrlPr>
                      </m:dPr>
                      <m:e>
                        <m:r>
                          <a:rPr lang="en-US" b="0" i="1" smtClean="0">
                            <a:solidFill>
                              <a:schemeClr val="accent5">
                                <a:lumMod val="75000"/>
                              </a:schemeClr>
                            </a:solidFill>
                            <a:latin typeface="Cambria Math" panose="02040503050406030204" pitchFamily="18" charset="0"/>
                          </a:rPr>
                          <m:t>𝜙</m:t>
                        </m:r>
                      </m:e>
                    </m:d>
                    <m:r>
                      <a:rPr lang="en-US" b="0" i="1" smtClean="0">
                        <a:solidFill>
                          <a:schemeClr val="accent5">
                            <a:lumMod val="75000"/>
                          </a:schemeClr>
                        </a:solidFill>
                        <a:latin typeface="Cambria Math" panose="02040503050406030204" pitchFamily="18" charset="0"/>
                      </a:rPr>
                      <m:t>≔</m:t>
                    </m:r>
                    <m:nary>
                      <m:naryPr>
                        <m:chr m:val="∑"/>
                        <m:limLoc m:val="subSup"/>
                        <m:supHide m:val="on"/>
                        <m:ctrlPr>
                          <a:rPr lang="en-US" b="0" i="1" smtClean="0">
                            <a:solidFill>
                              <a:schemeClr val="accent5">
                                <a:lumMod val="75000"/>
                              </a:schemeClr>
                            </a:solidFill>
                            <a:latin typeface="Cambria Math" panose="02040503050406030204" pitchFamily="18" charset="0"/>
                          </a:rPr>
                        </m:ctrlPr>
                      </m:naryPr>
                      <m:sub>
                        <m:r>
                          <a:rPr lang="en-US" b="0" i="1" smtClean="0">
                            <a:solidFill>
                              <a:schemeClr val="accent5">
                                <a:lumMod val="75000"/>
                              </a:schemeClr>
                            </a:solidFill>
                            <a:latin typeface="Cambria Math" panose="02040503050406030204" pitchFamily="18" charset="0"/>
                          </a:rPr>
                          <m:t>𝑒</m:t>
                        </m:r>
                        <m:r>
                          <a:rPr lang="en-US" b="0" i="1" smtClean="0">
                            <a:solidFill>
                              <a:schemeClr val="accent5">
                                <a:lumMod val="75000"/>
                              </a:schemeClr>
                            </a:solidFill>
                            <a:latin typeface="Cambria Math" panose="02040503050406030204" pitchFamily="18" charset="0"/>
                          </a:rPr>
                          <m:t>∈</m:t>
                        </m:r>
                        <m:sSub>
                          <m:sSubPr>
                            <m:ctrlPr>
                              <a:rPr lang="en-US" b="0" i="1" smtClean="0">
                                <a:solidFill>
                                  <a:schemeClr val="accent5">
                                    <a:lumMod val="75000"/>
                                  </a:schemeClr>
                                </a:solidFill>
                                <a:latin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rPr>
                              <m:t>ℤ</m:t>
                            </m:r>
                          </m:e>
                          <m:sub>
                            <m:r>
                              <a:rPr lang="en-US" b="0" i="1" smtClean="0">
                                <a:solidFill>
                                  <a:schemeClr val="accent5">
                                    <a:lumMod val="75000"/>
                                  </a:schemeClr>
                                </a:solidFill>
                                <a:latin typeface="Cambria Math" panose="02040503050406030204" pitchFamily="18" charset="0"/>
                              </a:rPr>
                              <m:t>𝑞</m:t>
                            </m:r>
                          </m:sub>
                        </m:sSub>
                      </m:sub>
                      <m:sup/>
                      <m:e>
                        <m:r>
                          <a:rPr lang="en-US" b="0" i="1" smtClean="0">
                            <a:solidFill>
                              <a:schemeClr val="accent5">
                                <a:lumMod val="75000"/>
                              </a:schemeClr>
                            </a:solidFill>
                            <a:latin typeface="Cambria Math" panose="02040503050406030204" pitchFamily="18" charset="0"/>
                          </a:rPr>
                          <m:t>𝑓</m:t>
                        </m:r>
                        <m:d>
                          <m:dPr>
                            <m:ctrlPr>
                              <a:rPr lang="en-US" b="0" i="1" smtClean="0">
                                <a:solidFill>
                                  <a:schemeClr val="accent5">
                                    <a:lumMod val="75000"/>
                                  </a:schemeClr>
                                </a:solidFill>
                                <a:latin typeface="Cambria Math" panose="02040503050406030204" pitchFamily="18" charset="0"/>
                              </a:rPr>
                            </m:ctrlPr>
                          </m:dPr>
                          <m:e>
                            <m:r>
                              <a:rPr lang="en-US" b="0" i="1" smtClean="0">
                                <a:solidFill>
                                  <a:schemeClr val="accent5">
                                    <a:lumMod val="75000"/>
                                  </a:schemeClr>
                                </a:solidFill>
                                <a:latin typeface="Cambria Math" panose="02040503050406030204" pitchFamily="18" charset="0"/>
                              </a:rPr>
                              <m:t>𝑒</m:t>
                            </m:r>
                          </m:e>
                        </m:d>
                        <m:d>
                          <m:dPr>
                            <m:begChr m:val="|"/>
                            <m:endChr m:val="⟩"/>
                            <m:ctrlPr>
                              <a:rPr lang="en-US" b="0" i="1" smtClean="0">
                                <a:solidFill>
                                  <a:schemeClr val="accent5">
                                    <a:lumMod val="75000"/>
                                  </a:schemeClr>
                                </a:solidFill>
                                <a:latin typeface="Cambria Math" panose="02040503050406030204" pitchFamily="18" charset="0"/>
                              </a:rPr>
                            </m:ctrlPr>
                          </m:dPr>
                          <m:e>
                            <m:d>
                              <m:dPr>
                                <m:begChr m:val="⟨"/>
                                <m:endChr m:val="⟩"/>
                                <m:ctrlPr>
                                  <a:rPr lang="en-US" i="1">
                                    <a:solidFill>
                                      <a:schemeClr val="accent5">
                                        <a:lumMod val="75000"/>
                                      </a:schemeClr>
                                    </a:solidFill>
                                    <a:latin typeface="Cambria Math" panose="02040503050406030204" pitchFamily="18" charset="0"/>
                                  </a:rPr>
                                </m:ctrlPr>
                              </m:dPr>
                              <m:e>
                                <m:r>
                                  <a:rPr lang="en-US" b="1" i="1">
                                    <a:solidFill>
                                      <a:schemeClr val="accent5">
                                        <a:lumMod val="75000"/>
                                      </a:schemeClr>
                                    </a:solidFill>
                                    <a:latin typeface="Cambria Math" panose="02040503050406030204" pitchFamily="18" charset="0"/>
                                  </a:rPr>
                                  <m:t>𝒂</m:t>
                                </m:r>
                                <m:r>
                                  <a:rPr lang="en-US" i="1">
                                    <a:solidFill>
                                      <a:schemeClr val="accent5">
                                        <a:lumMod val="75000"/>
                                      </a:schemeClr>
                                    </a:solidFill>
                                    <a:latin typeface="Cambria Math" panose="02040503050406030204" pitchFamily="18" charset="0"/>
                                  </a:rPr>
                                  <m:t>,</m:t>
                                </m:r>
                                <m:r>
                                  <a:rPr lang="en-US" b="1" i="1">
                                    <a:solidFill>
                                      <a:schemeClr val="accent5">
                                        <a:lumMod val="75000"/>
                                      </a:schemeClr>
                                    </a:solidFill>
                                    <a:latin typeface="Cambria Math" panose="02040503050406030204" pitchFamily="18" charset="0"/>
                                  </a:rPr>
                                  <m:t>𝒔</m:t>
                                </m:r>
                              </m:e>
                            </m:d>
                            <m:r>
                              <a:rPr lang="en-US" i="1">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𝑒</m:t>
                            </m:r>
                            <m:r>
                              <a:rPr lang="en-US" b="0" i="1" smtClean="0">
                                <a:solidFill>
                                  <a:schemeClr val="accent5">
                                    <a:lumMod val="75000"/>
                                  </a:schemeClr>
                                </a:solidFill>
                                <a:latin typeface="Cambria Math" panose="02040503050406030204" pitchFamily="18" charset="0"/>
                              </a:rPr>
                              <m:t> </m:t>
                            </m:r>
                            <m:r>
                              <a:rPr lang="en-US" b="0" i="1" smtClean="0">
                                <a:solidFill>
                                  <a:schemeClr val="accent5">
                                    <a:lumMod val="75000"/>
                                  </a:schemeClr>
                                </a:solidFill>
                                <a:latin typeface="Cambria Math" panose="02040503050406030204" pitchFamily="18" charset="0"/>
                              </a:rPr>
                              <m:t>𝑚𝑜𝑑</m:t>
                            </m:r>
                            <m:r>
                              <a:rPr lang="en-US" b="0" i="1" smtClean="0">
                                <a:solidFill>
                                  <a:schemeClr val="accent5">
                                    <a:lumMod val="75000"/>
                                  </a:schemeClr>
                                </a:solidFill>
                                <a:latin typeface="Cambria Math" panose="02040503050406030204" pitchFamily="18" charset="0"/>
                              </a:rPr>
                              <m:t> </m:t>
                            </m:r>
                            <m:r>
                              <a:rPr lang="en-US" b="0" i="1" smtClean="0">
                                <a:solidFill>
                                  <a:schemeClr val="accent5">
                                    <a:lumMod val="75000"/>
                                  </a:schemeClr>
                                </a:solidFill>
                                <a:latin typeface="Cambria Math" panose="02040503050406030204" pitchFamily="18" charset="0"/>
                              </a:rPr>
                              <m:t>𝑞</m:t>
                            </m:r>
                          </m:e>
                        </m:d>
                      </m:e>
                    </m:nary>
                  </m:oMath>
                </a14:m>
                <a:endParaRPr lang="en-US" dirty="0"/>
              </a:p>
              <a:p>
                <a:pPr lvl="1"/>
                <a:r>
                  <a:rPr lang="en-US" dirty="0"/>
                  <a:t>Find </a:t>
                </a:r>
                <a14:m>
                  <m:oMath xmlns:m="http://schemas.openxmlformats.org/officeDocument/2006/math">
                    <m:r>
                      <a:rPr lang="en-US" b="1" i="1" smtClean="0">
                        <a:solidFill>
                          <a:schemeClr val="accent5">
                            <a:lumMod val="75000"/>
                          </a:schemeClr>
                        </a:solidFill>
                        <a:latin typeface="Cambria Math" panose="02040503050406030204" pitchFamily="18" charset="0"/>
                      </a:rPr>
                      <m:t>𝒔</m:t>
                    </m:r>
                  </m:oMath>
                </a14:m>
                <a:endParaRPr lang="en-US" b="1" dirty="0"/>
              </a:p>
            </p:txBody>
          </p:sp>
        </mc:Choice>
        <mc:Fallback xmlns="">
          <p:sp>
            <p:nvSpPr>
              <p:cNvPr id="4" name="Content Placeholder 2">
                <a:extLst>
                  <a:ext uri="{FF2B5EF4-FFF2-40B4-BE49-F238E27FC236}">
                    <a16:creationId xmlns:a16="http://schemas.microsoft.com/office/drawing/2014/main" id="{4672F7C5-1BA7-E09E-4F69-C266C995543F}"/>
                  </a:ext>
                </a:extLst>
              </p:cNvPr>
              <p:cNvSpPr>
                <a:spLocks noGrp="1" noRot="1" noChangeAspect="1" noMove="1" noResize="1" noEditPoints="1" noAdjustHandles="1" noChangeArrowheads="1" noChangeShapeType="1" noTextEdit="1"/>
              </p:cNvSpPr>
              <p:nvPr>
                <p:ph idx="1"/>
              </p:nvPr>
            </p:nvSpPr>
            <p:spPr>
              <a:xfrm>
                <a:off x="838200" y="1690689"/>
                <a:ext cx="9573126" cy="1844121"/>
              </a:xfrm>
              <a:blipFill>
                <a:blip r:embed="rId3"/>
                <a:stretch>
                  <a:fillRect l="-1061" t="-4082" b="-421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6A6BAC3-F27F-126B-08FE-3D65E5B73160}"/>
                  </a:ext>
                </a:extLst>
              </p:cNvPr>
              <p:cNvSpPr txBox="1"/>
              <p:nvPr/>
            </p:nvSpPr>
            <p:spPr>
              <a:xfrm>
                <a:off x="838200" y="4415586"/>
                <a:ext cx="8530389" cy="461665"/>
              </a:xfrm>
              <a:prstGeom prst="rect">
                <a:avLst/>
              </a:prstGeom>
              <a:noFill/>
            </p:spPr>
            <p:txBody>
              <a:bodyPr wrap="square" rtlCol="0">
                <a:spAutoFit/>
              </a:bodyPr>
              <a:lstStyle/>
              <a:p>
                <a:r>
                  <a:rPr lang="en-US" sz="2400" dirty="0"/>
                  <a:t>Can measure </a:t>
                </a:r>
                <a14:m>
                  <m:oMath xmlns:m="http://schemas.openxmlformats.org/officeDocument/2006/math">
                    <m:d>
                      <m:dPr>
                        <m:begChr m:val="|"/>
                        <m:endChr m:val="⟩"/>
                        <m:ctrlPr>
                          <a:rPr lang="en-US" sz="2400" i="1">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𝜙</m:t>
                        </m:r>
                      </m:e>
                    </m:d>
                    <m:r>
                      <a:rPr lang="en-US" sz="2400" i="1">
                        <a:solidFill>
                          <a:schemeClr val="accent5">
                            <a:lumMod val="75000"/>
                          </a:schemeClr>
                        </a:solidFill>
                        <a:latin typeface="Cambria Math" panose="02040503050406030204" pitchFamily="18" charset="0"/>
                      </a:rPr>
                      <m:t> </m:t>
                    </m:r>
                  </m:oMath>
                </a14:m>
                <a:r>
                  <a:rPr lang="en-US" sz="2400" dirty="0"/>
                  <a:t>to get </a:t>
                </a:r>
                <a14:m>
                  <m:oMath xmlns:m="http://schemas.openxmlformats.org/officeDocument/2006/math">
                    <m:d>
                      <m:dPr>
                        <m:begChr m:val="⟨"/>
                        <m:endChr m:val="⟩"/>
                        <m:ctrlPr>
                          <a:rPr lang="en-US" sz="2400" i="1">
                            <a:solidFill>
                              <a:schemeClr val="accent5">
                                <a:lumMod val="75000"/>
                              </a:schemeClr>
                            </a:solidFill>
                            <a:latin typeface="Cambria Math" panose="02040503050406030204" pitchFamily="18" charset="0"/>
                          </a:rPr>
                        </m:ctrlPr>
                      </m:dPr>
                      <m:e>
                        <m:r>
                          <a:rPr lang="en-US" sz="2400" b="1" i="1">
                            <a:solidFill>
                              <a:schemeClr val="accent5">
                                <a:lumMod val="75000"/>
                              </a:schemeClr>
                            </a:solidFill>
                            <a:latin typeface="Cambria Math" panose="02040503050406030204" pitchFamily="18" charset="0"/>
                          </a:rPr>
                          <m:t>𝒂</m:t>
                        </m:r>
                        <m:r>
                          <a:rPr lang="en-US" sz="2400"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𝒔</m:t>
                        </m:r>
                      </m:e>
                    </m:d>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𝑒</m:t>
                    </m:r>
                    <m:r>
                      <a:rPr lang="en-US" sz="2400" i="1">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𝑚𝑜𝑑</m:t>
                    </m:r>
                    <m:r>
                      <a:rPr lang="en-US" sz="2400" i="1">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𝑞</m:t>
                    </m:r>
                  </m:oMath>
                </a14:m>
                <a:r>
                  <a:rPr lang="en-US" sz="2400" dirty="0"/>
                  <a:t> with probability </a:t>
                </a:r>
                <a14:m>
                  <m:oMath xmlns:m="http://schemas.openxmlformats.org/officeDocument/2006/math">
                    <m:sSup>
                      <m:sSupPr>
                        <m:ctrlPr>
                          <a:rPr lang="en-US" sz="2400" b="0" i="1" smtClean="0">
                            <a:solidFill>
                              <a:schemeClr val="accent5">
                                <a:lumMod val="75000"/>
                              </a:schemeClr>
                            </a:solidFill>
                            <a:latin typeface="Cambria Math" panose="02040503050406030204" pitchFamily="18" charset="0"/>
                          </a:rPr>
                        </m:ctrlPr>
                      </m:sSupPr>
                      <m:e>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𝑓</m:t>
                            </m:r>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𝑒</m:t>
                                </m:r>
                              </m:e>
                            </m:d>
                          </m:e>
                        </m:d>
                      </m:e>
                      <m:sup>
                        <m:r>
                          <a:rPr lang="en-US" sz="2400" b="0" i="1" smtClean="0">
                            <a:solidFill>
                              <a:schemeClr val="accent5">
                                <a:lumMod val="75000"/>
                              </a:schemeClr>
                            </a:solidFill>
                            <a:latin typeface="Cambria Math" panose="02040503050406030204" pitchFamily="18" charset="0"/>
                          </a:rPr>
                          <m:t>2</m:t>
                        </m:r>
                      </m:sup>
                    </m:sSup>
                  </m:oMath>
                </a14:m>
                <a:endParaRPr lang="en-US" sz="2400" dirty="0"/>
              </a:p>
            </p:txBody>
          </p:sp>
        </mc:Choice>
        <mc:Fallback xmlns="">
          <p:sp>
            <p:nvSpPr>
              <p:cNvPr id="7" name="TextBox 6">
                <a:extLst>
                  <a:ext uri="{FF2B5EF4-FFF2-40B4-BE49-F238E27FC236}">
                    <a16:creationId xmlns:a16="http://schemas.microsoft.com/office/drawing/2014/main" id="{A6A6BAC3-F27F-126B-08FE-3D65E5B73160}"/>
                  </a:ext>
                </a:extLst>
              </p:cNvPr>
              <p:cNvSpPr txBox="1">
                <a:spLocks noRot="1" noChangeAspect="1" noMove="1" noResize="1" noEditPoints="1" noAdjustHandles="1" noChangeArrowheads="1" noChangeShapeType="1" noTextEdit="1"/>
              </p:cNvSpPr>
              <p:nvPr/>
            </p:nvSpPr>
            <p:spPr>
              <a:xfrm>
                <a:off x="838200" y="4415586"/>
                <a:ext cx="8530389" cy="461665"/>
              </a:xfrm>
              <a:prstGeom prst="rect">
                <a:avLst/>
              </a:prstGeom>
              <a:blipFill>
                <a:blip r:embed="rId4"/>
                <a:stretch>
                  <a:fillRect l="-1190" t="-10811" b="-3243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3461E08-AEEB-AF93-8EBE-424CB6DEC543}"/>
              </a:ext>
            </a:extLst>
          </p:cNvPr>
          <p:cNvSpPr txBox="1"/>
          <p:nvPr/>
        </p:nvSpPr>
        <p:spPr>
          <a:xfrm>
            <a:off x="9321922" y="4374914"/>
            <a:ext cx="2031878" cy="461665"/>
          </a:xfrm>
          <a:prstGeom prst="rect">
            <a:avLst/>
          </a:prstGeom>
          <a:noFill/>
        </p:spPr>
        <p:txBody>
          <a:bodyPr wrap="square" rtlCol="0">
            <a:spAutoFit/>
          </a:bodyPr>
          <a:lstStyle/>
          <a:p>
            <a:r>
              <a:rPr lang="en-US" sz="2400" dirty="0"/>
              <a:t>(LWE sample)</a:t>
            </a:r>
          </a:p>
        </p:txBody>
      </p:sp>
      <p:sp>
        <p:nvSpPr>
          <p:cNvPr id="22" name="TextBox 21">
            <a:extLst>
              <a:ext uri="{FF2B5EF4-FFF2-40B4-BE49-F238E27FC236}">
                <a16:creationId xmlns:a16="http://schemas.microsoft.com/office/drawing/2014/main" id="{624F6E98-A388-DD19-209B-7825E8DA24E2}"/>
              </a:ext>
            </a:extLst>
          </p:cNvPr>
          <p:cNvSpPr txBox="1"/>
          <p:nvPr/>
        </p:nvSpPr>
        <p:spPr>
          <a:xfrm>
            <a:off x="838200" y="4915647"/>
            <a:ext cx="11714018" cy="461665"/>
          </a:xfrm>
          <a:prstGeom prst="rect">
            <a:avLst/>
          </a:prstGeom>
          <a:noFill/>
        </p:spPr>
        <p:txBody>
          <a:bodyPr wrap="square" rtlCol="0">
            <a:spAutoFit/>
          </a:bodyPr>
          <a:lstStyle/>
          <a:p>
            <a:r>
              <a:rPr lang="en-US" sz="2400" dirty="0"/>
              <a:t>[CHLLT25] reduce </a:t>
            </a:r>
            <a:r>
              <a:rPr lang="en-US" sz="2400" u="sng" dirty="0"/>
              <a:t>one such sample </a:t>
            </a:r>
            <a:r>
              <a:rPr lang="en-US" sz="2400" dirty="0"/>
              <a:t>to a DCP state with inverse </a:t>
            </a:r>
            <a:r>
              <a:rPr lang="en-US" sz="2400" dirty="0" err="1"/>
              <a:t>subexp</a:t>
            </a:r>
            <a:r>
              <a:rPr lang="en-US" sz="2400" dirty="0"/>
              <a:t> probability!</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2B1E62D-5101-F35E-2488-E1E78297B6D2}"/>
                  </a:ext>
                </a:extLst>
              </p:cNvPr>
              <p:cNvSpPr txBox="1"/>
              <p:nvPr/>
            </p:nvSpPr>
            <p:spPr>
              <a:xfrm>
                <a:off x="8285017" y="3745618"/>
                <a:ext cx="216714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2"/>
                          </a:solidFill>
                          <a:latin typeface="Cambria Math" panose="02040503050406030204" pitchFamily="18" charset="0"/>
                        </a:rPr>
                        <m:t>𝑓</m:t>
                      </m:r>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𝑒</m:t>
                          </m:r>
                        </m:e>
                      </m:d>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𝜌</m:t>
                          </m:r>
                        </m:e>
                        <m:sub>
                          <m:r>
                            <a:rPr lang="en-US" sz="2400" b="0" i="1" smtClean="0">
                              <a:solidFill>
                                <a:schemeClr val="accent2"/>
                              </a:solidFill>
                              <a:latin typeface="Cambria Math" panose="02040503050406030204" pitchFamily="18" charset="0"/>
                            </a:rPr>
                            <m:t>𝑟</m:t>
                          </m:r>
                        </m:sub>
                      </m:sSub>
                      <m:d>
                        <m:dPr>
                          <m:ctrlPr>
                            <a:rPr lang="en-US" sz="2400" b="0" i="1" smtClean="0">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𝑒</m:t>
                          </m:r>
                        </m:e>
                      </m:d>
                    </m:oMath>
                  </m:oMathPara>
                </a14:m>
                <a:endParaRPr lang="en-US" sz="2400" dirty="0">
                  <a:solidFill>
                    <a:schemeClr val="accent2"/>
                  </a:solidFill>
                </a:endParaRPr>
              </a:p>
            </p:txBody>
          </p:sp>
        </mc:Choice>
        <mc:Fallback xmlns="">
          <p:sp>
            <p:nvSpPr>
              <p:cNvPr id="24" name="TextBox 23">
                <a:extLst>
                  <a:ext uri="{FF2B5EF4-FFF2-40B4-BE49-F238E27FC236}">
                    <a16:creationId xmlns:a16="http://schemas.microsoft.com/office/drawing/2014/main" id="{C2B1E62D-5101-F35E-2488-E1E78297B6D2}"/>
                  </a:ext>
                </a:extLst>
              </p:cNvPr>
              <p:cNvSpPr txBox="1">
                <a:spLocks noRot="1" noChangeAspect="1" noMove="1" noResize="1" noEditPoints="1" noAdjustHandles="1" noChangeArrowheads="1" noChangeShapeType="1" noTextEdit="1"/>
              </p:cNvSpPr>
              <p:nvPr/>
            </p:nvSpPr>
            <p:spPr>
              <a:xfrm>
                <a:off x="8285017" y="3745618"/>
                <a:ext cx="2167143" cy="461665"/>
              </a:xfrm>
              <a:prstGeom prst="rect">
                <a:avLst/>
              </a:prstGeom>
              <a:blipFill>
                <a:blip r:embed="rId5"/>
                <a:stretch>
                  <a:fillRect b="-1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B93F133-B4A0-DA9E-2A44-2FDF0EA0490B}"/>
                  </a:ext>
                </a:extLst>
              </p:cNvPr>
              <p:cNvSpPr txBox="1"/>
              <p:nvPr/>
            </p:nvSpPr>
            <p:spPr>
              <a:xfrm>
                <a:off x="5103394" y="3760880"/>
                <a:ext cx="3372378" cy="461665"/>
              </a:xfrm>
              <a:prstGeom prst="rect">
                <a:avLst/>
              </a:prstGeom>
              <a:noFill/>
            </p:spPr>
            <p:txBody>
              <a:bodyPr wrap="square" rtlCol="0">
                <a:spAutoFit/>
              </a:bodyPr>
              <a:lstStyle/>
              <a:p>
                <a:r>
                  <a:rPr lang="en-US" sz="2400" dirty="0"/>
                  <a:t>If </a:t>
                </a:r>
                <a14:m>
                  <m:oMath xmlns:m="http://schemas.openxmlformats.org/officeDocument/2006/math">
                    <m:r>
                      <a:rPr lang="en-US" sz="2400" b="0" i="1" smtClean="0">
                        <a:solidFill>
                          <a:schemeClr val="accent5">
                            <a:lumMod val="75000"/>
                          </a:schemeClr>
                        </a:solidFill>
                        <a:latin typeface="Cambria Math" panose="02040503050406030204" pitchFamily="18" charset="0"/>
                      </a:rPr>
                      <m:t>𝑓</m:t>
                    </m:r>
                  </m:oMath>
                </a14:m>
                <a:r>
                  <a:rPr lang="en-US" sz="2400" dirty="0"/>
                  <a:t> is discrete Gaussian</a:t>
                </a:r>
              </a:p>
            </p:txBody>
          </p:sp>
        </mc:Choice>
        <mc:Fallback xmlns="">
          <p:sp>
            <p:nvSpPr>
              <p:cNvPr id="26" name="TextBox 25">
                <a:extLst>
                  <a:ext uri="{FF2B5EF4-FFF2-40B4-BE49-F238E27FC236}">
                    <a16:creationId xmlns:a16="http://schemas.microsoft.com/office/drawing/2014/main" id="{2B93F133-B4A0-DA9E-2A44-2FDF0EA0490B}"/>
                  </a:ext>
                </a:extLst>
              </p:cNvPr>
              <p:cNvSpPr txBox="1">
                <a:spLocks noRot="1" noChangeAspect="1" noMove="1" noResize="1" noEditPoints="1" noAdjustHandles="1" noChangeArrowheads="1" noChangeShapeType="1" noTextEdit="1"/>
              </p:cNvSpPr>
              <p:nvPr/>
            </p:nvSpPr>
            <p:spPr>
              <a:xfrm>
                <a:off x="5103394" y="3760880"/>
                <a:ext cx="3372378" cy="461665"/>
              </a:xfrm>
              <a:prstGeom prst="rect">
                <a:avLst/>
              </a:prstGeom>
              <a:blipFill>
                <a:blip r:embed="rId6"/>
                <a:stretch>
                  <a:fillRect l="-2622" t="-10811" r="-1124" b="-29730"/>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E0CD8CB5-1161-A236-F318-C59C212320A6}"/>
              </a:ext>
            </a:extLst>
          </p:cNvPr>
          <p:cNvSpPr txBox="1"/>
          <p:nvPr/>
        </p:nvSpPr>
        <p:spPr>
          <a:xfrm>
            <a:off x="842068" y="5417984"/>
            <a:ext cx="8301932" cy="461665"/>
          </a:xfrm>
          <a:prstGeom prst="rect">
            <a:avLst/>
          </a:prstGeom>
          <a:noFill/>
        </p:spPr>
        <p:txBody>
          <a:bodyPr wrap="square" rtlCol="0">
            <a:spAutoFit/>
          </a:bodyPr>
          <a:lstStyle/>
          <a:p>
            <a:r>
              <a:rPr lang="en-US" sz="2400" dirty="0"/>
              <a:t>Can start with </a:t>
            </a:r>
            <a:r>
              <a:rPr lang="en-US" sz="2400" dirty="0" err="1"/>
              <a:t>subexp</a:t>
            </a:r>
            <a:r>
              <a:rPr lang="en-US" sz="2400" dirty="0"/>
              <a:t> samples and get </a:t>
            </a:r>
            <a:r>
              <a:rPr lang="en-US" sz="2400" dirty="0" err="1"/>
              <a:t>subexp</a:t>
            </a:r>
            <a:r>
              <a:rPr lang="en-US" sz="2400" dirty="0"/>
              <a:t> DCP states.</a:t>
            </a:r>
          </a:p>
        </p:txBody>
      </p:sp>
      <p:sp>
        <p:nvSpPr>
          <p:cNvPr id="28" name="TextBox 27">
            <a:extLst>
              <a:ext uri="{FF2B5EF4-FFF2-40B4-BE49-F238E27FC236}">
                <a16:creationId xmlns:a16="http://schemas.microsoft.com/office/drawing/2014/main" id="{68AAF00B-60D3-A378-1C9B-943E9E520AFB}"/>
              </a:ext>
            </a:extLst>
          </p:cNvPr>
          <p:cNvSpPr txBox="1"/>
          <p:nvPr/>
        </p:nvSpPr>
        <p:spPr>
          <a:xfrm>
            <a:off x="838200" y="6007364"/>
            <a:ext cx="7150768" cy="461665"/>
          </a:xfrm>
          <a:prstGeom prst="rect">
            <a:avLst/>
          </a:prstGeom>
          <a:noFill/>
        </p:spPr>
        <p:txBody>
          <a:bodyPr wrap="square" rtlCol="0">
            <a:spAutoFit/>
          </a:bodyPr>
          <a:lstStyle/>
          <a:p>
            <a:r>
              <a:rPr lang="en-US" sz="2400" dirty="0"/>
              <a:t>Then apply Kuperberg’s sieve for a </a:t>
            </a:r>
            <a:r>
              <a:rPr lang="en-US" sz="2400" dirty="0" err="1"/>
              <a:t>subexp</a:t>
            </a:r>
            <a:r>
              <a:rPr lang="en-US" sz="2400" dirty="0"/>
              <a:t> algorithm.</a:t>
            </a:r>
          </a:p>
        </p:txBody>
      </p:sp>
    </p:spTree>
    <p:extLst>
      <p:ext uri="{BB962C8B-B14F-4D97-AF65-F5344CB8AC3E}">
        <p14:creationId xmlns:p14="http://schemas.microsoft.com/office/powerpoint/2010/main" val="270102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P spid="9" grpId="0"/>
      <p:bldP spid="22" grpId="0"/>
      <p:bldP spid="24" grpId="0"/>
      <p:bldP spid="26" grpId="0"/>
      <p:bldP spid="27"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42F65F6-BB54-7EFA-8F7B-C2B5979D7C14}"/>
                  </a:ext>
                </a:extLst>
              </p:cNvPr>
              <p:cNvSpPr>
                <a:spLocks noGrp="1"/>
              </p:cNvSpPr>
              <p:nvPr>
                <p:ph type="title"/>
              </p:nvPr>
            </p:nvSpPr>
            <p:spPr/>
            <p:txBody>
              <a:bodyPr/>
              <a:lstStyle/>
              <a:p>
                <a:r>
                  <a:rPr lang="en-US" dirty="0"/>
                  <a:t>LWE reduces to S</a:t>
                </a:r>
                <a14:m>
                  <m:oMath xmlns:m="http://schemas.openxmlformats.org/officeDocument/2006/math">
                    <m:r>
                      <a:rPr lang="en-US" b="0" i="1" smtClean="0">
                        <a:latin typeface="Cambria Math" panose="02040503050406030204" pitchFamily="18" charset="0"/>
                      </a:rPr>
                      <m:t>|</m:t>
                    </m:r>
                  </m:oMath>
                </a14:m>
                <a:r>
                  <a:rPr lang="en-US" dirty="0"/>
                  <a:t>LWE</a:t>
                </a:r>
                <a14:m>
                  <m:oMath xmlns:m="http://schemas.openxmlformats.org/officeDocument/2006/math">
                    <m:r>
                      <a:rPr lang="en-US" b="0" i="1" smtClean="0">
                        <a:latin typeface="Cambria Math" panose="02040503050406030204" pitchFamily="18" charset="0"/>
                      </a:rPr>
                      <m:t>⟩</m:t>
                    </m:r>
                  </m:oMath>
                </a14:m>
                <a:r>
                  <a:rPr lang="en-US" baseline="30000" dirty="0"/>
                  <a:t>phase</a:t>
                </a:r>
              </a:p>
            </p:txBody>
          </p:sp>
        </mc:Choice>
        <mc:Fallback xmlns="">
          <p:sp>
            <p:nvSpPr>
              <p:cNvPr id="2" name="Title 1">
                <a:extLst>
                  <a:ext uri="{FF2B5EF4-FFF2-40B4-BE49-F238E27FC236}">
                    <a16:creationId xmlns:a16="http://schemas.microsoft.com/office/drawing/2014/main" id="{242F65F6-BB54-7EFA-8F7B-C2B5979D7C14}"/>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87A2081-5764-67C9-E576-5CDB51A5D463}"/>
              </a:ext>
            </a:extLst>
          </p:cNvPr>
          <p:cNvSpPr txBox="1"/>
          <p:nvPr/>
        </p:nvSpPr>
        <p:spPr>
          <a:xfrm>
            <a:off x="964473" y="3638139"/>
            <a:ext cx="1046035" cy="461665"/>
          </a:xfrm>
          <a:prstGeom prst="rect">
            <a:avLst/>
          </a:prstGeom>
          <a:noFill/>
        </p:spPr>
        <p:txBody>
          <a:bodyPr wrap="square" rtlCol="0">
            <a:spAutoFit/>
          </a:bodyPr>
          <a:lstStyle/>
          <a:p>
            <a:r>
              <a:rPr lang="en-US" sz="2400" dirty="0"/>
              <a:t>LWE</a:t>
            </a:r>
          </a:p>
        </p:txBody>
      </p:sp>
      <p:cxnSp>
        <p:nvCxnSpPr>
          <p:cNvPr id="6" name="Straight Arrow Connector 5">
            <a:extLst>
              <a:ext uri="{FF2B5EF4-FFF2-40B4-BE49-F238E27FC236}">
                <a16:creationId xmlns:a16="http://schemas.microsoft.com/office/drawing/2014/main" id="{2CC8736F-2FE9-04A9-1E16-B697EBD495A5}"/>
              </a:ext>
            </a:extLst>
          </p:cNvPr>
          <p:cNvCxnSpPr>
            <a:cxnSpLocks/>
          </p:cNvCxnSpPr>
          <p:nvPr/>
        </p:nvCxnSpPr>
        <p:spPr>
          <a:xfrm>
            <a:off x="1877314" y="3803735"/>
            <a:ext cx="30895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2B7F54D-BAA3-CC97-8678-88C6213FC6E2}"/>
              </a:ext>
            </a:extLst>
          </p:cNvPr>
          <p:cNvSpPr txBox="1"/>
          <p:nvPr/>
        </p:nvSpPr>
        <p:spPr>
          <a:xfrm>
            <a:off x="5034158" y="3545295"/>
            <a:ext cx="2397682" cy="830997"/>
          </a:xfrm>
          <a:prstGeom prst="rect">
            <a:avLst/>
          </a:prstGeom>
          <a:noFill/>
        </p:spPr>
        <p:txBody>
          <a:bodyPr wrap="square" rtlCol="0">
            <a:spAutoFit/>
          </a:bodyPr>
          <a:lstStyle/>
          <a:p>
            <a:r>
              <a:rPr lang="en-US" sz="2400" dirty="0"/>
              <a:t>G-EDCP with unknown shift</a:t>
            </a:r>
          </a:p>
        </p:txBody>
      </p:sp>
      <p:cxnSp>
        <p:nvCxnSpPr>
          <p:cNvPr id="8" name="Straight Arrow Connector 7">
            <a:extLst>
              <a:ext uri="{FF2B5EF4-FFF2-40B4-BE49-F238E27FC236}">
                <a16:creationId xmlns:a16="http://schemas.microsoft.com/office/drawing/2014/main" id="{0E07D68E-EBA6-D664-1257-08D63F953FC4}"/>
              </a:ext>
            </a:extLst>
          </p:cNvPr>
          <p:cNvCxnSpPr>
            <a:cxnSpLocks/>
          </p:cNvCxnSpPr>
          <p:nvPr/>
        </p:nvCxnSpPr>
        <p:spPr>
          <a:xfrm flipV="1">
            <a:off x="6989624" y="3753068"/>
            <a:ext cx="2660073" cy="129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F2FEB8-86E8-013A-0E36-2BEAA0517DAA}"/>
                  </a:ext>
                </a:extLst>
              </p:cNvPr>
              <p:cNvSpPr txBox="1"/>
              <p:nvPr/>
            </p:nvSpPr>
            <p:spPr>
              <a:xfrm>
                <a:off x="9940635" y="3581390"/>
                <a:ext cx="1770101" cy="461665"/>
              </a:xfrm>
              <a:prstGeom prst="rect">
                <a:avLst/>
              </a:prstGeom>
              <a:noFill/>
            </p:spPr>
            <p:txBody>
              <a:bodyPr wrap="square" rtlCol="0">
                <a:spAutoFit/>
              </a:bodyPr>
              <a:lstStyle/>
              <a:p>
                <a:r>
                  <a:rPr lang="en-US" sz="2400" dirty="0"/>
                  <a:t>S</a:t>
                </a:r>
                <a14:m>
                  <m:oMath xmlns:m="http://schemas.openxmlformats.org/officeDocument/2006/math">
                    <m:r>
                      <a:rPr lang="en-US" sz="2400" i="1">
                        <a:latin typeface="Cambria Math" panose="02040503050406030204" pitchFamily="18" charset="0"/>
                      </a:rPr>
                      <m:t>|</m:t>
                    </m:r>
                  </m:oMath>
                </a14:m>
                <a:r>
                  <a:rPr lang="en-US" sz="2400" dirty="0"/>
                  <a:t>LWE</a:t>
                </a:r>
                <a14:m>
                  <m:oMath xmlns:m="http://schemas.openxmlformats.org/officeDocument/2006/math">
                    <m:r>
                      <a:rPr lang="en-US" sz="2400" i="1">
                        <a:latin typeface="Cambria Math" panose="02040503050406030204" pitchFamily="18" charset="0"/>
                      </a:rPr>
                      <m:t>⟩</m:t>
                    </m:r>
                  </m:oMath>
                </a14:m>
                <a:r>
                  <a:rPr lang="en-US" sz="2400" baseline="30000" dirty="0"/>
                  <a:t>phase</a:t>
                </a:r>
                <a:endParaRPr lang="en-US" sz="2400" dirty="0"/>
              </a:p>
            </p:txBody>
          </p:sp>
        </mc:Choice>
        <mc:Fallback xmlns="">
          <p:sp>
            <p:nvSpPr>
              <p:cNvPr id="9" name="TextBox 8">
                <a:extLst>
                  <a:ext uri="{FF2B5EF4-FFF2-40B4-BE49-F238E27FC236}">
                    <a16:creationId xmlns:a16="http://schemas.microsoft.com/office/drawing/2014/main" id="{33F2FEB8-86E8-013A-0E36-2BEAA0517DAA}"/>
                  </a:ext>
                </a:extLst>
              </p:cNvPr>
              <p:cNvSpPr txBox="1">
                <a:spLocks noRot="1" noChangeAspect="1" noMove="1" noResize="1" noEditPoints="1" noAdjustHandles="1" noChangeArrowheads="1" noChangeShapeType="1" noTextEdit="1"/>
              </p:cNvSpPr>
              <p:nvPr/>
            </p:nvSpPr>
            <p:spPr>
              <a:xfrm>
                <a:off x="9940635" y="3581390"/>
                <a:ext cx="1770101" cy="461665"/>
              </a:xfrm>
              <a:prstGeom prst="rect">
                <a:avLst/>
              </a:prstGeom>
              <a:blipFill>
                <a:blip r:embed="rId3"/>
                <a:stretch>
                  <a:fillRect l="-4965" t="-10526" b="-28947"/>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00442050-6BFA-B4FE-1BFF-83E899A55EA5}"/>
              </a:ext>
            </a:extLst>
          </p:cNvPr>
          <p:cNvSpPr/>
          <p:nvPr/>
        </p:nvSpPr>
        <p:spPr>
          <a:xfrm rot="16200000">
            <a:off x="3147272" y="3923335"/>
            <a:ext cx="426456" cy="2699983"/>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sz="2400"/>
          </a:p>
        </p:txBody>
      </p:sp>
      <p:sp>
        <p:nvSpPr>
          <p:cNvPr id="11" name="Left Brace 10">
            <a:extLst>
              <a:ext uri="{FF2B5EF4-FFF2-40B4-BE49-F238E27FC236}">
                <a16:creationId xmlns:a16="http://schemas.microsoft.com/office/drawing/2014/main" id="{FF35F0BB-D8D8-92FB-2C4E-DD8012FCC6F8}"/>
              </a:ext>
            </a:extLst>
          </p:cNvPr>
          <p:cNvSpPr/>
          <p:nvPr/>
        </p:nvSpPr>
        <p:spPr>
          <a:xfrm rot="16200000">
            <a:off x="8208877" y="3800589"/>
            <a:ext cx="426457" cy="2757054"/>
          </a:xfrm>
          <a:prstGeom prst="leftBrace">
            <a:avLst>
              <a:gd name="adj1" fmla="val 9761"/>
              <a:gd name="adj2" fmla="val 50000"/>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623F75A-4BA2-D730-24AA-3ACB15A64EF1}"/>
                  </a:ext>
                </a:extLst>
              </p:cNvPr>
              <p:cNvSpPr txBox="1"/>
              <p:nvPr/>
            </p:nvSpPr>
            <p:spPr>
              <a:xfrm>
                <a:off x="1009216" y="5401821"/>
                <a:ext cx="4702567" cy="461665"/>
              </a:xfrm>
              <a:prstGeom prst="rect">
                <a:avLst/>
              </a:prstGeom>
              <a:noFill/>
            </p:spPr>
            <p:txBody>
              <a:bodyPr wrap="square" rtlCol="0">
                <a:spAutoFit/>
              </a:bodyPr>
              <a:lstStyle/>
              <a:p>
                <a:r>
                  <a:rPr lang="en-US" sz="2400" dirty="0">
                    <a:solidFill>
                      <a:schemeClr val="accent6">
                        <a:lumMod val="75000"/>
                      </a:schemeClr>
                    </a:solidFill>
                  </a:rPr>
                  <a:t>Loosely similar to LWE </a:t>
                </a:r>
                <a14:m>
                  <m:oMath xmlns:m="http://schemas.openxmlformats.org/officeDocument/2006/math">
                    <m:r>
                      <a:rPr lang="en-US" sz="2400" b="0" i="1" smtClean="0">
                        <a:solidFill>
                          <a:schemeClr val="accent6">
                            <a:lumMod val="75000"/>
                          </a:schemeClr>
                        </a:solidFill>
                        <a:latin typeface="Cambria Math" panose="02040503050406030204" pitchFamily="18" charset="0"/>
                      </a:rPr>
                      <m:t>→</m:t>
                    </m:r>
                  </m:oMath>
                </a14:m>
                <a:r>
                  <a:rPr lang="en-US" sz="2400" dirty="0">
                    <a:solidFill>
                      <a:schemeClr val="accent6">
                        <a:lumMod val="75000"/>
                      </a:schemeClr>
                    </a:solidFill>
                  </a:rPr>
                  <a:t> G-EDCP</a:t>
                </a:r>
              </a:p>
            </p:txBody>
          </p:sp>
        </mc:Choice>
        <mc:Fallback xmlns="">
          <p:sp>
            <p:nvSpPr>
              <p:cNvPr id="12" name="TextBox 11">
                <a:extLst>
                  <a:ext uri="{FF2B5EF4-FFF2-40B4-BE49-F238E27FC236}">
                    <a16:creationId xmlns:a16="http://schemas.microsoft.com/office/drawing/2014/main" id="{4623F75A-4BA2-D730-24AA-3ACB15A64EF1}"/>
                  </a:ext>
                </a:extLst>
              </p:cNvPr>
              <p:cNvSpPr txBox="1">
                <a:spLocks noRot="1" noChangeAspect="1" noMove="1" noResize="1" noEditPoints="1" noAdjustHandles="1" noChangeArrowheads="1" noChangeShapeType="1" noTextEdit="1"/>
              </p:cNvSpPr>
              <p:nvPr/>
            </p:nvSpPr>
            <p:spPr>
              <a:xfrm>
                <a:off x="1009216" y="5401821"/>
                <a:ext cx="4702567" cy="461665"/>
              </a:xfrm>
              <a:prstGeom prst="rect">
                <a:avLst/>
              </a:prstGeom>
              <a:blipFill>
                <a:blip r:embed="rId4"/>
                <a:stretch>
                  <a:fillRect l="-1887"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F3EA8BC-636C-B877-5B3F-2F9B9B2044BB}"/>
                  </a:ext>
                </a:extLst>
              </p:cNvPr>
              <p:cNvSpPr txBox="1"/>
              <p:nvPr/>
            </p:nvSpPr>
            <p:spPr>
              <a:xfrm>
                <a:off x="6500305" y="5408105"/>
                <a:ext cx="3638710" cy="461665"/>
              </a:xfrm>
              <a:prstGeom prst="rect">
                <a:avLst/>
              </a:prstGeom>
              <a:noFill/>
            </p:spPr>
            <p:txBody>
              <a:bodyPr wrap="square" rtlCol="0">
                <a:spAutoFit/>
              </a:bodyPr>
              <a:lstStyle/>
              <a:p>
                <a:r>
                  <a:rPr lang="en-US" sz="2400" dirty="0">
                    <a:solidFill>
                      <a:schemeClr val="accent6">
                        <a:lumMod val="75000"/>
                      </a:schemeClr>
                    </a:solidFill>
                  </a:rPr>
                  <a:t>Similar to G-EDCP </a:t>
                </a:r>
                <a14:m>
                  <m:oMath xmlns:m="http://schemas.openxmlformats.org/officeDocument/2006/math">
                    <m:r>
                      <a:rPr lang="en-US" sz="2400" b="0" i="1" smtClean="0">
                        <a:solidFill>
                          <a:schemeClr val="accent6">
                            <a:lumMod val="75000"/>
                          </a:schemeClr>
                        </a:solidFill>
                        <a:latin typeface="Cambria Math" panose="02040503050406030204" pitchFamily="18" charset="0"/>
                      </a:rPr>
                      <m:t>→</m:t>
                    </m:r>
                  </m:oMath>
                </a14:m>
                <a:r>
                  <a:rPr lang="en-US" sz="2400" dirty="0">
                    <a:solidFill>
                      <a:schemeClr val="accent6">
                        <a:lumMod val="75000"/>
                      </a:schemeClr>
                    </a:solidFill>
                  </a:rPr>
                  <a:t> LWE</a:t>
                </a:r>
              </a:p>
            </p:txBody>
          </p:sp>
        </mc:Choice>
        <mc:Fallback xmlns="">
          <p:sp>
            <p:nvSpPr>
              <p:cNvPr id="13" name="TextBox 12">
                <a:extLst>
                  <a:ext uri="{FF2B5EF4-FFF2-40B4-BE49-F238E27FC236}">
                    <a16:creationId xmlns:a16="http://schemas.microsoft.com/office/drawing/2014/main" id="{9F3EA8BC-636C-B877-5B3F-2F9B9B2044BB}"/>
                  </a:ext>
                </a:extLst>
              </p:cNvPr>
              <p:cNvSpPr txBox="1">
                <a:spLocks noRot="1" noChangeAspect="1" noMove="1" noResize="1" noEditPoints="1" noAdjustHandles="1" noChangeArrowheads="1" noChangeShapeType="1" noTextEdit="1"/>
              </p:cNvSpPr>
              <p:nvPr/>
            </p:nvSpPr>
            <p:spPr>
              <a:xfrm>
                <a:off x="6500305" y="5408105"/>
                <a:ext cx="3638710" cy="461665"/>
              </a:xfrm>
              <a:prstGeom prst="rect">
                <a:avLst/>
              </a:prstGeom>
              <a:blipFill>
                <a:blip r:embed="rId5"/>
                <a:stretch>
                  <a:fillRect l="-2431"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39CAC8F-CE12-D9E4-A391-41451FB0E1A2}"/>
                  </a:ext>
                </a:extLst>
              </p:cNvPr>
              <p:cNvSpPr txBox="1"/>
              <p:nvPr/>
            </p:nvSpPr>
            <p:spPr>
              <a:xfrm>
                <a:off x="4049152" y="4147813"/>
                <a:ext cx="4372953" cy="978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400" i="1" smtClean="0">
                              <a:solidFill>
                                <a:schemeClr val="accent5">
                                  <a:lumMod val="75000"/>
                                </a:schemeClr>
                              </a:solidFill>
                              <a:latin typeface="Cambria Math" panose="02040503050406030204" pitchFamily="18" charset="0"/>
                            </a:rPr>
                          </m:ctrlPr>
                        </m:naryPr>
                        <m:sub>
                          <m:r>
                            <m:rPr>
                              <m:brk m:alnAt="7"/>
                            </m:rP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ℤ</m:t>
                              </m:r>
                            </m:e>
                            <m:sub>
                              <m:r>
                                <a:rPr lang="en-US" sz="2400" b="0" i="1" smtClean="0">
                                  <a:solidFill>
                                    <a:schemeClr val="accent5">
                                      <a:lumMod val="75000"/>
                                    </a:schemeClr>
                                  </a:solidFill>
                                  <a:latin typeface="Cambria Math" panose="02040503050406030204" pitchFamily="18" charset="0"/>
                                </a:rPr>
                                <m:t>𝑞</m:t>
                              </m:r>
                            </m:sub>
                          </m:sSub>
                        </m:sub>
                        <m:sup/>
                        <m:e>
                          <m:sSub>
                            <m:sSubPr>
                              <m:ctrlPr>
                                <a:rPr lang="en-US" sz="2400" b="0" i="1" smtClean="0">
                                  <a:solidFill>
                                    <a:schemeClr val="accent5">
                                      <a:lumMod val="75000"/>
                                    </a:schemeClr>
                                  </a:solidFill>
                                  <a:latin typeface="Cambria Math" panose="02040503050406030204" pitchFamily="18" charset="0"/>
                                </a:rPr>
                              </m:ctrlPr>
                            </m:sSubPr>
                            <m:e>
                              <m:r>
                                <a:rPr lang="en-US" sz="2400" b="0" i="1" smtClean="0">
                                  <a:solidFill>
                                    <a:schemeClr val="accent5">
                                      <a:lumMod val="75000"/>
                                    </a:schemeClr>
                                  </a:solidFill>
                                  <a:latin typeface="Cambria Math" panose="02040503050406030204" pitchFamily="18" charset="0"/>
                                </a:rPr>
                                <m:t>𝜌</m:t>
                              </m:r>
                            </m:e>
                            <m:sub>
                              <m:r>
                                <a:rPr lang="en-US" sz="2400" b="0" i="1" smtClean="0">
                                  <a:solidFill>
                                    <a:schemeClr val="accent5">
                                      <a:lumMod val="75000"/>
                                    </a:schemeClr>
                                  </a:solidFill>
                                  <a:latin typeface="Cambria Math" panose="02040503050406030204" pitchFamily="18" charset="0"/>
                                </a:rPr>
                                <m:t>𝑟</m:t>
                              </m:r>
                            </m:sub>
                          </m:sSub>
                          <m:d>
                            <m:dPr>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𝑗</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𝑐</m:t>
                              </m:r>
                            </m:e>
                          </m:d>
                          <m:d>
                            <m:dPr>
                              <m:begChr m:val="|"/>
                              <m:endChr m:val="⟩"/>
                              <m:ctrlPr>
                                <a:rPr lang="en-US" sz="2400" b="0" i="1" smtClean="0">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𝑗</m:t>
                              </m:r>
                            </m:e>
                          </m:d>
                          <m:r>
                            <a:rPr lang="en-US" sz="2400" b="1" i="1" smtClean="0">
                              <a:solidFill>
                                <a:schemeClr val="accent5">
                                  <a:lumMod val="75000"/>
                                </a:schemeClr>
                              </a:solidFill>
                              <a:latin typeface="Cambria Math" panose="02040503050406030204" pitchFamily="18" charset="0"/>
                            </a:rPr>
                            <m:t>|</m:t>
                          </m:r>
                          <m:sSub>
                            <m:sSubPr>
                              <m:ctrlPr>
                                <a:rPr lang="en-US" sz="2400" b="1" i="1" smtClean="0">
                                  <a:solidFill>
                                    <a:schemeClr val="accent5">
                                      <a:lumMod val="75000"/>
                                    </a:schemeClr>
                                  </a:solidFill>
                                  <a:latin typeface="Cambria Math" panose="02040503050406030204" pitchFamily="18" charset="0"/>
                                </a:rPr>
                              </m:ctrlPr>
                            </m:sSubPr>
                            <m:e>
                              <m:r>
                                <a:rPr lang="en-US" sz="2400" b="1" i="1" smtClean="0">
                                  <a:solidFill>
                                    <a:schemeClr val="accent5">
                                      <a:lumMod val="75000"/>
                                    </a:schemeClr>
                                  </a:solidFill>
                                  <a:latin typeface="Cambria Math" panose="02040503050406030204" pitchFamily="18" charset="0"/>
                                </a:rPr>
                                <m:t>𝒙</m:t>
                              </m:r>
                            </m:e>
                            <m:sub>
                              <m:r>
                                <a:rPr lang="en-US" sz="2400" b="1" i="1" smtClean="0">
                                  <a:solidFill>
                                    <a:schemeClr val="accent5">
                                      <a:lumMod val="75000"/>
                                    </a:schemeClr>
                                  </a:solidFill>
                                  <a:latin typeface="Cambria Math" panose="02040503050406030204" pitchFamily="18" charset="0"/>
                                </a:rPr>
                                <m:t>𝒌</m:t>
                              </m:r>
                            </m:sub>
                          </m:sSub>
                          <m:r>
                            <a:rPr lang="en-US" sz="2400" b="0" i="1" smtClean="0">
                              <a:solidFill>
                                <a:schemeClr val="accent5">
                                  <a:lumMod val="75000"/>
                                </a:schemeClr>
                              </a:solidFill>
                              <a:latin typeface="Cambria Math" panose="02040503050406030204" pitchFamily="18" charset="0"/>
                            </a:rPr>
                            <m:t>+</m:t>
                          </m:r>
                          <m:r>
                            <a:rPr lang="en-US" sz="2400" b="0" i="1" smtClean="0">
                              <a:solidFill>
                                <a:schemeClr val="accent5">
                                  <a:lumMod val="75000"/>
                                </a:schemeClr>
                              </a:solidFill>
                              <a:latin typeface="Cambria Math" panose="02040503050406030204" pitchFamily="18" charset="0"/>
                            </a:rPr>
                            <m:t>𝑗</m:t>
                          </m:r>
                          <m:r>
                            <a:rPr lang="en-US" sz="2400" b="0" i="1" smtClean="0">
                              <a:solidFill>
                                <a:schemeClr val="accent5">
                                  <a:lumMod val="75000"/>
                                </a:schemeClr>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𝒔</m:t>
                          </m:r>
                          <m:r>
                            <a:rPr lang="en-US" sz="2400" b="1"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𝑚𝑜𝑑</m:t>
                          </m:r>
                          <m:r>
                            <a:rPr lang="en-US" sz="2400" b="0" i="1" smtClean="0">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𝑞</m:t>
                          </m:r>
                          <m:r>
                            <a:rPr lang="en-US" sz="2400" b="0" i="1" smtClean="0">
                              <a:solidFill>
                                <a:schemeClr val="accent5">
                                  <a:lumMod val="75000"/>
                                </a:schemeClr>
                              </a:solidFill>
                              <a:latin typeface="Cambria Math" panose="02040503050406030204" pitchFamily="18" charset="0"/>
                            </a:rPr>
                            <m:t>⟩</m:t>
                          </m:r>
                        </m:e>
                      </m:nary>
                    </m:oMath>
                  </m:oMathPara>
                </a14:m>
                <a:endParaRPr lang="en-US" sz="2400" dirty="0"/>
              </a:p>
            </p:txBody>
          </p:sp>
        </mc:Choice>
        <mc:Fallback xmlns="">
          <p:sp>
            <p:nvSpPr>
              <p:cNvPr id="17" name="TextBox 16">
                <a:extLst>
                  <a:ext uri="{FF2B5EF4-FFF2-40B4-BE49-F238E27FC236}">
                    <a16:creationId xmlns:a16="http://schemas.microsoft.com/office/drawing/2014/main" id="{F39CAC8F-CE12-D9E4-A391-41451FB0E1A2}"/>
                  </a:ext>
                </a:extLst>
              </p:cNvPr>
              <p:cNvSpPr txBox="1">
                <a:spLocks noRot="1" noChangeAspect="1" noMove="1" noResize="1" noEditPoints="1" noAdjustHandles="1" noChangeArrowheads="1" noChangeShapeType="1" noTextEdit="1"/>
              </p:cNvSpPr>
              <p:nvPr/>
            </p:nvSpPr>
            <p:spPr>
              <a:xfrm>
                <a:off x="4049152" y="4147813"/>
                <a:ext cx="4372953" cy="978345"/>
              </a:xfrm>
              <a:prstGeom prst="rect">
                <a:avLst/>
              </a:prstGeom>
              <a:blipFill>
                <a:blip r:embed="rId6"/>
                <a:stretch>
                  <a:fillRect l="-25145" t="-135897" r="-2890" b="-178205"/>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29E224C5-46C1-C92D-54AF-93676323177B}"/>
              </a:ext>
            </a:extLst>
          </p:cNvPr>
          <p:cNvSpPr txBox="1"/>
          <p:nvPr/>
        </p:nvSpPr>
        <p:spPr>
          <a:xfrm>
            <a:off x="273191" y="5879972"/>
            <a:ext cx="6392541" cy="461665"/>
          </a:xfrm>
          <a:prstGeom prst="rect">
            <a:avLst/>
          </a:prstGeom>
          <a:noFill/>
        </p:spPr>
        <p:txBody>
          <a:bodyPr wrap="square" rtlCol="0">
            <a:spAutoFit/>
          </a:bodyPr>
          <a:lstStyle/>
          <a:p>
            <a:r>
              <a:rPr lang="en-US" sz="2400" dirty="0"/>
              <a:t>Error prob.: inverse exp instead of inverse poly</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F2D9CEC-66D8-DF10-820A-BB2118E784A6}"/>
                  </a:ext>
                </a:extLst>
              </p:cNvPr>
              <p:cNvSpPr txBox="1"/>
              <p:nvPr/>
            </p:nvSpPr>
            <p:spPr>
              <a:xfrm>
                <a:off x="1477892" y="6281252"/>
                <a:ext cx="3937863" cy="461665"/>
              </a:xfrm>
              <a:prstGeom prst="rect">
                <a:avLst/>
              </a:prstGeom>
              <a:noFill/>
            </p:spPr>
            <p:txBody>
              <a:bodyPr wrap="square" rtlCol="0">
                <a:spAutoFit/>
              </a:bodyPr>
              <a:lstStyle/>
              <a:p>
                <a:r>
                  <a:rPr lang="en-US" sz="2400" dirty="0"/>
                  <a:t>Cost: Unknown center </a:t>
                </a:r>
                <a14:m>
                  <m:oMath xmlns:m="http://schemas.openxmlformats.org/officeDocument/2006/math">
                    <m:r>
                      <a:rPr lang="en-US" sz="2400" b="0" i="1" smtClean="0">
                        <a:solidFill>
                          <a:schemeClr val="accent2"/>
                        </a:solidFill>
                        <a:latin typeface="Cambria Math" panose="02040503050406030204" pitchFamily="18" charset="0"/>
                      </a:rPr>
                      <m:t>𝑐</m:t>
                    </m:r>
                  </m:oMath>
                </a14:m>
                <a:endParaRPr lang="en-US" sz="2400" dirty="0"/>
              </a:p>
            </p:txBody>
          </p:sp>
        </mc:Choice>
        <mc:Fallback xmlns="">
          <p:sp>
            <p:nvSpPr>
              <p:cNvPr id="23" name="TextBox 22">
                <a:extLst>
                  <a:ext uri="{FF2B5EF4-FFF2-40B4-BE49-F238E27FC236}">
                    <a16:creationId xmlns:a16="http://schemas.microsoft.com/office/drawing/2014/main" id="{3F2D9CEC-66D8-DF10-820A-BB2118E784A6}"/>
                  </a:ext>
                </a:extLst>
              </p:cNvPr>
              <p:cNvSpPr txBox="1">
                <a:spLocks noRot="1" noChangeAspect="1" noMove="1" noResize="1" noEditPoints="1" noAdjustHandles="1" noChangeArrowheads="1" noChangeShapeType="1" noTextEdit="1"/>
              </p:cNvSpPr>
              <p:nvPr/>
            </p:nvSpPr>
            <p:spPr>
              <a:xfrm>
                <a:off x="1477892" y="6281252"/>
                <a:ext cx="3937863" cy="461665"/>
              </a:xfrm>
              <a:prstGeom prst="rect">
                <a:avLst/>
              </a:prstGeom>
              <a:blipFill>
                <a:blip r:embed="rId7"/>
                <a:stretch>
                  <a:fillRect l="-2572"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525E58F-B308-FDEF-99C7-F4D92ACB8CB9}"/>
                  </a:ext>
                </a:extLst>
              </p:cNvPr>
              <p:cNvSpPr txBox="1"/>
              <p:nvPr/>
            </p:nvSpPr>
            <p:spPr>
              <a:xfrm>
                <a:off x="831279" y="1465655"/>
                <a:ext cx="8751068" cy="461665"/>
              </a:xfrm>
              <a:prstGeom prst="rect">
                <a:avLst/>
              </a:prstGeom>
              <a:noFill/>
            </p:spPr>
            <p:txBody>
              <a:bodyPr wrap="square" rtlCol="0">
                <a:spAutoFit/>
              </a:bodyPr>
              <a:lstStyle/>
              <a:p>
                <a:r>
                  <a:rPr lang="en-US" sz="2400" dirty="0"/>
                  <a:t>S</a:t>
                </a:r>
                <a14:m>
                  <m:oMath xmlns:m="http://schemas.openxmlformats.org/officeDocument/2006/math">
                    <m:r>
                      <a:rPr lang="en-US" sz="2400" i="1">
                        <a:latin typeface="Cambria Math" panose="02040503050406030204" pitchFamily="18" charset="0"/>
                      </a:rPr>
                      <m:t>|</m:t>
                    </m:r>
                  </m:oMath>
                </a14:m>
                <a:r>
                  <a:rPr lang="en-US" sz="2400" dirty="0"/>
                  <a:t>LWE</a:t>
                </a:r>
                <a14:m>
                  <m:oMath xmlns:m="http://schemas.openxmlformats.org/officeDocument/2006/math">
                    <m:r>
                      <a:rPr lang="en-US" sz="2400" i="1">
                        <a:latin typeface="Cambria Math" panose="02040503050406030204" pitchFamily="18" charset="0"/>
                      </a:rPr>
                      <m:t>⟩</m:t>
                    </m:r>
                  </m:oMath>
                </a14:m>
                <a:r>
                  <a:rPr lang="en-US" sz="2400" baseline="30000" dirty="0"/>
                  <a:t>phase</a:t>
                </a:r>
                <a:r>
                  <a:rPr lang="en-US" sz="2400" dirty="0"/>
                  <a:t> : Have an unknown phase term in the quantum state</a:t>
                </a:r>
                <a:r>
                  <a:rPr lang="en-US" sz="2400" baseline="30000" dirty="0"/>
                  <a:t> </a:t>
                </a:r>
                <a:endParaRPr lang="en-US" sz="2400" dirty="0"/>
              </a:p>
            </p:txBody>
          </p:sp>
        </mc:Choice>
        <mc:Fallback xmlns="">
          <p:sp>
            <p:nvSpPr>
              <p:cNvPr id="34" name="TextBox 33">
                <a:extLst>
                  <a:ext uri="{FF2B5EF4-FFF2-40B4-BE49-F238E27FC236}">
                    <a16:creationId xmlns:a16="http://schemas.microsoft.com/office/drawing/2014/main" id="{6525E58F-B308-FDEF-99C7-F4D92ACB8CB9}"/>
                  </a:ext>
                </a:extLst>
              </p:cNvPr>
              <p:cNvSpPr txBox="1">
                <a:spLocks noRot="1" noChangeAspect="1" noMove="1" noResize="1" noEditPoints="1" noAdjustHandles="1" noChangeArrowheads="1" noChangeShapeType="1" noTextEdit="1"/>
              </p:cNvSpPr>
              <p:nvPr/>
            </p:nvSpPr>
            <p:spPr>
              <a:xfrm>
                <a:off x="831279" y="1465655"/>
                <a:ext cx="8751068" cy="461665"/>
              </a:xfrm>
              <a:prstGeom prst="rect">
                <a:avLst/>
              </a:prstGeom>
              <a:blipFill>
                <a:blip r:embed="rId8"/>
                <a:stretch>
                  <a:fillRect l="-1014"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5C034E1-771D-9743-F5AF-4B53ECCF93A9}"/>
                  </a:ext>
                </a:extLst>
              </p:cNvPr>
              <p:cNvSpPr txBox="1"/>
              <p:nvPr/>
            </p:nvSpPr>
            <p:spPr>
              <a:xfrm>
                <a:off x="831279" y="1870621"/>
                <a:ext cx="11360721" cy="567784"/>
              </a:xfrm>
              <a:prstGeom prst="rect">
                <a:avLst/>
              </a:prstGeom>
              <a:noFill/>
            </p:spPr>
            <p:txBody>
              <a:bodyPr wrap="square" rtlCol="0">
                <a:spAutoFit/>
              </a:bodyPr>
              <a:lstStyle/>
              <a:p>
                <a:r>
                  <a:rPr lang="en-US" sz="2400" dirty="0"/>
                  <a:t>Samples: </a:t>
                </a:r>
                <a14:m>
                  <m:oMath xmlns:m="http://schemas.openxmlformats.org/officeDocument/2006/math">
                    <m:r>
                      <a:rPr lang="en-US" sz="2400" b="1" i="1">
                        <a:solidFill>
                          <a:schemeClr val="accent5">
                            <a:lumMod val="75000"/>
                          </a:schemeClr>
                        </a:solidFill>
                        <a:latin typeface="Cambria Math" panose="02040503050406030204" pitchFamily="18" charset="0"/>
                      </a:rPr>
                      <m:t>𝒂</m:t>
                    </m:r>
                    <m:r>
                      <a:rPr lang="en-US" sz="2400" i="1">
                        <a:solidFill>
                          <a:schemeClr val="accent5">
                            <a:lumMod val="75000"/>
                          </a:schemeClr>
                        </a:solidFill>
                        <a:latin typeface="Cambria Math" panose="02040503050406030204" pitchFamily="18" charset="0"/>
                      </a:rPr>
                      <m:t>←</m:t>
                    </m:r>
                    <m:sSubSup>
                      <m:sSubSupPr>
                        <m:ctrlPr>
                          <a:rPr lang="en-US" sz="2400" i="1">
                            <a:solidFill>
                              <a:schemeClr val="accent5">
                                <a:lumMod val="75000"/>
                              </a:schemeClr>
                            </a:solidFill>
                            <a:latin typeface="Cambria Math" panose="02040503050406030204" pitchFamily="18" charset="0"/>
                          </a:rPr>
                        </m:ctrlPr>
                      </m:sSubSup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up>
                        <m:r>
                          <a:rPr lang="en-US" sz="2400" i="1">
                            <a:solidFill>
                              <a:schemeClr val="accent5">
                                <a:lumMod val="75000"/>
                              </a:schemeClr>
                            </a:solidFill>
                            <a:latin typeface="Cambria Math" panose="02040503050406030204" pitchFamily="18" charset="0"/>
                          </a:rPr>
                          <m:t>𝑛</m:t>
                        </m:r>
                      </m:sup>
                    </m:sSubSup>
                    <m:r>
                      <a:rPr lang="en-US" sz="2400" i="1">
                        <a:solidFill>
                          <a:schemeClr val="accent5">
                            <a:lumMod val="75000"/>
                          </a:schemeClr>
                        </a:solidFill>
                        <a:latin typeface="Cambria Math" panose="02040503050406030204" pitchFamily="18" charset="0"/>
                      </a:rPr>
                      <m:t>,  </m:t>
                    </m:r>
                    <m:r>
                      <a:rPr lang="en-US" sz="2400" b="0" i="1" smtClean="0">
                        <a:solidFill>
                          <a:schemeClr val="accent5">
                            <a:lumMod val="75000"/>
                          </a:schemeClr>
                        </a:solidFill>
                        <a:latin typeface="Cambria Math" panose="02040503050406030204" pitchFamily="18" charset="0"/>
                      </a:rPr>
                      <m:t> </m:t>
                    </m:r>
                    <m:r>
                      <a:rPr lang="en-US" sz="2400" b="1" i="1" smtClean="0">
                        <a:solidFill>
                          <a:schemeClr val="accent2"/>
                        </a:solidFill>
                        <a:latin typeface="Cambria Math" panose="02040503050406030204" pitchFamily="18" charset="0"/>
                      </a:rPr>
                      <m:t>𝒚</m:t>
                    </m:r>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𝐷</m:t>
                        </m:r>
                      </m:e>
                      <m:sub>
                        <m:r>
                          <a:rPr lang="en-US" sz="2400" b="0" i="1" smtClean="0">
                            <a:solidFill>
                              <a:schemeClr val="accent2"/>
                            </a:solidFill>
                            <a:latin typeface="Cambria Math" panose="02040503050406030204" pitchFamily="18" charset="0"/>
                          </a:rPr>
                          <m:t>𝜃</m:t>
                        </m:r>
                      </m:sub>
                    </m:sSub>
                    <m:r>
                      <a:rPr lang="en-US" sz="2400" b="0" i="1" smtClean="0">
                        <a:solidFill>
                          <a:schemeClr val="accent5">
                            <a:lumMod val="75000"/>
                          </a:schemeClr>
                        </a:solidFill>
                        <a:latin typeface="Cambria Math" panose="02040503050406030204" pitchFamily="18" charset="0"/>
                      </a:rPr>
                      <m:t>,  </m:t>
                    </m:r>
                    <m:d>
                      <m:dPr>
                        <m:begChr m:val="|"/>
                        <m:endChr m:val="⟩"/>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𝜙</m:t>
                        </m:r>
                      </m:e>
                    </m:d>
                    <m:r>
                      <a:rPr lang="en-US" sz="2400" i="1">
                        <a:solidFill>
                          <a:schemeClr val="accent5">
                            <a:lumMod val="75000"/>
                          </a:schemeClr>
                        </a:solidFill>
                        <a:latin typeface="Cambria Math" panose="02040503050406030204" pitchFamily="18" charset="0"/>
                      </a:rPr>
                      <m:t>≔</m:t>
                    </m:r>
                    <m:nary>
                      <m:naryPr>
                        <m:chr m:val="∑"/>
                        <m:limLoc m:val="subSup"/>
                        <m:supHide m:val="on"/>
                        <m:ctrlPr>
                          <a:rPr lang="en-US" sz="2400" i="1">
                            <a:solidFill>
                              <a:schemeClr val="accent5">
                                <a:lumMod val="75000"/>
                              </a:schemeClr>
                            </a:solidFill>
                            <a:latin typeface="Cambria Math" panose="02040503050406030204" pitchFamily="18" charset="0"/>
                          </a:rPr>
                        </m:ctrlPr>
                      </m:naryPr>
                      <m:sub>
                        <m:r>
                          <m:rPr>
                            <m:brk m:alnAt="1"/>
                          </m:rPr>
                          <a:rPr lang="en-US" sz="2400" b="0" i="1" smtClean="0">
                            <a:solidFill>
                              <a:schemeClr val="accent5">
                                <a:lumMod val="75000"/>
                              </a:schemeClr>
                            </a:solidFill>
                            <a:latin typeface="Cambria Math" panose="02040503050406030204" pitchFamily="18" charset="0"/>
                          </a:rPr>
                          <m:t>𝑒</m:t>
                        </m:r>
                        <m:r>
                          <a:rPr lang="en-US" sz="2400" i="1">
                            <a:solidFill>
                              <a:schemeClr val="accent5">
                                <a:lumMod val="75000"/>
                              </a:schemeClr>
                            </a:solidFill>
                            <a:latin typeface="Cambria Math" panose="02040503050406030204" pitchFamily="18" charset="0"/>
                          </a:rPr>
                          <m:t>∈</m:t>
                        </m:r>
                        <m:sSub>
                          <m:sSubPr>
                            <m:ctrlPr>
                              <a:rPr lang="en-US" sz="2400" i="1">
                                <a:solidFill>
                                  <a:schemeClr val="accent5">
                                    <a:lumMod val="75000"/>
                                  </a:schemeClr>
                                </a:solidFill>
                                <a:latin typeface="Cambria Math" panose="02040503050406030204" pitchFamily="18" charset="0"/>
                              </a:rPr>
                            </m:ctrlPr>
                          </m:sSubPr>
                          <m:e>
                            <m:r>
                              <a:rPr lang="en-US" sz="2400" i="1">
                                <a:solidFill>
                                  <a:schemeClr val="accent5">
                                    <a:lumMod val="75000"/>
                                  </a:schemeClr>
                                </a:solidFill>
                                <a:latin typeface="Cambria Math" panose="02040503050406030204" pitchFamily="18" charset="0"/>
                              </a:rPr>
                              <m:t>ℤ</m:t>
                            </m:r>
                          </m:e>
                          <m:sub>
                            <m:r>
                              <a:rPr lang="en-US" sz="2400" i="1">
                                <a:solidFill>
                                  <a:schemeClr val="accent5">
                                    <a:lumMod val="75000"/>
                                  </a:schemeClr>
                                </a:solidFill>
                                <a:latin typeface="Cambria Math" panose="02040503050406030204" pitchFamily="18" charset="0"/>
                              </a:rPr>
                              <m:t>𝑞</m:t>
                            </m:r>
                          </m:sub>
                        </m:sSub>
                      </m:sub>
                      <m:sup/>
                      <m:e>
                        <m:r>
                          <a:rPr lang="en-US" sz="2400" i="1">
                            <a:solidFill>
                              <a:schemeClr val="accent5">
                                <a:lumMod val="75000"/>
                              </a:schemeClr>
                            </a:solidFill>
                            <a:latin typeface="Cambria Math" panose="02040503050406030204" pitchFamily="18" charset="0"/>
                          </a:rPr>
                          <m:t>𝑓</m:t>
                        </m:r>
                        <m:d>
                          <m:dPr>
                            <m:ctrlPr>
                              <a:rPr lang="en-US" sz="2400" i="1">
                                <a:solidFill>
                                  <a:schemeClr val="accent5">
                                    <a:lumMod val="75000"/>
                                  </a:schemeClr>
                                </a:solidFill>
                                <a:latin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rPr>
                              <m:t>𝑒</m:t>
                            </m:r>
                          </m:e>
                        </m:d>
                        <m:r>
                          <a:rPr lang="en-US" sz="2400" b="0" i="1" smtClean="0">
                            <a:solidFill>
                              <a:schemeClr val="accent5">
                                <a:lumMod val="75000"/>
                              </a:schemeClr>
                            </a:solidFill>
                            <a:latin typeface="Cambria Math" panose="02040503050406030204" pitchFamily="18" charset="0"/>
                          </a:rPr>
                          <m:t>⋅</m:t>
                        </m:r>
                        <m:func>
                          <m:funcPr>
                            <m:ctrlPr>
                              <a:rPr lang="en-US" sz="2400" b="0" i="1" smtClean="0">
                                <a:solidFill>
                                  <a:schemeClr val="accent5">
                                    <a:lumMod val="75000"/>
                                  </a:schemeClr>
                                </a:solidFill>
                                <a:latin typeface="Cambria Math" panose="02040503050406030204" pitchFamily="18" charset="0"/>
                              </a:rPr>
                            </m:ctrlPr>
                          </m:funcPr>
                          <m:fName>
                            <m:r>
                              <m:rPr>
                                <m:sty m:val="p"/>
                              </m:rPr>
                              <a:rPr lang="en-US" sz="2400" b="0" i="0" smtClean="0">
                                <a:solidFill>
                                  <a:schemeClr val="accent5">
                                    <a:lumMod val="75000"/>
                                  </a:schemeClr>
                                </a:solidFill>
                                <a:latin typeface="Cambria Math" panose="02040503050406030204" pitchFamily="18" charset="0"/>
                              </a:rPr>
                              <m:t>exp</m:t>
                            </m:r>
                          </m:fName>
                          <m:e>
                            <m:d>
                              <m:dPr>
                                <m:ctrlPr>
                                  <a:rPr lang="en-US" sz="2400" b="0" i="1" smtClean="0">
                                    <a:solidFill>
                                      <a:schemeClr val="accent5">
                                        <a:lumMod val="75000"/>
                                      </a:schemeClr>
                                    </a:solidFill>
                                    <a:latin typeface="Cambria Math" panose="02040503050406030204" pitchFamily="18" charset="0"/>
                                  </a:rPr>
                                </m:ctrlPr>
                              </m:dPr>
                              <m:e>
                                <m:r>
                                  <a:rPr lang="en-US" sz="2400" i="1">
                                    <a:solidFill>
                                      <a:schemeClr val="accent5">
                                        <a:lumMod val="75000"/>
                                      </a:schemeClr>
                                    </a:solidFill>
                                    <a:latin typeface="Cambria Math" panose="02040503050406030204" pitchFamily="18" charset="0"/>
                                  </a:rPr>
                                  <m:t>2</m:t>
                                </m:r>
                                <m:r>
                                  <a:rPr lang="en-US" sz="2400" i="1">
                                    <a:solidFill>
                                      <a:schemeClr val="accent5">
                                        <a:lumMod val="75000"/>
                                      </a:schemeClr>
                                    </a:solidFill>
                                    <a:latin typeface="Cambria Math" panose="02040503050406030204" pitchFamily="18" charset="0"/>
                                  </a:rPr>
                                  <m:t>𝜋𝜄</m:t>
                                </m:r>
                                <m:r>
                                  <a:rPr lang="en-US" sz="2400" i="1">
                                    <a:solidFill>
                                      <a:schemeClr val="accent5">
                                        <a:lumMod val="75000"/>
                                      </a:schemeClr>
                                    </a:solidFill>
                                    <a:latin typeface="Cambria Math" panose="02040503050406030204" pitchFamily="18" charset="0"/>
                                  </a:rPr>
                                  <m:t>𝑒</m:t>
                                </m:r>
                                <m:r>
                                  <a:rPr lang="en-US" sz="2400" i="1" smtClean="0">
                                    <a:solidFill>
                                      <a:schemeClr val="accent2"/>
                                    </a:solidFill>
                                    <a:latin typeface="Cambria Math" panose="02040503050406030204" pitchFamily="18" charset="0"/>
                                  </a:rPr>
                                  <m:t>𝜃</m:t>
                                </m:r>
                                <m:d>
                                  <m:dPr>
                                    <m:ctrlPr>
                                      <a:rPr lang="en-US" sz="2400" i="1">
                                        <a:solidFill>
                                          <a:schemeClr val="accent2"/>
                                        </a:solidFill>
                                        <a:latin typeface="Cambria Math" panose="02040503050406030204" pitchFamily="18" charset="0"/>
                                      </a:rPr>
                                    </m:ctrlPr>
                                  </m:dPr>
                                  <m:e>
                                    <m:r>
                                      <a:rPr lang="en-US" sz="2400" b="0" i="1" smtClean="0">
                                        <a:solidFill>
                                          <a:schemeClr val="accent2"/>
                                        </a:solidFill>
                                        <a:latin typeface="Cambria Math" panose="02040503050406030204" pitchFamily="18" charset="0"/>
                                      </a:rPr>
                                      <m:t>𝑦</m:t>
                                    </m:r>
                                  </m:e>
                                </m:d>
                              </m:e>
                            </m:d>
                          </m:e>
                        </m:func>
                        <m:r>
                          <a:rPr lang="en-US" sz="2400" b="0" i="1" smtClean="0">
                            <a:solidFill>
                              <a:schemeClr val="accent5">
                                <a:lumMod val="75000"/>
                              </a:schemeClr>
                            </a:solidFill>
                            <a:latin typeface="Cambria Math" panose="02040503050406030204" pitchFamily="18" charset="0"/>
                          </a:rPr>
                          <m:t>⋅</m:t>
                        </m:r>
                        <m:d>
                          <m:dPr>
                            <m:begChr m:val="|"/>
                            <m:endChr m:val="⟩"/>
                            <m:ctrlPr>
                              <a:rPr lang="en-US" sz="2400" i="1">
                                <a:solidFill>
                                  <a:schemeClr val="accent5">
                                    <a:lumMod val="75000"/>
                                  </a:schemeClr>
                                </a:solidFill>
                                <a:latin typeface="Cambria Math" panose="02040503050406030204" pitchFamily="18" charset="0"/>
                              </a:rPr>
                            </m:ctrlPr>
                          </m:dPr>
                          <m:e>
                            <m:d>
                              <m:dPr>
                                <m:begChr m:val="⟨"/>
                                <m:endChr m:val="⟩"/>
                                <m:ctrlPr>
                                  <a:rPr lang="en-US" sz="2400" i="1">
                                    <a:solidFill>
                                      <a:schemeClr val="accent5">
                                        <a:lumMod val="75000"/>
                                      </a:schemeClr>
                                    </a:solidFill>
                                    <a:latin typeface="Cambria Math" panose="02040503050406030204" pitchFamily="18" charset="0"/>
                                  </a:rPr>
                                </m:ctrlPr>
                              </m:dPr>
                              <m:e>
                                <m:r>
                                  <a:rPr lang="en-US" sz="2400" b="1" i="1">
                                    <a:solidFill>
                                      <a:schemeClr val="accent5">
                                        <a:lumMod val="75000"/>
                                      </a:schemeClr>
                                    </a:solidFill>
                                    <a:latin typeface="Cambria Math" panose="02040503050406030204" pitchFamily="18" charset="0"/>
                                  </a:rPr>
                                  <m:t>𝒂</m:t>
                                </m:r>
                                <m:r>
                                  <a:rPr lang="en-US" sz="2400"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𝒔</m:t>
                                </m:r>
                              </m:e>
                            </m:d>
                            <m:r>
                              <a:rPr lang="en-US" sz="2400" i="1">
                                <a:solidFill>
                                  <a:schemeClr val="accent5">
                                    <a:lumMod val="75000"/>
                                  </a:schemeClr>
                                </a:solidFill>
                                <a:latin typeface="Cambria Math" panose="02040503050406030204" pitchFamily="18" charset="0"/>
                              </a:rPr>
                              <m:t>+</m:t>
                            </m:r>
                            <m:r>
                              <a:rPr lang="en-US" sz="2400" i="1">
                                <a:solidFill>
                                  <a:schemeClr val="accent5">
                                    <a:lumMod val="75000"/>
                                  </a:schemeClr>
                                </a:solidFill>
                                <a:latin typeface="Cambria Math" panose="02040503050406030204" pitchFamily="18" charset="0"/>
                              </a:rPr>
                              <m:t>𝑒</m:t>
                            </m:r>
                            <m:r>
                              <a:rPr lang="en-US" sz="2400" i="1">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𝑚𝑜𝑑</m:t>
                            </m:r>
                            <m:r>
                              <a:rPr lang="en-US" sz="2400" i="1">
                                <a:solidFill>
                                  <a:schemeClr val="accent5">
                                    <a:lumMod val="75000"/>
                                  </a:schemeClr>
                                </a:solidFill>
                                <a:latin typeface="Cambria Math" panose="02040503050406030204" pitchFamily="18" charset="0"/>
                              </a:rPr>
                              <m:t> </m:t>
                            </m:r>
                            <m:r>
                              <a:rPr lang="en-US" sz="2400" i="1">
                                <a:solidFill>
                                  <a:schemeClr val="accent5">
                                    <a:lumMod val="75000"/>
                                  </a:schemeClr>
                                </a:solidFill>
                                <a:latin typeface="Cambria Math" panose="02040503050406030204" pitchFamily="18" charset="0"/>
                              </a:rPr>
                              <m:t>𝑞</m:t>
                            </m:r>
                          </m:e>
                        </m:d>
                      </m:e>
                    </m:nary>
                  </m:oMath>
                </a14:m>
                <a:endParaRPr lang="en-US" sz="2400" dirty="0"/>
              </a:p>
            </p:txBody>
          </p:sp>
        </mc:Choice>
        <mc:Fallback xmlns="">
          <p:sp>
            <p:nvSpPr>
              <p:cNvPr id="35" name="TextBox 34">
                <a:extLst>
                  <a:ext uri="{FF2B5EF4-FFF2-40B4-BE49-F238E27FC236}">
                    <a16:creationId xmlns:a16="http://schemas.microsoft.com/office/drawing/2014/main" id="{55C034E1-771D-9743-F5AF-4B53ECCF93A9}"/>
                  </a:ext>
                </a:extLst>
              </p:cNvPr>
              <p:cNvSpPr txBox="1">
                <a:spLocks noRot="1" noChangeAspect="1" noMove="1" noResize="1" noEditPoints="1" noAdjustHandles="1" noChangeArrowheads="1" noChangeShapeType="1" noTextEdit="1"/>
              </p:cNvSpPr>
              <p:nvPr/>
            </p:nvSpPr>
            <p:spPr>
              <a:xfrm>
                <a:off x="831279" y="1870621"/>
                <a:ext cx="11360721" cy="567784"/>
              </a:xfrm>
              <a:prstGeom prst="rect">
                <a:avLst/>
              </a:prstGeom>
              <a:blipFill>
                <a:blip r:embed="rId9"/>
                <a:stretch>
                  <a:fillRect l="-781" t="-100000" b="-146667"/>
                </a:stretch>
              </a:blipFill>
            </p:spPr>
            <p:txBody>
              <a:bodyPr/>
              <a:lstStyle/>
              <a:p>
                <a:r>
                  <a:rPr lang="en-US">
                    <a:noFill/>
                  </a:rPr>
                  <a:t> </a:t>
                </a:r>
              </a:p>
            </p:txBody>
          </p:sp>
        </mc:Fallback>
      </mc:AlternateContent>
      <p:sp>
        <p:nvSpPr>
          <p:cNvPr id="36" name="Bent Up Arrow 35">
            <a:extLst>
              <a:ext uri="{FF2B5EF4-FFF2-40B4-BE49-F238E27FC236}">
                <a16:creationId xmlns:a16="http://schemas.microsoft.com/office/drawing/2014/main" id="{6C79C270-5102-47F6-84FE-9C54AC18CD0B}"/>
              </a:ext>
            </a:extLst>
          </p:cNvPr>
          <p:cNvSpPr/>
          <p:nvPr/>
        </p:nvSpPr>
        <p:spPr>
          <a:xfrm>
            <a:off x="2681039" y="2354861"/>
            <a:ext cx="1820490" cy="637868"/>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Bent Up Arrow 36">
            <a:extLst>
              <a:ext uri="{FF2B5EF4-FFF2-40B4-BE49-F238E27FC236}">
                <a16:creationId xmlns:a16="http://schemas.microsoft.com/office/drawing/2014/main" id="{20272FC4-C1F9-7F95-AC54-FAE05FC923C4}"/>
              </a:ext>
            </a:extLst>
          </p:cNvPr>
          <p:cNvSpPr/>
          <p:nvPr/>
        </p:nvSpPr>
        <p:spPr>
          <a:xfrm flipH="1">
            <a:off x="3940248" y="2336947"/>
            <a:ext cx="1475507" cy="923329"/>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8" name="Bent Up Arrow 37">
            <a:extLst>
              <a:ext uri="{FF2B5EF4-FFF2-40B4-BE49-F238E27FC236}">
                <a16:creationId xmlns:a16="http://schemas.microsoft.com/office/drawing/2014/main" id="{F477F51B-B13B-480F-F6CE-9C57F010D9DD}"/>
              </a:ext>
            </a:extLst>
          </p:cNvPr>
          <p:cNvSpPr/>
          <p:nvPr/>
        </p:nvSpPr>
        <p:spPr>
          <a:xfrm flipH="1">
            <a:off x="8422104" y="2345462"/>
            <a:ext cx="633927" cy="283822"/>
          </a:xfrm>
          <a:prstGeom prst="bentUpArrow">
            <a:avLst>
              <a:gd name="adj1" fmla="val 1952"/>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9" name="TextBox 38">
            <a:extLst>
              <a:ext uri="{FF2B5EF4-FFF2-40B4-BE49-F238E27FC236}">
                <a16:creationId xmlns:a16="http://schemas.microsoft.com/office/drawing/2014/main" id="{95084968-6E67-AC28-0354-21D0123556AE}"/>
              </a:ext>
            </a:extLst>
          </p:cNvPr>
          <p:cNvSpPr txBox="1"/>
          <p:nvPr/>
        </p:nvSpPr>
        <p:spPr>
          <a:xfrm>
            <a:off x="9056032" y="2345461"/>
            <a:ext cx="3113733" cy="400110"/>
          </a:xfrm>
          <a:prstGeom prst="rect">
            <a:avLst/>
          </a:prstGeom>
          <a:noFill/>
        </p:spPr>
        <p:txBody>
          <a:bodyPr wrap="square" rtlCol="0">
            <a:spAutoFit/>
          </a:bodyPr>
          <a:lstStyle/>
          <a:p>
            <a:r>
              <a:rPr lang="en-US" sz="2000" dirty="0">
                <a:solidFill>
                  <a:schemeClr val="accent2"/>
                </a:solidFill>
              </a:rPr>
              <a:t>The unknown phase</a:t>
            </a:r>
          </a:p>
        </p:txBody>
      </p:sp>
      <p:sp>
        <p:nvSpPr>
          <p:cNvPr id="40" name="TextBox 39">
            <a:extLst>
              <a:ext uri="{FF2B5EF4-FFF2-40B4-BE49-F238E27FC236}">
                <a16:creationId xmlns:a16="http://schemas.microsoft.com/office/drawing/2014/main" id="{A79F4AF9-178A-875B-A4FB-F3705CBC8CF2}"/>
              </a:ext>
            </a:extLst>
          </p:cNvPr>
          <p:cNvSpPr txBox="1"/>
          <p:nvPr/>
        </p:nvSpPr>
        <p:spPr>
          <a:xfrm>
            <a:off x="838200" y="2438405"/>
            <a:ext cx="2236363" cy="1015663"/>
          </a:xfrm>
          <a:prstGeom prst="rect">
            <a:avLst/>
          </a:prstGeom>
          <a:noFill/>
        </p:spPr>
        <p:txBody>
          <a:bodyPr wrap="square" rtlCol="0">
            <a:spAutoFit/>
          </a:bodyPr>
          <a:lstStyle/>
          <a:p>
            <a:r>
              <a:rPr lang="en-US" sz="2000" dirty="0">
                <a:solidFill>
                  <a:schemeClr val="accent2"/>
                </a:solidFill>
              </a:rPr>
              <a:t>Possibly </a:t>
            </a:r>
            <a:r>
              <a:rPr lang="en-US" sz="2000" dirty="0" err="1">
                <a:solidFill>
                  <a:schemeClr val="accent2"/>
                </a:solidFill>
              </a:rPr>
              <a:t>uncomputable</a:t>
            </a:r>
            <a:r>
              <a:rPr lang="en-US" sz="2000" dirty="0">
                <a:solidFill>
                  <a:schemeClr val="accent2"/>
                </a:solidFill>
              </a:rPr>
              <a:t> function</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AB08325-6C90-2B6D-8024-7E52E3DDA05D}"/>
                  </a:ext>
                </a:extLst>
              </p:cNvPr>
              <p:cNvSpPr txBox="1"/>
              <p:nvPr/>
            </p:nvSpPr>
            <p:spPr>
              <a:xfrm>
                <a:off x="5482646" y="2992729"/>
                <a:ext cx="4226082" cy="400110"/>
              </a:xfrm>
              <a:prstGeom prst="rect">
                <a:avLst/>
              </a:prstGeom>
              <a:noFill/>
            </p:spPr>
            <p:txBody>
              <a:bodyPr wrap="square" rtlCol="0">
                <a:spAutoFit/>
              </a:bodyPr>
              <a:lstStyle/>
              <a:p>
                <a:r>
                  <a:rPr lang="en-US" sz="2000" dirty="0">
                    <a:solidFill>
                      <a:schemeClr val="accent2"/>
                    </a:solidFill>
                  </a:rPr>
                  <a:t>A distribution over domain of </a:t>
                </a:r>
                <a14:m>
                  <m:oMath xmlns:m="http://schemas.openxmlformats.org/officeDocument/2006/math">
                    <m:r>
                      <a:rPr lang="en-US" sz="2000" b="0" i="1" smtClean="0">
                        <a:solidFill>
                          <a:schemeClr val="accent2"/>
                        </a:solidFill>
                        <a:latin typeface="Cambria Math" panose="02040503050406030204" pitchFamily="18" charset="0"/>
                      </a:rPr>
                      <m:t>𝜃</m:t>
                    </m:r>
                  </m:oMath>
                </a14:m>
                <a:endParaRPr lang="en-US" sz="2000" dirty="0">
                  <a:solidFill>
                    <a:schemeClr val="accent2"/>
                  </a:solidFill>
                </a:endParaRPr>
              </a:p>
            </p:txBody>
          </p:sp>
        </mc:Choice>
        <mc:Fallback xmlns="">
          <p:sp>
            <p:nvSpPr>
              <p:cNvPr id="41" name="TextBox 40">
                <a:extLst>
                  <a:ext uri="{FF2B5EF4-FFF2-40B4-BE49-F238E27FC236}">
                    <a16:creationId xmlns:a16="http://schemas.microsoft.com/office/drawing/2014/main" id="{BAB08325-6C90-2B6D-8024-7E52E3DDA05D}"/>
                  </a:ext>
                </a:extLst>
              </p:cNvPr>
              <p:cNvSpPr txBox="1">
                <a:spLocks noRot="1" noChangeAspect="1" noMove="1" noResize="1" noEditPoints="1" noAdjustHandles="1" noChangeArrowheads="1" noChangeShapeType="1" noTextEdit="1"/>
              </p:cNvSpPr>
              <p:nvPr/>
            </p:nvSpPr>
            <p:spPr>
              <a:xfrm>
                <a:off x="5482646" y="2992729"/>
                <a:ext cx="4226082" cy="400110"/>
              </a:xfrm>
              <a:prstGeom prst="rect">
                <a:avLst/>
              </a:prstGeom>
              <a:blipFill>
                <a:blip r:embed="rId10"/>
                <a:stretch>
                  <a:fillRect l="-1497" t="-3030" b="-27273"/>
                </a:stretch>
              </a:blipFill>
            </p:spPr>
            <p:txBody>
              <a:bodyPr/>
              <a:lstStyle/>
              <a:p>
                <a:r>
                  <a:rPr lang="en-US">
                    <a:noFill/>
                  </a:rPr>
                  <a:t> </a:t>
                </a:r>
              </a:p>
            </p:txBody>
          </p:sp>
        </mc:Fallback>
      </mc:AlternateContent>
    </p:spTree>
    <p:extLst>
      <p:ext uri="{BB962C8B-B14F-4D97-AF65-F5344CB8AC3E}">
        <p14:creationId xmlns:p14="http://schemas.microsoft.com/office/powerpoint/2010/main" val="176181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0" grpId="0" animBg="1"/>
      <p:bldP spid="11" grpId="0" animBg="1"/>
      <p:bldP spid="12" grpId="0"/>
      <p:bldP spid="13" grpId="0"/>
      <p:bldP spid="17" grpId="0"/>
      <p:bldP spid="22" grpId="0"/>
      <p:bldP spid="23" grpId="0"/>
      <p:bldP spid="34" grpId="0"/>
      <p:bldP spid="35" grpId="0"/>
      <p:bldP spid="36" grpId="0" animBg="1"/>
      <p:bldP spid="37" grpId="0" animBg="1"/>
      <p:bldP spid="38" grpId="0" animBg="1"/>
      <p:bldP spid="39" grpId="0"/>
      <p:bldP spid="40" grpId="0"/>
      <p:bldP spid="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14E6-FC03-89FA-2D41-AB2CB3EF4E13}"/>
              </a:ext>
            </a:extLst>
          </p:cNvPr>
          <p:cNvSpPr>
            <a:spLocks noGrp="1"/>
          </p:cNvSpPr>
          <p:nvPr>
            <p:ph type="title"/>
          </p:nvPr>
        </p:nvSpPr>
        <p:spPr/>
        <p:txBody>
          <a:bodyPr/>
          <a:lstStyle/>
          <a:p>
            <a:r>
              <a:rPr lang="en-US" dirty="0"/>
              <a:t>Couple of open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A906F7-39A0-23F7-618B-1BBE68255A44}"/>
                  </a:ext>
                </a:extLst>
              </p:cNvPr>
              <p:cNvSpPr>
                <a:spLocks noGrp="1"/>
              </p:cNvSpPr>
              <p:nvPr>
                <p:ph idx="1"/>
              </p:nvPr>
            </p:nvSpPr>
            <p:spPr/>
            <p:txBody>
              <a:bodyPr>
                <a:normAutofit/>
              </a:bodyPr>
              <a:lstStyle/>
              <a:p>
                <a:pPr lvl="1"/>
                <a:r>
                  <a:rPr lang="en-US" dirty="0"/>
                  <a:t>The unknown phase is small and follows Gaussian distribution, so can making a guess of the phase help? </a:t>
                </a:r>
              </a:p>
              <a:p>
                <a:pPr marL="457200" lvl="1" indent="0">
                  <a:buNone/>
                </a:pPr>
                <a:endParaRPr lang="en-US" dirty="0"/>
              </a:p>
              <a:p>
                <a:pPr lvl="1"/>
                <a:r>
                  <a:rPr lang="en-US" dirty="0"/>
                  <a:t>Can we reduce more structured variants of LWE to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𝐿𝑊𝐸</m:t>
                    </m:r>
                    <m:r>
                      <a:rPr lang="en-US" i="1">
                        <a:latin typeface="Cambria Math" panose="02040503050406030204" pitchFamily="18" charset="0"/>
                      </a:rPr>
                      <m:t>⟩</m:t>
                    </m:r>
                  </m:oMath>
                </a14:m>
                <a:r>
                  <a:rPr lang="en-US" dirty="0"/>
                  <a:t> / DCP?</a:t>
                </a:r>
              </a:p>
              <a:p>
                <a:pPr lvl="2"/>
                <a:r>
                  <a:rPr lang="en-IN" dirty="0"/>
                  <a:t>Ring-LWE, Module-LWE</a:t>
                </a:r>
              </a:p>
              <a:p>
                <a:pPr lvl="3"/>
                <a:r>
                  <a:rPr lang="en-US" dirty="0"/>
                  <a:t>Instead of vectors, have polynomials (RLWE)/ module over polynomials (MLWE)</a:t>
                </a:r>
                <a:endParaRPr lang="en-IN" dirty="0"/>
              </a:p>
              <a:p>
                <a:pPr lvl="3"/>
                <a:r>
                  <a:rPr lang="en-IN" dirty="0"/>
                  <a:t>Advantage: Efficient schemes</a:t>
                </a:r>
              </a:p>
              <a:p>
                <a:pPr lvl="3"/>
                <a:r>
                  <a:rPr lang="en-IN" dirty="0"/>
                  <a:t>Used in practical schemes (Kyber, </a:t>
                </a:r>
                <a:r>
                  <a:rPr lang="en-IN" dirty="0" err="1"/>
                  <a:t>Dilithium</a:t>
                </a:r>
                <a:r>
                  <a:rPr lang="en-IN" dirty="0"/>
                  <a:t>)</a:t>
                </a:r>
              </a:p>
              <a:p>
                <a:pPr lvl="2"/>
                <a:r>
                  <a:rPr lang="en-IN" dirty="0"/>
                  <a:t>Sparse LWE</a:t>
                </a:r>
              </a:p>
              <a:p>
                <a:pPr lvl="3"/>
                <a:r>
                  <a:rPr lang="en-US" dirty="0"/>
                  <a:t>Each </a:t>
                </a:r>
                <a14:m>
                  <m:oMath xmlns:m="http://schemas.openxmlformats.org/officeDocument/2006/math">
                    <m:sSub>
                      <m:sSubPr>
                        <m:ctrlPr>
                          <a:rPr lang="en-US" i="1">
                            <a:solidFill>
                              <a:schemeClr val="accent5">
                                <a:lumMod val="75000"/>
                              </a:schemeClr>
                            </a:solidFill>
                            <a:latin typeface="Cambria Math" panose="02040503050406030204" pitchFamily="18" charset="0"/>
                          </a:rPr>
                        </m:ctrlPr>
                      </m:sSubPr>
                      <m:e>
                        <m:r>
                          <a:rPr lang="en-US" i="1">
                            <a:solidFill>
                              <a:schemeClr val="accent5">
                                <a:lumMod val="75000"/>
                              </a:schemeClr>
                            </a:solidFill>
                            <a:latin typeface="Cambria Math" panose="02040503050406030204" pitchFamily="18" charset="0"/>
                          </a:rPr>
                          <m:t>𝑎</m:t>
                        </m:r>
                      </m:e>
                      <m:sub>
                        <m:r>
                          <a:rPr lang="en-US" i="1">
                            <a:solidFill>
                              <a:schemeClr val="accent5">
                                <a:lumMod val="75000"/>
                              </a:schemeClr>
                            </a:solidFill>
                            <a:latin typeface="Cambria Math" panose="02040503050406030204" pitchFamily="18" charset="0"/>
                          </a:rPr>
                          <m:t>𝑖</m:t>
                        </m:r>
                      </m:sub>
                    </m:sSub>
                  </m:oMath>
                </a14:m>
                <a:r>
                  <a:rPr lang="en-US" dirty="0">
                    <a:solidFill>
                      <a:schemeClr val="accent5">
                        <a:lumMod val="75000"/>
                      </a:schemeClr>
                    </a:solidFill>
                  </a:rPr>
                  <a:t> </a:t>
                </a:r>
                <a:r>
                  <a:rPr lang="en-US" dirty="0"/>
                  <a:t>has only </a:t>
                </a:r>
                <a14:m>
                  <m:oMath xmlns:m="http://schemas.openxmlformats.org/officeDocument/2006/math">
                    <m:r>
                      <a:rPr lang="en-US" b="0" i="1" smtClean="0">
                        <a:solidFill>
                          <a:schemeClr val="accent5">
                            <a:lumMod val="75000"/>
                          </a:schemeClr>
                        </a:solidFill>
                        <a:latin typeface="Cambria Math" panose="02040503050406030204" pitchFamily="18" charset="0"/>
                      </a:rPr>
                      <m:t>𝑘</m:t>
                    </m:r>
                    <m:r>
                      <a:rPr lang="en-US" b="0" i="1" smtClean="0">
                        <a:solidFill>
                          <a:schemeClr val="accent5">
                            <a:lumMod val="75000"/>
                          </a:schemeClr>
                        </a:solidFill>
                        <a:latin typeface="Cambria Math" panose="02040503050406030204" pitchFamily="18" charset="0"/>
                      </a:rPr>
                      <m:t>(≪</m:t>
                    </m:r>
                    <m:r>
                      <a:rPr lang="en-US" b="0" i="1" smtClean="0">
                        <a:solidFill>
                          <a:schemeClr val="accent5">
                            <a:lumMod val="75000"/>
                          </a:schemeClr>
                        </a:solidFill>
                        <a:latin typeface="Cambria Math" panose="02040503050406030204" pitchFamily="18" charset="0"/>
                      </a:rPr>
                      <m:t>𝑛</m:t>
                    </m:r>
                    <m:r>
                      <a:rPr lang="en-US" b="0" i="1" smtClean="0">
                        <a:solidFill>
                          <a:schemeClr val="accent5">
                            <a:lumMod val="75000"/>
                          </a:schemeClr>
                        </a:solidFill>
                        <a:latin typeface="Cambria Math" panose="02040503050406030204" pitchFamily="18" charset="0"/>
                      </a:rPr>
                      <m:t>)</m:t>
                    </m:r>
                  </m:oMath>
                </a14:m>
                <a:r>
                  <a:rPr lang="en-US" dirty="0"/>
                  <a:t> non-zero entries.</a:t>
                </a:r>
              </a:p>
              <a:p>
                <a:pPr lvl="3"/>
                <a:r>
                  <a:rPr lang="en-US" dirty="0"/>
                  <a:t>Motivation: Efficient </a:t>
                </a:r>
                <a:r>
                  <a:rPr lang="en-IN" dirty="0"/>
                  <a:t>schemes</a:t>
                </a:r>
                <a:r>
                  <a:rPr lang="en-US" dirty="0"/>
                  <a:t> </a:t>
                </a:r>
                <a:endParaRPr lang="en-IN"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BCA906F7-39A0-23F7-618B-1BBE68255A44}"/>
                  </a:ext>
                </a:extLst>
              </p:cNvPr>
              <p:cNvSpPr>
                <a:spLocks noGrp="1" noRot="1" noChangeAspect="1" noMove="1" noResize="1" noEditPoints="1" noAdjustHandles="1" noChangeArrowheads="1" noChangeShapeType="1" noTextEdit="1"/>
              </p:cNvSpPr>
              <p:nvPr>
                <p:ph idx="1"/>
              </p:nvPr>
            </p:nvSpPr>
            <p:spPr>
              <a:blipFill>
                <a:blip r:embed="rId2"/>
                <a:stretch>
                  <a:fillRect t="-2035"/>
                </a:stretch>
              </a:blipFill>
            </p:spPr>
            <p:txBody>
              <a:bodyPr/>
              <a:lstStyle/>
              <a:p>
                <a:r>
                  <a:rPr lang="en-US">
                    <a:noFill/>
                  </a:rPr>
                  <a:t> </a:t>
                </a:r>
              </a:p>
            </p:txBody>
          </p:sp>
        </mc:Fallback>
      </mc:AlternateContent>
    </p:spTree>
    <p:extLst>
      <p:ext uri="{BB962C8B-B14F-4D97-AF65-F5344CB8AC3E}">
        <p14:creationId xmlns:p14="http://schemas.microsoft.com/office/powerpoint/2010/main" val="127282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1195D9-1BF7-AA51-B0AD-65C5DF82B360}"/>
              </a:ext>
            </a:extLst>
          </p:cNvPr>
          <p:cNvSpPr/>
          <p:nvPr/>
        </p:nvSpPr>
        <p:spPr>
          <a:xfrm>
            <a:off x="3217597" y="1857829"/>
            <a:ext cx="5756805" cy="3416320"/>
          </a:xfrm>
          <a:prstGeom prst="rect">
            <a:avLst/>
          </a:prstGeom>
          <a:noFill/>
        </p:spPr>
        <p:txBody>
          <a:bodyPr wrap="square" lIns="91440" tIns="45720" rIns="91440" bIns="45720">
            <a:spAutoFit/>
          </a:bodyPr>
          <a:lstStyle/>
          <a:p>
            <a:pPr algn="ctr"/>
            <a:r>
              <a:rPr lang="en-GB" sz="10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2170480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4982</TotalTime>
  <Words>2182</Words>
  <Application>Microsoft Macintosh PowerPoint</Application>
  <PresentationFormat>Widescreen</PresentationFormat>
  <Paragraphs>282</Paragraphs>
  <Slides>19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Cambria Math</vt:lpstr>
      <vt:lpstr>Google Sans Text</vt:lpstr>
      <vt:lpstr>Office Theme</vt:lpstr>
      <vt:lpstr>Towards Quantum Algorithms for Learning with Errors</vt:lpstr>
      <vt:lpstr>Learning with Errors</vt:lpstr>
      <vt:lpstr>Learning with Errors</vt:lpstr>
      <vt:lpstr>Classical Algorithms for LWE</vt:lpstr>
      <vt:lpstr>Hardness of LWE</vt:lpstr>
      <vt:lpstr>Versatility of LWE</vt:lpstr>
      <vt:lpstr>Some useful Math and Quantum</vt:lpstr>
      <vt:lpstr>Hidden Subgroup Problem</vt:lpstr>
      <vt:lpstr>Dihedral Hidden Subgroup Problem</vt:lpstr>
      <vt:lpstr>Dihedral Coset states</vt:lpstr>
      <vt:lpstr>LWE reduces to (faulty) DCP</vt:lpstr>
      <vt:lpstr>LWE reduces to (faulty) DCP</vt:lpstr>
      <vt:lpstr>LWE ≡ Extrapolated DCP</vt:lpstr>
      <vt:lpstr>LWE ≡ Extrapolated DCP</vt:lpstr>
      <vt:lpstr>LWE ≡ Extrapolated DCP</vt:lpstr>
      <vt:lpstr>S|LWE⟩</vt:lpstr>
      <vt:lpstr>LWE reduces to S|LWE⟩phase</vt:lpstr>
      <vt:lpstr>Couple of open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Shashwat Agrawal</dc:creator>
  <cp:lastModifiedBy>Shashwat Agrawal</cp:lastModifiedBy>
  <cp:revision>5</cp:revision>
  <dcterms:created xsi:type="dcterms:W3CDTF">2025-12-12T04:25:04Z</dcterms:created>
  <dcterms:modified xsi:type="dcterms:W3CDTF">2025-12-18T06:32:06Z</dcterms:modified>
</cp:coreProperties>
</file>